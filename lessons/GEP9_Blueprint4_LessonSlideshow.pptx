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5143500" cy="9144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1: WELCOME
Say: "Good morning / afternoon everyone. Welcome to our new unit — 'What Are You Up To Tonight?'
This unit comes from Blueprint 4, Module 1 through to Module 4.
Over this lesson we are going to learn vocabulary, grammar, listening, reading, writing and speaking.
Everything we study today will appear on your exam — so pay attention, take notes, and help each other.
Let's start! Everyone open your worksheet."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2: OVERVIEW
Say: "Before we start, let me show you what we are doing today.
We have four modules. Each one builds on the last.
Module 1 is vocabulary and a key grammar point — present continuous.
Module 2 compares two tenses and teaches you about action and stative verbs.
Module 3 is about expressing preferences — how to say what you prefer in English.
Module 4 is listening, reading, writing and speaking practice.
You have a worksheet on your desk. Keep it open. We will do everything together."
Point to each card as you explain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MODULE 1 INTRO
Say: "OK — Module 1. Two things to learn here.
First, vocabulary — ten important words for this unit.
Second, grammar — present continuous. We will look at two ways to use it.
Open your worksheet to Module 1. Let's start with the vocabulary."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4: VOCABULARY (Words 1–5)
Say: "Look at this table. I will read each word and explain the meaning. Then you repeat it.
Word 1: 'up to' — this means 'doing' or 'planning'. So 'What are you up to?' means 'What are you doing or planning?'
Word 2: 'hang out' — spend time with friends in a relaxed way.
Word 3: 'grab a bite' — eat something, usually casually, often with others.
Word 4: 'host' — YOU are the organiser. You invite people to your place.
Word 5: 'make a reservation' — call or go online to book a table at a restaurant.
Now WRITE THESE DOWN in your worksheet vocabulary table. You have 2 minutes with your partner to practise saying them."
ACTION: Point to each row. Say word → students repeat. Then 2 minutes pair practice.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5: VOCABULARY (Words 6–10)
Say: "Five more words. Same method — I say it, you repeat.
Word 6: 'binge-watch' — watching many episodes one after another without stopping. Very common word now!
Word 7: 'stream' — watching videos or shows through the internet.
Word 8: 'pick a movie' — choose which film to watch. Students often argue about this!
Word 9: 'board game' — a game you play on a table with pieces and rules. Examples: Monopoly, Chess.
Word 10: 'rather' — this means you prefer something. Very important for Module 3!
WRITE ALL 10 WORDS in your worksheet table. You need to know these for the exam.
Give students 3 minutes to finish writing. Then call on pairs to test each other."
ACTION: Pair test — Student A says the word, Student B gives the meaning (no looking).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6: PRESENT CONTINUOUS — 2 USES
Say: "The present continuous has TWO uses. This is very important — write these down.
Use 1: Something is happening RIGHT NOW — at this moment.
Use 2: Something is a FUTURE PLAN — already arranged, happening soon.
Same formula. Same tense. Different meaning based on TIME WORDS.
Look at the examples on the left — no time word = happening now.
Look at examples on the right — time word at the end = it's a future plan.
IMPORTANT: The signal words tell you which use you need. Underline them when you see them."
ACTION: Read examples together. Ask a student: "Are you doing anything tonight?" (they use the future plan use). Ask another: "What are you doing right now?" (they use the now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7: THE FORMULA
Say: "Stop. Pen and paper. Write this now.
The formula is: Subject + am/is/are + verb-ing. That is it. That is the whole rule.
Positive: I am watching a movie tonight.
Negative: She is NOT going out — or we can say ISN'T — that is the short form.
Question: We put the verb 'be' FIRST. Are you coming to dinner?
Write all three in your notebook. Exactly like this.
Now — I am + watching = I'm watching. She is + going = she's going.
We often use short forms when speaking: I'm, she's, we're, they're.
GIVE THEM 2 MINUTES to copy. Then test them: ask 'What is the negative of I am going out?' and 'How do we make a question?'"
ACTION: Board work — write one positive, one negative, one question with the students' input.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8: HOW TO DO EXERCISE 1
Say: "Before you start Exercise 1 in your worksheet, I want to show you HOW to do it — step by step.
This method works for ALL grammar exercises, not just this one.
Step 1: Read the verb in brackets — that is your clue.
Step 2: Decide which form of 'be' to use based on the subject.
Step 3: Add -ing to the verb. Watch out for verbs ending in -e — drop the e and add -ing. Go → going, make → making.
Step 4: Check if the sentence is negative or a question — those have different word order.
Step 5: Look at sentence number one — it's already done. Use it as a model.
Now open your worksheets to Exercise 1 and do it in pairs. You have 5 minutes."
ACTION: Walk around and monitor. Give help but let pairs work first.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9: EXERCISE 1 ANSWERS
Say: "OK — let's check. I will read the answer. If you have it right — great! If not, write the correct answer in pencil.
Do NOT erase your wrong answer — it helps you remember the mistake.
Number 1 — already done. Number 2: They ARE HAVING. Why 'having'? Because have = verb-ing, and we drop nothing with 'have'.
Number 3: I am NOT going out. Or the short form: I'm not going out.
Number 4: We ARE PLAYING. Simple.
Number 5: Make → making. Drop the E, add ING.
Number 6: QUESTION. So we put ARE first → Are you coming?
Any questions? Ask your partner first, then ask me."
ACTION: Address any common mistakes across the class.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10: PAIR TASKS 1 &amp; 2
Say: "Two quick pair tasks now. Look at the slide.
Task 1 is a vocabulary game — one person says the word, the other gives the meaning. No looking!
Task 2 is speaking practice — use present continuous. THREE SENTENCES each — about right now and about tonight.
You have 4 minutes total. GO!
Walk around and listen. Note any common errors to address afterwards.
After time: Ask 2 or 3 pairs to share one sentence each. Give feedback.
Then say: 'Good work. Now we move to Module 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MODULE 2 INTRO
Say: "Module 2 — this is really important for your exam.
We are going to compare two tenses: simple present and present continuous.
Students often mix these up. By the end of this module you will know exactly when to use each one.
We will also learn about stative verbs — verbs that CANNOT use the -ing form. Very common mistake.
Open your worksheet to Module 2. Let's go."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12: SIMPLE PRESENT vs PRESENT CONTINUOUS
Say: "This is the most important slide in Module 2. WRITE IT DOWN.
Simple present = habits, routines, things that are ALWAYS true. Not just today — always.
Present continuous = happening NOW, or a plan for soon.
The signal words are your best friends. If you see 'every day' or 'usually' → simple present.
If you see 'now' or 'at the moment' or a time tonight/tomorrow → present continuous.
Let's do a quick test: 'I _____ coffee every morning.' — which tense?
(Simple present → I drink coffee every morning.)
Now: 'I _____ coffee right now.' — which tense?
(Present continuous → I am drinking coffee right now.)
The verb is the same. The tense changes based on MEANING.
WRITE the signal words in your notebook. These come up in every exam."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13: ACTION vs STATIVE VERBS
Say: "This is a VERY common exam mistake. Listen carefully.
Some verbs are called STATIVE verbs. They describe a STATE — a feeling, a thought, a sense.
STATIVE verbs CANNOT use -ing. NEVER.
So 'I am knowing the answer' — WRONG. 'I know the answer' — CORRECT.
'She is liking this film' — WRONG. 'She likes this film' — CORRECT.
Action verbs are things you DO — run, eat, play — those CAN use -ing.
Here is a memory trick I love: if you can do it at the gym, it's an action verb. You can run, eat, play at the gym. But you cannot 'know' or 'like' at the gym — right?
WRITE the stative verb list in your notebook. You need to memorise these."
ACTION: Read the stative verb list together. Ask students to give you a sentence using 'want', 'like', 'understand' — correct any -ing mistakes immediately.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14: EXERCISE 2 ANSWERS
Say: "Let's check Exercise 2. I'll give the answer AND explain why. Write the WHY in your notes — it helps you for the exam.
Number 1: LIKES — stative verb. Never -ing.
Number 2: ARE COOKING — action verb, happening right now.
Number 3: DON'T UNDERSTAND — stative verb.
Number 4: IS GOING — future plan using present continuous.
Number 5: PLAY — habit on weekends → simple present.
Number 6: WANTS — stative verb.
The pattern: every time you see know/like/want/understand/prefer — stop and ask: 'Is this stative?' If yes, use simple present, NOT continuous."
ACTION: Ask: "Which numbers had stative verbs?" (1, 3, 6). "Which were future plans?" (4). "Which was a habit?" (5).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15: PAIR TASK 3
Say: "Now it's your turn. Two parts — habits and plans.
Part 1: Tell your partner 3 habits. Use simple present with signal words.
Part 2: Tell your partner 3 future plans. Use present continuous with time words.
You have 4 minutes. GO!
Walk around and listen for stative verb errors — if you hear one, gently stop the student and say 'Stative verb!' and let them self-correct.
After time: pick 2 pairs to share their best sentences. Write 2 good student sentences on the board as examples."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MODULE 3 INTRO
Say: "Module 3 — this is one of the most useful things in everyday English.
When you talk to friends about tonight's plans — what film to watch, where to eat, what game to play — you need to express preferences.
We have THREE structures: would rather, prefer, and as...as.
Each one has a slightly different meaning and different grammar.
Open your worksheet to Module 3. I will show you the formula for each one, and you copy them down. Then we practice together."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17: WOULD RATHER
Say: "The first structure: would rather. Write the formula.
WOULD RATHER + BASE VERB. That means the verb with no changes — no -ing, no -ed, no 'to'.
I'd rather WATCH. I'd rather STAY. I'd rather NOT go.
The short form is 'I'd' — this is what we say in real conversation: I'd rather stay home.
When comparing: use THAN. 'I'd rather watch a film THAN go out.'
COMMON MISTAKE: Students write 'I'd rather watching' — WRONG. Always base verb.
Write the four examples in your worksheet notes section. Test each other: 'What would you rather do tonight?' — your partner answers with would rather."
ACTION: Quick pair drill — A asks "Would you rather go to the cinema or stay home?" B must use 'I'd rather... than...' in their answer.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18: PREFER
Say: "Now 'prefer'. Two formulas — write BOTH.
Formula 1: General preference. Something you always prefer. 'I prefer books to films' — general, always.
Notice: prefer + noun + TO + noun. Or prefer + verb-ing + TO + verb-ing.
Formula 2: Specific choice right now. 'I would prefer to stay home tonight.' — this specific evening.
Would prefer + TO + base verb.
The big difference between would rather and prefer:
'I'd rather watch a film' = right now, this moment.
'I prefer films to books' = in general, always true.
Write both formulas and the examples. Pair up and test each other — ask 'What do you prefer — going out or staying in?'"
ACTION: Student A asks, Student B must use BOTH formulas to answer — one general (I prefer...) and one specific (Tonight I'd rather...).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19: AS...AS
Say: "The last structure in Module 3 — as...as. Write the formula.
Think of a weighing scale. Positive as...as = both sides are equal. The same weight.
'The book is as interesting as the film' = both are equally interesting.
Negative not as...as = one side is lighter. Less.
'The film is not as long as the book' = the film is shorter. Less long.
Now write TWO sentences — one positive, one negative. I'll give you 2 minutes with your partner.
After time: Ask pairs to read their sentences. Write one good positive and one good negative on the board."
ACTION: Have students come to the board to write their as...as sentences if time allows.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20: EXERCISE 3 + PAIR TASK 4
Say: "Now Exercise 3 in your worksheet. You need to REWRITE the sentences using the word in brackets.
The quick reference box on this slide shows you all four formulas. Use it while you work.
Sentence 1 is already done — use it as your guide.
You have 5 minutes with your partner. Then we check together.
WHILE THEY WORK: Walk around and help. Watch for these common errors:
- 'I'd rather watching' — should be base verb: watching → watch.
- 'I prefer going to going' — should be: prefer going to staying.
- 'as interesting than' — should be 'as interesting AS' not 'than'.
AFTER EXERCISE: Move straight to Pair Task 4 — this is speaking practice using all three structures.
Give them 3 minutes. Then hear from 3 pairs."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MODULE 4 INTRO
Say: "Last module — Module 4. This is where we use everything we have learned.
We have four parts: listening, reading, writing and speaking.
Don't worry — I will help you through each part.
We do everything in pairs or groups first. Then we share.
Open your worksheet to Module 4. Let's go."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22: LISTENING PRE-TEACH
Say: "Before we listen, let's learn the key vocabulary. These words will appear in the audio.
Read each word with me. Repeat after me.
'Catch up' — this is very common in English. It means meeting a friend you haven't seen for a while.
'Available' — free, not busy.
'Suggest' — give an idea. 'Can I suggest a restaurant?'
'Last-minute' — something arranged at the very last moment, without much planning.
'Make plans' — decide what to do together.
'Confirm' — to say yes, something is decided.
Now look at the listening questions in your worksheet. Read them first. This is very important.
When you know the questions BEFORE you listen, you know exactly what to listen for.
OK — get ready. I am going to play the audio now. You can take notes. After, check with your partner."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23: LISTENING QUESTIONS
Say: "These are the five questions on your worksheet. Read them again — all five. You have 30 seconds.
[Wait 30 seconds]
Now we listen. Don't worry if you miss something — you can ask your partner after.
[PLAY AUDIO from Blueprint 4 — the conversation about weekend plans with a friend]
[After audio] Compare your answers with your partner. 30 seconds.
Now let's check together.
Question 1: [Give answer from audio]
Question 2: [Give answer]
...and so on.
IMPORTANT: After giving each answer, ask WHY — connect back to vocabulary: 'She was available. She wasn't busy. She confirmed the time.'
This reinforces both listening comprehension AND vocabulary."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24: READING TEXT
Say: "Now reading. Here is the text — it's also in your worksheet.
Before I read it, I want you to look at it for 30 seconds. Can you spot any grammar we have studied today?
[Wait 30 seconds]
Good. Let me read it out loud and you follow in your worksheet.
[Read slowly and clearly]
Now — what grammar did you find?
Present continuous: 'she IS hosting', 'she IS planning', 'he IS bringing' — present continuous.
Would rather: 'she would rather prepare' — base verb. 'David would rather bring' — base verb.
Prefer: 'she prefers cooking to ordering' — Formula 1, verb-ing + to + verb-ing.
As...as: 'not as confident as Ana' — negative, so David is LESS confident.
Excellent. Now do the comprehension questions in your worksheet in pairs."
ACTION: Give them 5 minutes for the comprehension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25: READING ANSWERS
Say: "Let's check. I'll give the answer, but I also want you to notice HOW the answer is written.
Question 1: Present continuous — 'Ana IS HOSTING'. The answer uses present continuous.
Question 2: She PREFERS because she thinks it is more personal. Notice the use of 'prefers' — simple present for general preference.
Question 3: He WOULD RATHER bring — base verb 'bring'. And he IS BRINGING — present continuous.
Question 4: This is very important. 'Not as confident AS Ana' → David is LESS confident. They are not equal.
Question 5: Ana PREFERS watching. David WOULD RATHER play. Two different structures — both express preference but differently.
WRITE THESE ANSWERS in your notebook in full sentences. Your exam will ask similar questions."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26: WRITING TASK
Say: "Now writing. Topic: your opinions on living alone.
This is from the Blueprint 4 unit — a real exam-style writing task.
You have five sentence starters. You MUST use them — but you complete them with YOUR ideas.
Don't write random sentences. Follow the starters. They contain the grammar structures we studied.
Starter 1: simple opinion. Starter 2: would rather. Starter 3: as...as. Starter 4: prefer. Starter 5: present continuous.
One starter = one of our grammar structures. So your writing will automatically show what you know!
You have 6 minutes. Write in your worksheet. If you finish early, add extra sentences using your own ideas.
WHILE THEY WRITE: Walk around. Give feedback quietly. Don't correct everything — focus on grammar structures."
ACTION: After writing, have students share one sentence each. Write 3–4 good ones on the board.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27: SPEAKING TASK
Say: "Last activity — group speaking. Get into groups of three.
Each person must say all four things — two future plans, one habit, one preference, one comparison.
Look at the examples on the slide — those are the structures you need.
You have 5 minutes. SPEAK — don't read from the worksheet. Try to look at each other.
After groups finish: Ask one person from each group to share their best sentence with the class.
Listen for strong use of the grammar. Write 2 or 3 student examples on the board.
FEEDBACK: Point out excellent use of vocabulary. Gently correct any persistent errors.
Say: 'Well done everyone — you have practised all four modules today. Well done!'"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28: SUMMARY
Say: "This is your revision summary — the most important slide in the whole lesson.
Write it ALL in your notebook. This is what the exam is based on.
Present continuous: am/is/are + verb-ing — for NOW and FUTURE plans.
Simple present: habits and routines.
Stative verbs: NEVER use -ing with know/like/want/understand/prefer.
Would rather: always base verb, use 'than' to compare.
Prefer: noun or verb-ing, followed by 'to'. Or would prefer + to + base verb.
As...as: positive = equal. Negative not as...as = less.
Take 3 minutes to copy this into your notebook. If you have this in your notes, you can pass the exam."
ACTION: Give students 3 full minutes to copy. Walk around and check they are writing.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29: MINI EXAM PRACTICE
Say: "Last thing — a quick 5-question mini exam. This is exam training.
You CAN use your notes. That's why I keep saying — copy the formulas!
5 minutes. Write answers in your notebook.
[Wait 5 minutes]
Let's check:
Q1: She is NOT GOING / isn't going to the cinema tonight.
Q2: B — I WANT coffee. 'Want' is stative. Never use -ing.
Q3: I'd rather STAY IN than go out. Base verb!
Q4: Not AS exciting AS that film.
Q5: Students' own answers — accept any correct use of prefer + noun/verb-ing + to.
Well done. If you got 4 or 5, you are ready. If you got 2 or 3, check your notes and practise more at home."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 SLIDE 30: END OF LESSON
Say: "That is it for today. Amazing work everyone.
You have covered six grammar structures today and practised all four skills.
Here's what I want you to do before our next class:
1. Read your notes. Read the vocabulary table. Read the formula box.
2. Try to make 2 sentences for each grammar structure — present continuous, prefer, would rather, as...as.
3. If you have e-learning — complete the activities for this unit. It will help your exam.
Remember: your notes are your exam. If you copy the formulas, you can pass.
Any last questions? [Take questions]
See you next class. Keep working hard — we grow together as a team."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6B"/>
          </a:solidFill>
          <a:ln w="12700">
            <a:solidFill>
              <a:srgbClr val="1B3A6B"/>
            </a:solidFill>
            <a:prstDash val="solid"/>
          </a:ln>
        </p:spPr>
      </p:sp>
      <p:sp>
        <p:nvSpPr>
          <p:cNvPr id="3" name="Shape 1"/>
          <p:cNvSpPr/>
          <p:nvPr/>
        </p:nvSpPr>
        <p:spPr>
          <a:xfrm>
            <a:off x="0" y="0"/>
            <a:ext cx="320040" cy="5143500"/>
          </a:xfrm>
          <a:prstGeom prst="rect">
            <a:avLst/>
          </a:prstGeom>
          <a:solidFill>
            <a:srgbClr val="F4A261"/>
          </a:solidFill>
          <a:ln w="12700">
            <a:solidFill>
              <a:srgbClr val="F4A261"/>
            </a:solidFill>
            <a:prstDash val="solid"/>
          </a:ln>
        </p:spPr>
      </p:sp>
      <p:sp>
        <p:nvSpPr>
          <p:cNvPr id="4" name="Shape 2"/>
          <p:cNvSpPr/>
          <p:nvPr/>
        </p:nvSpPr>
        <p:spPr>
          <a:xfrm>
            <a:off x="0" y="3840480"/>
            <a:ext cx="9144000" cy="1303020"/>
          </a:xfrm>
          <a:prstGeom prst="rect">
            <a:avLst/>
          </a:prstGeom>
          <a:solidFill>
            <a:srgbClr val="0D7377"/>
          </a:solidFill>
          <a:ln w="12700">
            <a:solidFill>
              <a:srgbClr val="0D7377"/>
            </a:solidFill>
            <a:prstDash val="solid"/>
          </a:ln>
        </p:spPr>
      </p:sp>
      <p:sp>
        <p:nvSpPr>
          <p:cNvPr id="5" name="Shape 3"/>
          <p:cNvSpPr/>
          <p:nvPr/>
        </p:nvSpPr>
        <p:spPr>
          <a:xfrm>
            <a:off x="548640" y="274320"/>
            <a:ext cx="2560320" cy="384048"/>
          </a:xfrm>
          <a:prstGeom prst="rect">
            <a:avLst/>
          </a:prstGeom>
          <a:solidFill>
            <a:srgbClr val="F4A261"/>
          </a:solidFill>
          <a:ln w="12700">
            <a:solidFill>
              <a:srgbClr val="F4A261"/>
            </a:solidFill>
            <a:prstDash val="solid"/>
          </a:ln>
        </p:spPr>
      </p:sp>
      <p:sp>
        <p:nvSpPr>
          <p:cNvPr id="6" name="Text 4"/>
          <p:cNvSpPr/>
          <p:nvPr/>
        </p:nvSpPr>
        <p:spPr>
          <a:xfrm>
            <a:off x="548640" y="274320"/>
            <a:ext cx="2560320" cy="384048"/>
          </a:xfrm>
          <a:prstGeom prst="rect">
            <a:avLst/>
          </a:prstGeom>
          <a:noFill/>
          <a:ln/>
        </p:spPr>
        <p:txBody>
          <a:bodyPr wrap="square" lIns="0" tIns="0" rIns="0" bIns="0" rtlCol="0" anchor="ctr"/>
          <a:lstStyle/>
          <a:p>
            <a:pPr marL="0" indent="0" algn="ctr">
              <a:buNone/>
            </a:pPr>
            <a:r>
              <a:rPr lang="en-US" sz="1100" b="1" dirty="0">
                <a:solidFill>
                  <a:srgbClr val="1B3A6B"/>
                </a:solidFill>
                <a:latin typeface="Trebuchet MS" pitchFamily="34" charset="0"/>
                <a:ea typeface="Trebuchet MS" pitchFamily="34" charset="-122"/>
                <a:cs typeface="Trebuchet MS" pitchFamily="34" charset="-120"/>
              </a:rPr>
              <a:t>GEP 9  |  Term 5</a:t>
            </a:r>
            <a:endParaRPr lang="en-US" sz="1100" dirty="0"/>
          </a:p>
        </p:txBody>
      </p:sp>
      <p:sp>
        <p:nvSpPr>
          <p:cNvPr id="7" name="Shape 5"/>
          <p:cNvSpPr/>
          <p:nvPr/>
        </p:nvSpPr>
        <p:spPr>
          <a:xfrm>
            <a:off x="3291840" y="274320"/>
            <a:ext cx="3291840" cy="384048"/>
          </a:xfrm>
          <a:prstGeom prst="rect">
            <a:avLst/>
          </a:prstGeom>
          <a:solidFill>
            <a:srgbClr val="163255"/>
          </a:solidFill>
          <a:ln w="12700">
            <a:solidFill>
              <a:srgbClr val="163255"/>
            </a:solidFill>
            <a:prstDash val="solid"/>
          </a:ln>
        </p:spPr>
      </p:sp>
      <p:sp>
        <p:nvSpPr>
          <p:cNvPr id="8" name="Text 6"/>
          <p:cNvSpPr/>
          <p:nvPr/>
        </p:nvSpPr>
        <p:spPr>
          <a:xfrm>
            <a:off x="3291840" y="274320"/>
            <a:ext cx="3291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Blueprint 4  —  B1 Intermediate</a:t>
            </a:r>
            <a:endParaRPr lang="en-US" sz="1100" dirty="0"/>
          </a:p>
        </p:txBody>
      </p:sp>
      <p:sp>
        <p:nvSpPr>
          <p:cNvPr id="9" name="Text 7"/>
          <p:cNvSpPr/>
          <p:nvPr/>
        </p:nvSpPr>
        <p:spPr>
          <a:xfrm>
            <a:off x="502920" y="960120"/>
            <a:ext cx="8321040" cy="1920240"/>
          </a:xfrm>
          <a:prstGeom prst="rect">
            <a:avLst/>
          </a:prstGeom>
          <a:noFill/>
          <a:ln/>
        </p:spPr>
        <p:txBody>
          <a:bodyPr wrap="square" rtlCol="0" anchor="ctr"/>
          <a:lstStyle/>
          <a:p>
            <a:pPr marL="0" indent="0" algn="l">
              <a:buNone/>
            </a:pPr>
            <a:r>
              <a:rPr lang="en-US" sz="4600" b="1" dirty="0">
                <a:solidFill>
                  <a:srgbClr val="FFFFFF"/>
                </a:solidFill>
                <a:latin typeface="Trebuchet MS" pitchFamily="34" charset="0"/>
                <a:ea typeface="Trebuchet MS" pitchFamily="34" charset="-122"/>
                <a:cs typeface="Trebuchet MS" pitchFamily="34" charset="-120"/>
              </a:rPr>
              <a:t>What Are You</a:t>
            </a:r>
            <a:endParaRPr lang="en-US" sz="4600" dirty="0"/>
          </a:p>
          <a:p>
            <a:pPr marL="0" indent="0" algn="l">
              <a:buNone/>
            </a:pPr>
            <a:r>
              <a:rPr lang="en-US" sz="4600" b="1" dirty="0">
                <a:solidFill>
                  <a:srgbClr val="FFFFFF"/>
                </a:solidFill>
                <a:latin typeface="Trebuchet MS" pitchFamily="34" charset="0"/>
                <a:ea typeface="Trebuchet MS" pitchFamily="34" charset="-122"/>
                <a:cs typeface="Trebuchet MS" pitchFamily="34" charset="-120"/>
              </a:rPr>
              <a:t>Up To Tonight?</a:t>
            </a:r>
            <a:endParaRPr lang="en-US" sz="4600" dirty="0"/>
          </a:p>
        </p:txBody>
      </p:sp>
      <p:sp>
        <p:nvSpPr>
          <p:cNvPr id="10" name="Text 8"/>
          <p:cNvSpPr/>
          <p:nvPr/>
        </p:nvSpPr>
        <p:spPr>
          <a:xfrm>
            <a:off x="502920" y="2834640"/>
            <a:ext cx="8229600" cy="457200"/>
          </a:xfrm>
          <a:prstGeom prst="rect">
            <a:avLst/>
          </a:prstGeom>
          <a:noFill/>
          <a:ln/>
        </p:spPr>
        <p:txBody>
          <a:bodyPr wrap="square" rtlCol="0" anchor="ctr"/>
          <a:lstStyle/>
          <a:p>
            <a:pPr marL="0" indent="0">
              <a:buNone/>
            </a:pPr>
            <a:r>
              <a:rPr lang="en-US" sz="1600" i="1" dirty="0">
                <a:solidFill>
                  <a:srgbClr val="A8C4E0"/>
                </a:solidFill>
                <a:latin typeface="Calibri" pitchFamily="34" charset="0"/>
                <a:ea typeface="Calibri" pitchFamily="34" charset="-122"/>
                <a:cs typeface="Calibri" pitchFamily="34" charset="-120"/>
              </a:rPr>
              <a:t>Dinner with Friends  ·  Game Night  ·  TV Choices  ·  Book or Movie</a:t>
            </a:r>
            <a:endParaRPr lang="en-US" sz="1600" dirty="0"/>
          </a:p>
        </p:txBody>
      </p:sp>
      <p:sp>
        <p:nvSpPr>
          <p:cNvPr id="11" name="Text 9"/>
          <p:cNvSpPr/>
          <p:nvPr/>
        </p:nvSpPr>
        <p:spPr>
          <a:xfrm>
            <a:off x="502920" y="3950208"/>
            <a:ext cx="8321040" cy="548640"/>
          </a:xfrm>
          <a:prstGeom prst="rect">
            <a:avLst/>
          </a:prstGeom>
          <a:noFill/>
          <a:ln/>
        </p:spPr>
        <p:txBody>
          <a:bodyPr wrap="square" rtlCol="0" anchor="ctr"/>
          <a:lstStyle/>
          <a:p>
            <a:pPr marL="0" indent="0" algn="l">
              <a:buNone/>
            </a:pPr>
            <a:r>
              <a:rPr lang="en-US" sz="1300" dirty="0">
                <a:solidFill>
                  <a:srgbClr val="FFFFFF"/>
                </a:solidFill>
                <a:latin typeface="Calibri" pitchFamily="34" charset="0"/>
                <a:ea typeface="Calibri" pitchFamily="34" charset="-122"/>
                <a:cs typeface="Calibri" pitchFamily="34" charset="-120"/>
              </a:rPr>
              <a:t>Modules 1 – 4  |  Vocabulary  ·  Grammar  ·  Listening  ·  Reading  ·  Writing  ·  Speaking</a:t>
            </a:r>
            <a:endParaRPr lang="en-US" sz="1300" dirty="0"/>
          </a:p>
        </p:txBody>
      </p:sp>
      <p:sp>
        <p:nvSpPr>
          <p:cNvPr id="12" name="Text 10"/>
          <p:cNvSpPr/>
          <p:nvPr/>
        </p:nvSpPr>
        <p:spPr>
          <a:xfrm>
            <a:off x="502920" y="4544568"/>
            <a:ext cx="8229600" cy="457200"/>
          </a:xfrm>
          <a:prstGeom prst="rect">
            <a:avLst/>
          </a:prstGeom>
          <a:noFill/>
          <a:ln/>
        </p:spPr>
        <p:txBody>
          <a:bodyPr wrap="square" rtlCol="0" anchor="ctr"/>
          <a:lstStyle/>
          <a:p>
            <a:pPr marL="0" indent="0">
              <a:buNone/>
            </a:pPr>
            <a:r>
              <a:rPr lang="en-US" sz="1300" b="1" dirty="0">
                <a:solidFill>
                  <a:srgbClr val="F4A261"/>
                </a:solidFill>
                <a:latin typeface="Trebuchet MS" pitchFamily="34" charset="0"/>
                <a:ea typeface="Trebuchet MS" pitchFamily="34" charset="-122"/>
                <a:cs typeface="Trebuchet MS" pitchFamily="34" charset="-120"/>
              </a:rPr>
              <a:t>Teacher Roberts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Today's Lesson — What We Will Cover</a:t>
            </a:r>
            <a:endParaRPr lang="en-US" sz="2000" dirty="0"/>
          </a:p>
        </p:txBody>
      </p:sp>
      <p:sp>
        <p:nvSpPr>
          <p:cNvPr id="5" name="Shape 3"/>
          <p:cNvSpPr/>
          <p:nvPr/>
        </p:nvSpPr>
        <p:spPr>
          <a:xfrm>
            <a:off x="7315200" y="128016"/>
            <a:ext cx="1645920" cy="402336"/>
          </a:xfrm>
          <a:prstGeom prst="rect">
            <a:avLst/>
          </a:prstGeom>
          <a:solidFill>
            <a:srgbClr val="1B3A6B"/>
          </a:solidFill>
          <a:ln w="12700">
            <a:solidFill>
              <a:srgbClr val="1B3A6B"/>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Overview</a:t>
            </a:r>
            <a:endParaRPr lang="en-US" sz="1100" dirty="0"/>
          </a:p>
        </p:txBody>
      </p:sp>
      <p:sp>
        <p:nvSpPr>
          <p:cNvPr id="7" name="Shape 5"/>
          <p:cNvSpPr/>
          <p:nvPr/>
        </p:nvSpPr>
        <p:spPr>
          <a:xfrm>
            <a:off x="256032" y="804672"/>
            <a:ext cx="1993392" cy="3977640"/>
          </a:xfrm>
          <a:prstGeom prst="rect">
            <a:avLst/>
          </a:prstGeom>
          <a:solidFill>
            <a:srgbClr val="D6EAF8"/>
          </a:solidFill>
          <a:ln w="12700">
            <a:solidFill>
              <a:srgbClr val="1B3A6B"/>
            </a:solidFill>
            <a:prstDash val="solid"/>
          </a:ln>
        </p:spPr>
      </p:sp>
      <p:sp>
        <p:nvSpPr>
          <p:cNvPr id="8" name="Shape 6"/>
          <p:cNvSpPr/>
          <p:nvPr/>
        </p:nvSpPr>
        <p:spPr>
          <a:xfrm>
            <a:off x="256032" y="804672"/>
            <a:ext cx="1993392" cy="548640"/>
          </a:xfrm>
          <a:prstGeom prst="rect">
            <a:avLst/>
          </a:prstGeom>
          <a:solidFill>
            <a:srgbClr val="1B3A6B"/>
          </a:solidFill>
          <a:ln w="12700">
            <a:solidFill>
              <a:srgbClr val="1B3A6B"/>
            </a:solidFill>
            <a:prstDash val="solid"/>
          </a:ln>
        </p:spPr>
      </p:sp>
      <p:sp>
        <p:nvSpPr>
          <p:cNvPr id="9" name="Text 7"/>
          <p:cNvSpPr/>
          <p:nvPr/>
        </p:nvSpPr>
        <p:spPr>
          <a:xfrm>
            <a:off x="256032" y="804672"/>
            <a:ext cx="1993392"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MODULE 1</a:t>
            </a:r>
            <a:endParaRPr lang="en-US" sz="1100" dirty="0"/>
          </a:p>
        </p:txBody>
      </p:sp>
      <p:sp>
        <p:nvSpPr>
          <p:cNvPr id="10" name="Text 8"/>
          <p:cNvSpPr/>
          <p:nvPr/>
        </p:nvSpPr>
        <p:spPr>
          <a:xfrm>
            <a:off x="347472" y="1426464"/>
            <a:ext cx="1810512" cy="1463040"/>
          </a:xfrm>
          <a:prstGeom prst="rect">
            <a:avLst/>
          </a:prstGeom>
          <a:noFill/>
          <a:ln/>
        </p:spPr>
        <p:txBody>
          <a:bodyPr wrap="square" rtlCol="0" anchor="t"/>
          <a:lstStyle/>
          <a:p>
            <a:pPr marL="0" indent="0">
              <a:buNone/>
            </a:pPr>
            <a:r>
              <a:rPr lang="en-US" sz="1400" dirty="0">
                <a:solidFill>
                  <a:srgbClr val="111827"/>
                </a:solidFill>
                <a:latin typeface="Calibri" pitchFamily="34" charset="0"/>
                <a:ea typeface="Calibri" pitchFamily="34" charset="-122"/>
                <a:cs typeface="Calibri" pitchFamily="34" charset="-120"/>
              </a:rPr>
              <a:t>Vocabulary</a:t>
            </a:r>
            <a:endParaRPr lang="en-US" sz="1400" dirty="0"/>
          </a:p>
          <a:p>
            <a:pPr marL="0" indent="0">
              <a:buNone/>
            </a:pPr>
            <a:r>
              <a:rPr lang="en-US" sz="1400" dirty="0">
                <a:solidFill>
                  <a:srgbClr val="111827"/>
                </a:solidFill>
                <a:latin typeface="Calibri" pitchFamily="34" charset="0"/>
                <a:ea typeface="Calibri" pitchFamily="34" charset="-122"/>
                <a:cs typeface="Calibri" pitchFamily="34" charset="-120"/>
              </a:rPr>
              <a:t>+ Present Continuous</a:t>
            </a:r>
            <a:endParaRPr lang="en-US" sz="1400" dirty="0"/>
          </a:p>
        </p:txBody>
      </p:sp>
      <p:sp>
        <p:nvSpPr>
          <p:cNvPr id="11" name="Text 9"/>
          <p:cNvSpPr/>
          <p:nvPr/>
        </p:nvSpPr>
        <p:spPr>
          <a:xfrm>
            <a:off x="365760" y="2926080"/>
            <a:ext cx="1792224" cy="1691640"/>
          </a:xfrm>
          <a:prstGeom prst="rect">
            <a:avLst/>
          </a:prstGeom>
          <a:noFill/>
          <a:ln/>
        </p:spPr>
        <p:txBody>
          <a:bodyPr wrap="square" rtlCol="0" anchor="ctr"/>
          <a:lstStyle/>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Key words</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am/is/are + -ing</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Now vs future plans</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Exercise 1</a:t>
            </a:r>
            <a:endParaRPr lang="en-US" sz="1100" dirty="0"/>
          </a:p>
        </p:txBody>
      </p:sp>
      <p:sp>
        <p:nvSpPr>
          <p:cNvPr id="12" name="Shape 10"/>
          <p:cNvSpPr/>
          <p:nvPr/>
        </p:nvSpPr>
        <p:spPr>
          <a:xfrm>
            <a:off x="2432304" y="804672"/>
            <a:ext cx="1993392" cy="3977640"/>
          </a:xfrm>
          <a:prstGeom prst="rect">
            <a:avLst/>
          </a:prstGeom>
          <a:solidFill>
            <a:srgbClr val="D1F2EB"/>
          </a:solidFill>
          <a:ln w="12700">
            <a:solidFill>
              <a:srgbClr val="0D7377"/>
            </a:solidFill>
            <a:prstDash val="solid"/>
          </a:ln>
        </p:spPr>
      </p:sp>
      <p:sp>
        <p:nvSpPr>
          <p:cNvPr id="13" name="Shape 11"/>
          <p:cNvSpPr/>
          <p:nvPr/>
        </p:nvSpPr>
        <p:spPr>
          <a:xfrm>
            <a:off x="2432304" y="804672"/>
            <a:ext cx="1993392" cy="548640"/>
          </a:xfrm>
          <a:prstGeom prst="rect">
            <a:avLst/>
          </a:prstGeom>
          <a:solidFill>
            <a:srgbClr val="0D7377"/>
          </a:solidFill>
          <a:ln w="12700">
            <a:solidFill>
              <a:srgbClr val="0D7377"/>
            </a:solidFill>
            <a:prstDash val="solid"/>
          </a:ln>
        </p:spPr>
      </p:sp>
      <p:sp>
        <p:nvSpPr>
          <p:cNvPr id="14" name="Text 12"/>
          <p:cNvSpPr/>
          <p:nvPr/>
        </p:nvSpPr>
        <p:spPr>
          <a:xfrm>
            <a:off x="2432304" y="804672"/>
            <a:ext cx="1993392"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MODULE 2</a:t>
            </a:r>
            <a:endParaRPr lang="en-US" sz="1100" dirty="0"/>
          </a:p>
        </p:txBody>
      </p:sp>
      <p:sp>
        <p:nvSpPr>
          <p:cNvPr id="15" name="Text 13"/>
          <p:cNvSpPr/>
          <p:nvPr/>
        </p:nvSpPr>
        <p:spPr>
          <a:xfrm>
            <a:off x="2523744" y="1426464"/>
            <a:ext cx="1810512" cy="1463040"/>
          </a:xfrm>
          <a:prstGeom prst="rect">
            <a:avLst/>
          </a:prstGeom>
          <a:noFill/>
          <a:ln/>
        </p:spPr>
        <p:txBody>
          <a:bodyPr wrap="square" rtlCol="0" anchor="t"/>
          <a:lstStyle/>
          <a:p>
            <a:pPr marL="0" indent="0">
              <a:buNone/>
            </a:pPr>
            <a:r>
              <a:rPr lang="en-US" sz="1400" dirty="0">
                <a:solidFill>
                  <a:srgbClr val="111827"/>
                </a:solidFill>
                <a:latin typeface="Calibri" pitchFamily="34" charset="0"/>
                <a:ea typeface="Calibri" pitchFamily="34" charset="-122"/>
                <a:cs typeface="Calibri" pitchFamily="34" charset="-120"/>
              </a:rPr>
              <a:t>Simple Present</a:t>
            </a:r>
            <a:endParaRPr lang="en-US" sz="1400" dirty="0"/>
          </a:p>
          <a:p>
            <a:pPr marL="0" indent="0">
              <a:buNone/>
            </a:pPr>
            <a:r>
              <a:rPr lang="en-US" sz="1400" dirty="0">
                <a:solidFill>
                  <a:srgbClr val="111827"/>
                </a:solidFill>
                <a:latin typeface="Calibri" pitchFamily="34" charset="0"/>
                <a:ea typeface="Calibri" pitchFamily="34" charset="-122"/>
                <a:cs typeface="Calibri" pitchFamily="34" charset="-120"/>
              </a:rPr>
              <a:t>vs Continuous</a:t>
            </a:r>
            <a:endParaRPr lang="en-US" sz="1400" dirty="0"/>
          </a:p>
          <a:p>
            <a:pPr marL="0" indent="0">
              <a:buNone/>
            </a:pPr>
            <a:r>
              <a:rPr lang="en-US" sz="1400" dirty="0">
                <a:solidFill>
                  <a:srgbClr val="111827"/>
                </a:solidFill>
                <a:latin typeface="Calibri" pitchFamily="34" charset="0"/>
                <a:ea typeface="Calibri" pitchFamily="34" charset="-122"/>
                <a:cs typeface="Calibri" pitchFamily="34" charset="-120"/>
              </a:rPr>
              <a:t>+ Stative Verbs</a:t>
            </a:r>
            <a:endParaRPr lang="en-US" sz="1400" dirty="0"/>
          </a:p>
        </p:txBody>
      </p:sp>
      <p:sp>
        <p:nvSpPr>
          <p:cNvPr id="16" name="Text 14"/>
          <p:cNvSpPr/>
          <p:nvPr/>
        </p:nvSpPr>
        <p:spPr>
          <a:xfrm>
            <a:off x="2542032" y="2926080"/>
            <a:ext cx="1792224" cy="1691640"/>
          </a:xfrm>
          <a:prstGeom prst="rect">
            <a:avLst/>
          </a:prstGeom>
          <a:noFill/>
          <a:ln/>
        </p:spPr>
        <p:txBody>
          <a:bodyPr wrap="square" rtlCol="0" anchor="ctr"/>
          <a:lstStyle/>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Always vs now</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Signal words</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Stative verbs</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Exercise 2</a:t>
            </a:r>
            <a:endParaRPr lang="en-US" sz="1100" dirty="0"/>
          </a:p>
        </p:txBody>
      </p:sp>
      <p:sp>
        <p:nvSpPr>
          <p:cNvPr id="17" name="Shape 15"/>
          <p:cNvSpPr/>
          <p:nvPr/>
        </p:nvSpPr>
        <p:spPr>
          <a:xfrm>
            <a:off x="4608576" y="804672"/>
            <a:ext cx="1993392" cy="3977640"/>
          </a:xfrm>
          <a:prstGeom prst="rect">
            <a:avLst/>
          </a:prstGeom>
          <a:solidFill>
            <a:srgbClr val="F5EEF8"/>
          </a:solidFill>
          <a:ln w="12700">
            <a:solidFill>
              <a:srgbClr val="7D3C98"/>
            </a:solidFill>
            <a:prstDash val="solid"/>
          </a:ln>
        </p:spPr>
      </p:sp>
      <p:sp>
        <p:nvSpPr>
          <p:cNvPr id="18" name="Shape 16"/>
          <p:cNvSpPr/>
          <p:nvPr/>
        </p:nvSpPr>
        <p:spPr>
          <a:xfrm>
            <a:off x="4608576" y="804672"/>
            <a:ext cx="1993392" cy="548640"/>
          </a:xfrm>
          <a:prstGeom prst="rect">
            <a:avLst/>
          </a:prstGeom>
          <a:solidFill>
            <a:srgbClr val="7D3C98"/>
          </a:solidFill>
          <a:ln w="12700">
            <a:solidFill>
              <a:srgbClr val="7D3C98"/>
            </a:solidFill>
            <a:prstDash val="solid"/>
          </a:ln>
        </p:spPr>
      </p:sp>
      <p:sp>
        <p:nvSpPr>
          <p:cNvPr id="19" name="Text 17"/>
          <p:cNvSpPr/>
          <p:nvPr/>
        </p:nvSpPr>
        <p:spPr>
          <a:xfrm>
            <a:off x="4608576" y="804672"/>
            <a:ext cx="1993392"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MODULE 3</a:t>
            </a:r>
            <a:endParaRPr lang="en-US" sz="1100" dirty="0"/>
          </a:p>
        </p:txBody>
      </p:sp>
      <p:sp>
        <p:nvSpPr>
          <p:cNvPr id="20" name="Text 18"/>
          <p:cNvSpPr/>
          <p:nvPr/>
        </p:nvSpPr>
        <p:spPr>
          <a:xfrm>
            <a:off x="4700016" y="1426464"/>
            <a:ext cx="1810512" cy="1463040"/>
          </a:xfrm>
          <a:prstGeom prst="rect">
            <a:avLst/>
          </a:prstGeom>
          <a:noFill/>
          <a:ln/>
        </p:spPr>
        <p:txBody>
          <a:bodyPr wrap="square" rtlCol="0" anchor="t"/>
          <a:lstStyle/>
          <a:p>
            <a:pPr marL="0" indent="0">
              <a:buNone/>
            </a:pPr>
            <a:r>
              <a:rPr lang="en-US" sz="1400" dirty="0">
                <a:solidFill>
                  <a:srgbClr val="111827"/>
                </a:solidFill>
                <a:latin typeface="Calibri" pitchFamily="34" charset="0"/>
                <a:ea typeface="Calibri" pitchFamily="34" charset="-122"/>
                <a:cs typeface="Calibri" pitchFamily="34" charset="-120"/>
              </a:rPr>
              <a:t>Preferences</a:t>
            </a:r>
            <a:endParaRPr lang="en-US" sz="1400" dirty="0"/>
          </a:p>
          <a:p>
            <a:pPr marL="0" indent="0">
              <a:buNone/>
            </a:pPr>
            <a:r>
              <a:rPr lang="en-US" sz="1400" dirty="0">
                <a:solidFill>
                  <a:srgbClr val="111827"/>
                </a:solidFill>
                <a:latin typeface="Calibri" pitchFamily="34" charset="0"/>
                <a:ea typeface="Calibri" pitchFamily="34" charset="-122"/>
                <a:cs typeface="Calibri" pitchFamily="34" charset="-120"/>
              </a:rPr>
              <a:t>would rather · prefer</a:t>
            </a:r>
            <a:endParaRPr lang="en-US" sz="1400" dirty="0"/>
          </a:p>
          <a:p>
            <a:pPr marL="0" indent="0">
              <a:buNone/>
            </a:pPr>
            <a:r>
              <a:rPr lang="en-US" sz="1400" dirty="0">
                <a:solidFill>
                  <a:srgbClr val="111827"/>
                </a:solidFill>
                <a:latin typeface="Calibri" pitchFamily="34" charset="0"/>
                <a:ea typeface="Calibri" pitchFamily="34" charset="-122"/>
                <a:cs typeface="Calibri" pitchFamily="34" charset="-120"/>
              </a:rPr>
              <a:t>as…as</a:t>
            </a:r>
            <a:endParaRPr lang="en-US" sz="1400" dirty="0"/>
          </a:p>
        </p:txBody>
      </p:sp>
      <p:sp>
        <p:nvSpPr>
          <p:cNvPr id="21" name="Text 19"/>
          <p:cNvSpPr/>
          <p:nvPr/>
        </p:nvSpPr>
        <p:spPr>
          <a:xfrm>
            <a:off x="4718304" y="2926080"/>
            <a:ext cx="1792224" cy="1691640"/>
          </a:xfrm>
          <a:prstGeom prst="rect">
            <a:avLst/>
          </a:prstGeom>
          <a:noFill/>
          <a:ln/>
        </p:spPr>
        <p:txBody>
          <a:bodyPr wrap="square" rtlCol="0" anchor="ctr"/>
          <a:lstStyle/>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Would rather + verb</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Prefer + noun/-ing</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As...as</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Exercise 3</a:t>
            </a:r>
            <a:endParaRPr lang="en-US" sz="1100" dirty="0"/>
          </a:p>
        </p:txBody>
      </p:sp>
      <p:sp>
        <p:nvSpPr>
          <p:cNvPr id="22" name="Shape 20"/>
          <p:cNvSpPr/>
          <p:nvPr/>
        </p:nvSpPr>
        <p:spPr>
          <a:xfrm>
            <a:off x="6784848" y="804672"/>
            <a:ext cx="1993392" cy="3977640"/>
          </a:xfrm>
          <a:prstGeom prst="rect">
            <a:avLst/>
          </a:prstGeom>
          <a:solidFill>
            <a:srgbClr val="FDEBD0"/>
          </a:solidFill>
          <a:ln w="12700">
            <a:solidFill>
              <a:srgbClr val="F4A261"/>
            </a:solidFill>
            <a:prstDash val="solid"/>
          </a:ln>
        </p:spPr>
      </p:sp>
      <p:sp>
        <p:nvSpPr>
          <p:cNvPr id="23" name="Shape 21"/>
          <p:cNvSpPr/>
          <p:nvPr/>
        </p:nvSpPr>
        <p:spPr>
          <a:xfrm>
            <a:off x="6784848" y="804672"/>
            <a:ext cx="1993392" cy="548640"/>
          </a:xfrm>
          <a:prstGeom prst="rect">
            <a:avLst/>
          </a:prstGeom>
          <a:solidFill>
            <a:srgbClr val="F4A261"/>
          </a:solidFill>
          <a:ln w="12700">
            <a:solidFill>
              <a:srgbClr val="F4A261"/>
            </a:solidFill>
            <a:prstDash val="solid"/>
          </a:ln>
        </p:spPr>
      </p:sp>
      <p:sp>
        <p:nvSpPr>
          <p:cNvPr id="24" name="Text 22"/>
          <p:cNvSpPr/>
          <p:nvPr/>
        </p:nvSpPr>
        <p:spPr>
          <a:xfrm>
            <a:off x="6784848" y="804672"/>
            <a:ext cx="1993392"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MODULE 4</a:t>
            </a:r>
            <a:endParaRPr lang="en-US" sz="1100" dirty="0"/>
          </a:p>
        </p:txBody>
      </p:sp>
      <p:sp>
        <p:nvSpPr>
          <p:cNvPr id="25" name="Text 23"/>
          <p:cNvSpPr/>
          <p:nvPr/>
        </p:nvSpPr>
        <p:spPr>
          <a:xfrm>
            <a:off x="6876288" y="1426464"/>
            <a:ext cx="1810512" cy="1463040"/>
          </a:xfrm>
          <a:prstGeom prst="rect">
            <a:avLst/>
          </a:prstGeom>
          <a:noFill/>
          <a:ln/>
        </p:spPr>
        <p:txBody>
          <a:bodyPr wrap="square" rtlCol="0" anchor="t"/>
          <a:lstStyle/>
          <a:p>
            <a:pPr marL="0" indent="0">
              <a:buNone/>
            </a:pPr>
            <a:r>
              <a:rPr lang="en-US" sz="1400" dirty="0">
                <a:solidFill>
                  <a:srgbClr val="111827"/>
                </a:solidFill>
                <a:latin typeface="Calibri" pitchFamily="34" charset="0"/>
                <a:ea typeface="Calibri" pitchFamily="34" charset="-122"/>
                <a:cs typeface="Calibri" pitchFamily="34" charset="-120"/>
              </a:rPr>
              <a:t>Listening · Reading</a:t>
            </a:r>
            <a:endParaRPr lang="en-US" sz="1400" dirty="0"/>
          </a:p>
          <a:p>
            <a:pPr marL="0" indent="0">
              <a:buNone/>
            </a:pPr>
            <a:r>
              <a:rPr lang="en-US" sz="1400" dirty="0">
                <a:solidFill>
                  <a:srgbClr val="111827"/>
                </a:solidFill>
                <a:latin typeface="Calibri" pitchFamily="34" charset="0"/>
                <a:ea typeface="Calibri" pitchFamily="34" charset="-122"/>
                <a:cs typeface="Calibri" pitchFamily="34" charset="-120"/>
              </a:rPr>
              <a:t>Writing · Speaking</a:t>
            </a:r>
            <a:endParaRPr lang="en-US" sz="1400" dirty="0"/>
          </a:p>
        </p:txBody>
      </p:sp>
      <p:sp>
        <p:nvSpPr>
          <p:cNvPr id="26" name="Text 24"/>
          <p:cNvSpPr/>
          <p:nvPr/>
        </p:nvSpPr>
        <p:spPr>
          <a:xfrm>
            <a:off x="6894576" y="2926080"/>
            <a:ext cx="1792224" cy="1691640"/>
          </a:xfrm>
          <a:prstGeom prst="rect">
            <a:avLst/>
          </a:prstGeom>
          <a:noFill/>
          <a:ln/>
        </p:spPr>
        <p:txBody>
          <a:bodyPr wrap="square" rtlCol="0" anchor="ctr"/>
          <a:lstStyle/>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Weekend plans</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Dinner party text</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Opinion writing</a:t>
            </a:r>
            <a:endParaRPr lang="en-US" sz="1100" dirty="0"/>
          </a:p>
          <a:p>
            <a:pPr marL="342900" indent="-342900">
              <a:buSzPct val="100000"/>
              <a:buChar char="•"/>
            </a:pPr>
            <a:r>
              <a:rPr lang="en-US" sz="1100" dirty="0">
                <a:solidFill>
                  <a:srgbClr val="111827"/>
                </a:solidFill>
                <a:latin typeface="Calibri" pitchFamily="34" charset="0"/>
                <a:ea typeface="Calibri" pitchFamily="34" charset="-122"/>
                <a:cs typeface="Calibri" pitchFamily="34" charset="-120"/>
              </a:rPr>
              <a:t>Group speaking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6B"/>
          </a:solidFill>
          <a:ln w="12700">
            <a:solidFill>
              <a:srgbClr val="1B3A6B"/>
            </a:solidFill>
            <a:prstDash val="solid"/>
          </a:ln>
        </p:spPr>
      </p:sp>
      <p:sp>
        <p:nvSpPr>
          <p:cNvPr id="3" name="Shape 1"/>
          <p:cNvSpPr/>
          <p:nvPr/>
        </p:nvSpPr>
        <p:spPr>
          <a:xfrm>
            <a:off x="6217920" y="0"/>
            <a:ext cx="2926080" cy="5143500"/>
          </a:xfrm>
          <a:prstGeom prst="rect">
            <a:avLst/>
          </a:prstGeom>
          <a:solidFill>
            <a:srgbClr val="0D7377"/>
          </a:solidFill>
          <a:ln w="12700">
            <a:solidFill>
              <a:srgbClr val="0D7377"/>
            </a:solidFill>
            <a:prstDash val="solid"/>
          </a:ln>
        </p:spPr>
      </p:sp>
      <p:sp>
        <p:nvSpPr>
          <p:cNvPr id="4" name="Shape 2"/>
          <p:cNvSpPr/>
          <p:nvPr/>
        </p:nvSpPr>
        <p:spPr>
          <a:xfrm>
            <a:off x="6217920" y="0"/>
            <a:ext cx="73152" cy="5143500"/>
          </a:xfrm>
          <a:prstGeom prst="rect">
            <a:avLst/>
          </a:prstGeom>
          <a:solidFill>
            <a:srgbClr val="F4A261"/>
          </a:solidFill>
          <a:ln w="12700">
            <a:solidFill>
              <a:srgbClr val="F4A261"/>
            </a:solidFill>
            <a:prstDash val="solid"/>
          </a:ln>
        </p:spPr>
      </p:sp>
      <p:sp>
        <p:nvSpPr>
          <p:cNvPr id="5" name="Shape 3"/>
          <p:cNvSpPr/>
          <p:nvPr/>
        </p:nvSpPr>
        <p:spPr>
          <a:xfrm>
            <a:off x="411480" y="914400"/>
            <a:ext cx="2011680" cy="438912"/>
          </a:xfrm>
          <a:prstGeom prst="rect">
            <a:avLst/>
          </a:prstGeom>
          <a:solidFill>
            <a:srgbClr val="F4A261"/>
          </a:solidFill>
          <a:ln w="12700">
            <a:solidFill>
              <a:srgbClr val="F4A261"/>
            </a:solidFill>
            <a:prstDash val="solid"/>
          </a:ln>
        </p:spPr>
      </p:sp>
      <p:sp>
        <p:nvSpPr>
          <p:cNvPr id="6" name="Text 4"/>
          <p:cNvSpPr/>
          <p:nvPr/>
        </p:nvSpPr>
        <p:spPr>
          <a:xfrm>
            <a:off x="411480" y="914400"/>
            <a:ext cx="2011680" cy="438912"/>
          </a:xfrm>
          <a:prstGeom prst="rect">
            <a:avLst/>
          </a:prstGeom>
          <a:noFill/>
          <a:ln/>
        </p:spPr>
        <p:txBody>
          <a:bodyPr wrap="square" lIns="0" tIns="0" rIns="0" bIns="0" rtlCol="0" anchor="ctr"/>
          <a:lstStyle/>
          <a:p>
            <a:pPr marL="0" indent="0" algn="ctr">
              <a:buNone/>
            </a:pPr>
            <a:r>
              <a:rPr lang="en-US" sz="1100" b="1" dirty="0">
                <a:solidFill>
                  <a:srgbClr val="1B3A6B"/>
                </a:solidFill>
                <a:latin typeface="Trebuchet MS" pitchFamily="34" charset="0"/>
                <a:ea typeface="Trebuchet MS" pitchFamily="34" charset="-122"/>
                <a:cs typeface="Trebuchet MS" pitchFamily="34" charset="-120"/>
              </a:rPr>
              <a:t>MODULE 1</a:t>
            </a:r>
            <a:endParaRPr lang="en-US" sz="1100" dirty="0"/>
          </a:p>
        </p:txBody>
      </p:sp>
      <p:sp>
        <p:nvSpPr>
          <p:cNvPr id="7" name="Text 5"/>
          <p:cNvSpPr/>
          <p:nvPr/>
        </p:nvSpPr>
        <p:spPr>
          <a:xfrm>
            <a:off x="411480" y="1508760"/>
            <a:ext cx="5577840" cy="1280160"/>
          </a:xfrm>
          <a:prstGeom prst="rect">
            <a:avLst/>
          </a:prstGeom>
          <a:noFill/>
          <a:ln/>
        </p:spPr>
        <p:txBody>
          <a:bodyPr wrap="square"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Vocabulary +</a:t>
            </a:r>
            <a:endParaRPr lang="en-US" sz="3800" dirty="0"/>
          </a:p>
          <a:p>
            <a:pPr marL="0" indent="0">
              <a:buNone/>
            </a:pPr>
            <a:r>
              <a:rPr lang="en-US" sz="3800" b="1" dirty="0">
                <a:solidFill>
                  <a:srgbClr val="FFFFFF"/>
                </a:solidFill>
                <a:latin typeface="Trebuchet MS" pitchFamily="34" charset="0"/>
                <a:ea typeface="Trebuchet MS" pitchFamily="34" charset="-122"/>
                <a:cs typeface="Trebuchet MS" pitchFamily="34" charset="-120"/>
              </a:rPr>
              <a:t>Present Continuous</a:t>
            </a:r>
            <a:endParaRPr lang="en-US" sz="3800" dirty="0"/>
          </a:p>
        </p:txBody>
      </p:sp>
      <p:sp>
        <p:nvSpPr>
          <p:cNvPr id="8" name="Text 6"/>
          <p:cNvSpPr/>
          <p:nvPr/>
        </p:nvSpPr>
        <p:spPr>
          <a:xfrm>
            <a:off x="411480" y="2834640"/>
            <a:ext cx="5577840" cy="822960"/>
          </a:xfrm>
          <a:prstGeom prst="rect">
            <a:avLst/>
          </a:prstGeom>
          <a:noFill/>
          <a:ln/>
        </p:spPr>
        <p:txBody>
          <a:bodyPr wrap="square" rtlCol="0" anchor="ctr"/>
          <a:lstStyle/>
          <a:p>
            <a:pPr marL="0" indent="0">
              <a:buNone/>
            </a:pPr>
            <a:r>
              <a:rPr lang="en-US" sz="1600" i="1" dirty="0">
                <a:solidFill>
                  <a:srgbClr val="A8C4E0"/>
                </a:solidFill>
                <a:latin typeface="Calibri" pitchFamily="34" charset="0"/>
                <a:ea typeface="Calibri" pitchFamily="34" charset="-122"/>
                <a:cs typeface="Calibri" pitchFamily="34" charset="-120"/>
              </a:rPr>
              <a:t>Key words for tonight's topics · Grammar formula · Pair practice</a:t>
            </a:r>
            <a:endParaRPr lang="en-US" sz="1600" dirty="0"/>
          </a:p>
        </p:txBody>
      </p:sp>
      <p:sp>
        <p:nvSpPr>
          <p:cNvPr id="9" name="Text 7"/>
          <p:cNvSpPr/>
          <p:nvPr/>
        </p:nvSpPr>
        <p:spPr>
          <a:xfrm>
            <a:off x="6400800" y="1645920"/>
            <a:ext cx="2560320" cy="201168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Blueprint 4</a:t>
            </a:r>
            <a:endParaRPr lang="en-US" sz="1600" dirty="0"/>
          </a:p>
          <a:p>
            <a:pPr marL="0" indent="0" algn="ctr">
              <a:buNone/>
            </a:pPr>
            <a:r>
              <a:rPr lang="en-US" sz="1600" dirty="0">
                <a:solidFill>
                  <a:srgbClr val="FFFFFF"/>
                </a:solidFill>
                <a:latin typeface="Calibri" pitchFamily="34" charset="0"/>
                <a:ea typeface="Calibri" pitchFamily="34" charset="-122"/>
                <a:cs typeface="Calibri" pitchFamily="34" charset="-120"/>
              </a:rPr>
              <a:t>B1 Intermediate</a:t>
            </a:r>
            <a:endParaRPr lang="en-US" sz="1600" dirty="0"/>
          </a:p>
          <a:p>
            <a:pPr marL="0" indent="0" algn="ctr">
              <a:buNone/>
            </a:pPr>
            <a:r>
              <a:rPr lang="en-US" sz="1600" dirty="0">
                <a:solidFill>
                  <a:srgbClr val="FFFFFF"/>
                </a:solidFill>
                <a:latin typeface="Calibri" pitchFamily="34" charset="0"/>
                <a:ea typeface="Calibri" pitchFamily="34" charset="-122"/>
                <a:cs typeface="Calibri" pitchFamily="34" charset="-120"/>
              </a:rPr>
              <a:t>GEP 9</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1 — Part A: Key Vocabulary (Words 1–5)</a:t>
            </a:r>
            <a:endParaRPr lang="en-US" sz="2000" dirty="0"/>
          </a:p>
        </p:txBody>
      </p:sp>
      <p:sp>
        <p:nvSpPr>
          <p:cNvPr id="5" name="Shape 3"/>
          <p:cNvSpPr/>
          <p:nvPr/>
        </p:nvSpPr>
        <p:spPr>
          <a:xfrm>
            <a:off x="7315200" y="128016"/>
            <a:ext cx="1645920" cy="402336"/>
          </a:xfrm>
          <a:prstGeom prst="rect">
            <a:avLst/>
          </a:prstGeom>
          <a:solidFill>
            <a:srgbClr val="1B3A6B"/>
          </a:solidFill>
          <a:ln w="12700">
            <a:solidFill>
              <a:srgbClr val="1B3A6B"/>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VOCABULARY</a:t>
            </a:r>
            <a:endParaRPr lang="en-US" sz="1100" dirty="0"/>
          </a:p>
        </p:txBody>
      </p:sp>
      <p:sp>
        <p:nvSpPr>
          <p:cNvPr id="7" name="Shape 5"/>
          <p:cNvSpPr/>
          <p:nvPr/>
        </p:nvSpPr>
        <p:spPr>
          <a:xfrm>
            <a:off x="256032" y="749808"/>
            <a:ext cx="4389120" cy="347472"/>
          </a:xfrm>
          <a:prstGeom prst="rect">
            <a:avLst/>
          </a:prstGeom>
          <a:solidFill>
            <a:srgbClr val="F4A261"/>
          </a:solidFill>
          <a:ln w="12700">
            <a:solidFill>
              <a:srgbClr val="E8873A"/>
            </a:solidFill>
            <a:prstDash val="solid"/>
          </a:ln>
        </p:spPr>
      </p:sp>
      <p:sp>
        <p:nvSpPr>
          <p:cNvPr id="8" name="Shape 6"/>
          <p:cNvSpPr/>
          <p:nvPr/>
        </p:nvSpPr>
        <p:spPr>
          <a:xfrm>
            <a:off x="256032" y="749808"/>
            <a:ext cx="109728" cy="347472"/>
          </a:xfrm>
          <a:prstGeom prst="rect">
            <a:avLst/>
          </a:prstGeom>
          <a:solidFill>
            <a:srgbClr val="E8873A"/>
          </a:solidFill>
          <a:ln w="12700">
            <a:solidFill>
              <a:srgbClr val="E8873A"/>
            </a:solidFill>
            <a:prstDash val="solid"/>
          </a:ln>
        </p:spPr>
      </p:sp>
      <p:sp>
        <p:nvSpPr>
          <p:cNvPr id="9" name="Text 7"/>
          <p:cNvSpPr/>
          <p:nvPr/>
        </p:nvSpPr>
        <p:spPr>
          <a:xfrm>
            <a:off x="420624" y="749808"/>
            <a:ext cx="4206240" cy="347472"/>
          </a:xfrm>
          <a:prstGeom prst="rect">
            <a:avLst/>
          </a:prstGeom>
          <a:noFill/>
          <a:ln/>
        </p:spPr>
        <p:txBody>
          <a:bodyPr wrap="square" lIns="0" tIns="0" rIns="0" bIns="0" rtlCol="0" anchor="ctr"/>
          <a:lstStyle/>
          <a:p>
            <a:pPr marL="0" indent="0">
              <a:buNone/>
            </a:pPr>
            <a:r>
              <a:rPr lang="en-US" sz="1200" b="1" dirty="0">
                <a:solidFill>
                  <a:srgbClr val="1B3A6B"/>
                </a:solidFill>
                <a:latin typeface="Trebuchet MS" pitchFamily="34" charset="0"/>
                <a:ea typeface="Trebuchet MS" pitchFamily="34" charset="-122"/>
                <a:cs typeface="Trebuchet MS" pitchFamily="34" charset="-120"/>
              </a:rPr>
              <a:t>✏  WRITE THIS DOWN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56032" y="1152144"/>
          <a:ext cx="8631936" cy="3383280"/>
        </p:xfrm>
        <a:graphic>
          <a:graphicData uri="http://schemas.openxmlformats.org/drawingml/2006/table">
            <a:tbl>
              <a:tblPr/>
              <a:tblGrid>
                <a:gridCol w="19202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4151376">
                  <a:extLst>
                    <a:ext uri="{9D8B030D-6E8A-4147-A177-3AD203B41FA5}">
                      <a16:colId xmlns:a16="http://schemas.microsoft.com/office/drawing/2014/main" val="20002"/>
                    </a:ext>
                  </a:extLst>
                </a:gridCol>
              </a:tblGrid>
              <a:tr h="563880">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Word / Phrase</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Meaning</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Example Sentence</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563880">
                <a:tc>
                  <a:txBody>
                    <a:bodyPr/>
                    <a:lstStyle/>
                    <a:p>
                      <a:pPr marL="0" indent="0">
                        <a:buNone/>
                      </a:pPr>
                      <a:r>
                        <a:rPr lang="en-US" sz="1300" b="1" dirty="0">
                          <a:solidFill>
                            <a:srgbClr val="111827"/>
                          </a:solidFill>
                          <a:latin typeface="Calibri" pitchFamily="34" charset="0"/>
                          <a:ea typeface="Calibri" pitchFamily="34" charset="-122"/>
                          <a:cs typeface="Calibri" pitchFamily="34" charset="-120"/>
                        </a:rPr>
                        <a:t>up to</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doing / planning</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What are you up to tonight?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3880">
                <a:tc>
                  <a:txBody>
                    <a:bodyPr/>
                    <a:lstStyle/>
                    <a:p>
                      <a:pPr marL="0" indent="0">
                        <a:buNone/>
                      </a:pPr>
                      <a:r>
                        <a:rPr lang="en-US" sz="1300" b="1" dirty="0">
                          <a:solidFill>
                            <a:srgbClr val="111827"/>
                          </a:solidFill>
                          <a:latin typeface="Calibri" pitchFamily="34" charset="0"/>
                          <a:ea typeface="Calibri" pitchFamily="34" charset="-122"/>
                          <a:cs typeface="Calibri" pitchFamily="34" charset="-120"/>
                        </a:rPr>
                        <a:t>hang out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spend time with friends</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I'm hanging out with my friends.</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extLst>
                  <a:ext uri="{0D108BD9-81ED-4DB2-BD59-A6C34878D82A}">
                    <a16:rowId xmlns:a16="http://schemas.microsoft.com/office/drawing/2014/main" val="10002"/>
                  </a:ext>
                </a:extLst>
              </a:tr>
              <a:tr h="563880">
                <a:tc>
                  <a:txBody>
                    <a:bodyPr/>
                    <a:lstStyle/>
                    <a:p>
                      <a:pPr marL="0" indent="0">
                        <a:buNone/>
                      </a:pPr>
                      <a:r>
                        <a:rPr lang="en-US" sz="1300" b="1" dirty="0">
                          <a:solidFill>
                            <a:srgbClr val="111827"/>
                          </a:solidFill>
                          <a:latin typeface="Calibri" pitchFamily="34" charset="0"/>
                          <a:ea typeface="Calibri" pitchFamily="34" charset="-122"/>
                          <a:cs typeface="Calibri" pitchFamily="34" charset="-120"/>
                        </a:rPr>
                        <a:t>grab a bite</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eat a small meal together</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Let's grab a bite after class.</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3880">
                <a:tc>
                  <a:txBody>
                    <a:bodyPr/>
                    <a:lstStyle/>
                    <a:p>
                      <a:pPr marL="0" indent="0">
                        <a:buNone/>
                      </a:pPr>
                      <a:r>
                        <a:rPr lang="en-US" sz="1300" b="1" dirty="0">
                          <a:solidFill>
                            <a:srgbClr val="111827"/>
                          </a:solidFill>
                          <a:latin typeface="Calibri" pitchFamily="34" charset="0"/>
                          <a:ea typeface="Calibri" pitchFamily="34" charset="-122"/>
                          <a:cs typeface="Calibri" pitchFamily="34" charset="-120"/>
                        </a:rPr>
                        <a:t>host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be the organiser at home</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She is hosting dinner tonight.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extLst>
                  <a:ext uri="{0D108BD9-81ED-4DB2-BD59-A6C34878D82A}">
                    <a16:rowId xmlns:a16="http://schemas.microsoft.com/office/drawing/2014/main" val="10004"/>
                  </a:ext>
                </a:extLst>
              </a:tr>
              <a:tr h="563880">
                <a:tc>
                  <a:txBody>
                    <a:bodyPr/>
                    <a:lstStyle/>
                    <a:p>
                      <a:pPr marL="0" indent="0">
                        <a:buNone/>
                      </a:pPr>
                      <a:r>
                        <a:rPr lang="en-US" sz="1300" b="1" dirty="0">
                          <a:solidFill>
                            <a:srgbClr val="111827"/>
                          </a:solidFill>
                          <a:latin typeface="Calibri" pitchFamily="34" charset="0"/>
                          <a:ea typeface="Calibri" pitchFamily="34" charset="-122"/>
                          <a:cs typeface="Calibri" pitchFamily="34" charset="-120"/>
                        </a:rPr>
                        <a:t>make a reservation</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book a table at a restaurant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Can you make a reservation for 7pm?</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8"/>
          <p:cNvSpPr/>
          <p:nvPr/>
        </p:nvSpPr>
        <p:spPr>
          <a:xfrm>
            <a:off x="256032" y="4663440"/>
            <a:ext cx="8631936" cy="384048"/>
          </a:xfrm>
          <a:prstGeom prst="rect">
            <a:avLst/>
          </a:prstGeom>
          <a:solidFill>
            <a:srgbClr val="FEF9E7"/>
          </a:solidFill>
          <a:ln w="12700">
            <a:solidFill>
              <a:srgbClr val="F4A261"/>
            </a:solidFill>
            <a:prstDash val="solid"/>
          </a:ln>
        </p:spPr>
      </p:sp>
      <p:sp>
        <p:nvSpPr>
          <p:cNvPr id="12" name="Shape 9"/>
          <p:cNvSpPr/>
          <p:nvPr/>
        </p:nvSpPr>
        <p:spPr>
          <a:xfrm>
            <a:off x="256032" y="4663440"/>
            <a:ext cx="109728" cy="384048"/>
          </a:xfrm>
          <a:prstGeom prst="rect">
            <a:avLst/>
          </a:prstGeom>
          <a:solidFill>
            <a:srgbClr val="F4A261"/>
          </a:solidFill>
          <a:ln w="12700">
            <a:solidFill>
              <a:srgbClr val="F4A261"/>
            </a:solidFill>
            <a:prstDash val="solid"/>
          </a:ln>
        </p:spPr>
      </p:sp>
      <p:sp>
        <p:nvSpPr>
          <p:cNvPr id="13" name="Text 10"/>
          <p:cNvSpPr/>
          <p:nvPr/>
        </p:nvSpPr>
        <p:spPr>
          <a:xfrm>
            <a:off x="438912" y="4718304"/>
            <a:ext cx="8375904" cy="274320"/>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Read each word out loud. Repeat after your teacher. Then write the meaning in your own language in your notebook.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1 — Part A: Key Vocabulary (Words 6–10)</a:t>
            </a:r>
            <a:endParaRPr lang="en-US" sz="2000" dirty="0"/>
          </a:p>
        </p:txBody>
      </p:sp>
      <p:sp>
        <p:nvSpPr>
          <p:cNvPr id="5" name="Shape 3"/>
          <p:cNvSpPr/>
          <p:nvPr/>
        </p:nvSpPr>
        <p:spPr>
          <a:xfrm>
            <a:off x="7315200" y="128016"/>
            <a:ext cx="1645920" cy="402336"/>
          </a:xfrm>
          <a:prstGeom prst="rect">
            <a:avLst/>
          </a:prstGeom>
          <a:solidFill>
            <a:srgbClr val="1B3A6B"/>
          </a:solidFill>
          <a:ln w="12700">
            <a:solidFill>
              <a:srgbClr val="1B3A6B"/>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VOCABULARY</a:t>
            </a:r>
            <a:endParaRPr lang="en-US" sz="1100" dirty="0"/>
          </a:p>
        </p:txBody>
      </p:sp>
      <p:sp>
        <p:nvSpPr>
          <p:cNvPr id="7" name="Shape 5"/>
          <p:cNvSpPr/>
          <p:nvPr/>
        </p:nvSpPr>
        <p:spPr>
          <a:xfrm>
            <a:off x="256032" y="749808"/>
            <a:ext cx="4389120" cy="347472"/>
          </a:xfrm>
          <a:prstGeom prst="rect">
            <a:avLst/>
          </a:prstGeom>
          <a:solidFill>
            <a:srgbClr val="F4A261"/>
          </a:solidFill>
          <a:ln w="12700">
            <a:solidFill>
              <a:srgbClr val="E8873A"/>
            </a:solidFill>
            <a:prstDash val="solid"/>
          </a:ln>
        </p:spPr>
      </p:sp>
      <p:sp>
        <p:nvSpPr>
          <p:cNvPr id="8" name="Shape 6"/>
          <p:cNvSpPr/>
          <p:nvPr/>
        </p:nvSpPr>
        <p:spPr>
          <a:xfrm>
            <a:off x="256032" y="749808"/>
            <a:ext cx="109728" cy="347472"/>
          </a:xfrm>
          <a:prstGeom prst="rect">
            <a:avLst/>
          </a:prstGeom>
          <a:solidFill>
            <a:srgbClr val="E8873A"/>
          </a:solidFill>
          <a:ln w="12700">
            <a:solidFill>
              <a:srgbClr val="E8873A"/>
            </a:solidFill>
            <a:prstDash val="solid"/>
          </a:ln>
        </p:spPr>
      </p:sp>
      <p:sp>
        <p:nvSpPr>
          <p:cNvPr id="9" name="Text 7"/>
          <p:cNvSpPr/>
          <p:nvPr/>
        </p:nvSpPr>
        <p:spPr>
          <a:xfrm>
            <a:off x="420624" y="749808"/>
            <a:ext cx="4206240" cy="347472"/>
          </a:xfrm>
          <a:prstGeom prst="rect">
            <a:avLst/>
          </a:prstGeom>
          <a:noFill/>
          <a:ln/>
        </p:spPr>
        <p:txBody>
          <a:bodyPr wrap="square" lIns="0" tIns="0" rIns="0" bIns="0" rtlCol="0" anchor="ctr"/>
          <a:lstStyle/>
          <a:p>
            <a:pPr marL="0" indent="0">
              <a:buNone/>
            </a:pPr>
            <a:r>
              <a:rPr lang="en-US" sz="1200" b="1" dirty="0">
                <a:solidFill>
                  <a:srgbClr val="1B3A6B"/>
                </a:solidFill>
                <a:latin typeface="Trebuchet MS" pitchFamily="34" charset="0"/>
                <a:ea typeface="Trebuchet MS" pitchFamily="34" charset="-122"/>
                <a:cs typeface="Trebuchet MS" pitchFamily="34" charset="-120"/>
              </a:rPr>
              <a:t>✏  WRITE THIS DOWN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56032" y="1152144"/>
          <a:ext cx="8631936" cy="3383280"/>
        </p:xfrm>
        <a:graphic>
          <a:graphicData uri="http://schemas.openxmlformats.org/drawingml/2006/table">
            <a:tbl>
              <a:tblPr/>
              <a:tblGrid>
                <a:gridCol w="19202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4151376">
                  <a:extLst>
                    <a:ext uri="{9D8B030D-6E8A-4147-A177-3AD203B41FA5}">
                      <a16:colId xmlns:a16="http://schemas.microsoft.com/office/drawing/2014/main" val="20002"/>
                    </a:ext>
                  </a:extLst>
                </a:gridCol>
              </a:tblGrid>
              <a:tr h="563880">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Word / Phrase</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Meaning</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Example Sentence</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563880">
                <a:tc>
                  <a:txBody>
                    <a:bodyPr/>
                    <a:lstStyle/>
                    <a:p>
                      <a:pPr marL="0" indent="0">
                        <a:buNone/>
                      </a:pPr>
                      <a:r>
                        <a:rPr lang="en-US" sz="1300" b="1" dirty="0">
                          <a:solidFill>
                            <a:srgbClr val="111827"/>
                          </a:solidFill>
                          <a:latin typeface="Calibri" pitchFamily="34" charset="0"/>
                          <a:ea typeface="Calibri" pitchFamily="34" charset="-122"/>
                          <a:cs typeface="Calibri" pitchFamily="34" charset="-120"/>
                        </a:rPr>
                        <a:t>binge-watch</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watch many episodes in a row</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We're binge-watching a new series.</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3880">
                <a:tc>
                  <a:txBody>
                    <a:bodyPr/>
                    <a:lstStyle/>
                    <a:p>
                      <a:pPr marL="0" indent="0">
                        <a:buNone/>
                      </a:pPr>
                      <a:r>
                        <a:rPr lang="en-US" sz="1300" b="1" dirty="0">
                          <a:solidFill>
                            <a:srgbClr val="111827"/>
                          </a:solidFill>
                          <a:latin typeface="Calibri" pitchFamily="34" charset="0"/>
                          <a:ea typeface="Calibri" pitchFamily="34" charset="-122"/>
                          <a:cs typeface="Calibri" pitchFamily="34" charset="-120"/>
                        </a:rPr>
                        <a:t>stream</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watch online via internet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He is streaming his favourite show.</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extLst>
                  <a:ext uri="{0D108BD9-81ED-4DB2-BD59-A6C34878D82A}">
                    <a16:rowId xmlns:a16="http://schemas.microsoft.com/office/drawing/2014/main" val="10002"/>
                  </a:ext>
                </a:extLst>
              </a:tr>
              <a:tr h="563880">
                <a:tc>
                  <a:txBody>
                    <a:bodyPr/>
                    <a:lstStyle/>
                    <a:p>
                      <a:pPr marL="0" indent="0">
                        <a:buNone/>
                      </a:pPr>
                      <a:r>
                        <a:rPr lang="en-US" sz="1300" b="1" dirty="0">
                          <a:solidFill>
                            <a:srgbClr val="111827"/>
                          </a:solidFill>
                          <a:latin typeface="Calibri" pitchFamily="34" charset="0"/>
                          <a:ea typeface="Calibri" pitchFamily="34" charset="-122"/>
                          <a:cs typeface="Calibri" pitchFamily="34" charset="-120"/>
                        </a:rPr>
                        <a:t>pick a movie</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choose / select a film</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Let's pick a movie together.</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3880">
                <a:tc>
                  <a:txBody>
                    <a:bodyPr/>
                    <a:lstStyle/>
                    <a:p>
                      <a:pPr marL="0" indent="0">
                        <a:buNone/>
                      </a:pPr>
                      <a:r>
                        <a:rPr lang="en-US" sz="1300" b="1" dirty="0">
                          <a:solidFill>
                            <a:srgbClr val="111827"/>
                          </a:solidFill>
                          <a:latin typeface="Calibri" pitchFamily="34" charset="0"/>
                          <a:ea typeface="Calibri" pitchFamily="34" charset="-122"/>
                          <a:cs typeface="Calibri" pitchFamily="34" charset="-120"/>
                        </a:rPr>
                        <a:t>board game</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a game played on a table with others</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We're playing a board game tonight.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extLst>
                  <a:ext uri="{0D108BD9-81ED-4DB2-BD59-A6C34878D82A}">
                    <a16:rowId xmlns:a16="http://schemas.microsoft.com/office/drawing/2014/main" val="10004"/>
                  </a:ext>
                </a:extLst>
              </a:tr>
              <a:tr h="563880">
                <a:tc>
                  <a:txBody>
                    <a:bodyPr/>
                    <a:lstStyle/>
                    <a:p>
                      <a:pPr marL="0" indent="0">
                        <a:buNone/>
                      </a:pPr>
                      <a:r>
                        <a:rPr lang="en-US" sz="1300" b="1" dirty="0">
                          <a:solidFill>
                            <a:srgbClr val="111827"/>
                          </a:solidFill>
                          <a:latin typeface="Calibri" pitchFamily="34" charset="0"/>
                          <a:ea typeface="Calibri" pitchFamily="34" charset="-122"/>
                          <a:cs typeface="Calibri" pitchFamily="34" charset="-120"/>
                        </a:rPr>
                        <a:t>rather</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prefer something more</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111827"/>
                          </a:solidFill>
                          <a:latin typeface="Calibri" pitchFamily="34" charset="0"/>
                          <a:ea typeface="Calibri" pitchFamily="34" charset="-122"/>
                          <a:cs typeface="Calibri" pitchFamily="34" charset="-120"/>
                        </a:rPr>
                        <a:t>I'd rather stay in tonight.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8"/>
          <p:cNvSpPr/>
          <p:nvPr/>
        </p:nvSpPr>
        <p:spPr>
          <a:xfrm>
            <a:off x="256032" y="4663440"/>
            <a:ext cx="8631936" cy="384048"/>
          </a:xfrm>
          <a:prstGeom prst="rect">
            <a:avLst/>
          </a:prstGeom>
          <a:solidFill>
            <a:srgbClr val="FEF9E7"/>
          </a:solidFill>
          <a:ln w="12700">
            <a:solidFill>
              <a:srgbClr val="F4A261"/>
            </a:solidFill>
            <a:prstDash val="solid"/>
          </a:ln>
        </p:spPr>
      </p:sp>
      <p:sp>
        <p:nvSpPr>
          <p:cNvPr id="12" name="Shape 9"/>
          <p:cNvSpPr/>
          <p:nvPr/>
        </p:nvSpPr>
        <p:spPr>
          <a:xfrm>
            <a:off x="256032" y="4663440"/>
            <a:ext cx="109728" cy="384048"/>
          </a:xfrm>
          <a:prstGeom prst="rect">
            <a:avLst/>
          </a:prstGeom>
          <a:solidFill>
            <a:srgbClr val="F4A261"/>
          </a:solidFill>
          <a:ln w="12700">
            <a:solidFill>
              <a:srgbClr val="F4A261"/>
            </a:solidFill>
            <a:prstDash val="solid"/>
          </a:ln>
        </p:spPr>
      </p:sp>
      <p:sp>
        <p:nvSpPr>
          <p:cNvPr id="13" name="Text 10"/>
          <p:cNvSpPr/>
          <p:nvPr/>
        </p:nvSpPr>
        <p:spPr>
          <a:xfrm>
            <a:off x="438912" y="4718304"/>
            <a:ext cx="8375904" cy="274320"/>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MEMORY TIP: Draw a small picture next to each word in your notebook. Your brain remembers pictures better than words alone!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1 — Part B: Present Continuous — 2 Uses</a:t>
            </a:r>
            <a:endParaRPr lang="en-US" sz="2000" dirty="0"/>
          </a:p>
        </p:txBody>
      </p:sp>
      <p:sp>
        <p:nvSpPr>
          <p:cNvPr id="5" name="Shape 3"/>
          <p:cNvSpPr/>
          <p:nvPr/>
        </p:nvSpPr>
        <p:spPr>
          <a:xfrm>
            <a:off x="7315200" y="128016"/>
            <a:ext cx="1645920" cy="402336"/>
          </a:xfrm>
          <a:prstGeom prst="rect">
            <a:avLst/>
          </a:prstGeom>
          <a:solidFill>
            <a:srgbClr val="0D7377"/>
          </a:solidFill>
          <a:ln w="12700">
            <a:solidFill>
              <a:srgbClr val="0D7377"/>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GRAMMAR</a:t>
            </a:r>
            <a:endParaRPr lang="en-US" sz="1100" dirty="0"/>
          </a:p>
        </p:txBody>
      </p:sp>
      <p:sp>
        <p:nvSpPr>
          <p:cNvPr id="7" name="Shape 5"/>
          <p:cNvSpPr/>
          <p:nvPr/>
        </p:nvSpPr>
        <p:spPr>
          <a:xfrm>
            <a:off x="256032" y="777240"/>
            <a:ext cx="4169664" cy="4023360"/>
          </a:xfrm>
          <a:prstGeom prst="rect">
            <a:avLst/>
          </a:prstGeom>
          <a:solidFill>
            <a:srgbClr val="D1F2EB"/>
          </a:solidFill>
          <a:ln w="12700">
            <a:solidFill>
              <a:srgbClr val="0D7377"/>
            </a:solidFill>
            <a:prstDash val="solid"/>
          </a:ln>
        </p:spPr>
      </p:sp>
      <p:sp>
        <p:nvSpPr>
          <p:cNvPr id="8" name="Shape 6"/>
          <p:cNvSpPr/>
          <p:nvPr/>
        </p:nvSpPr>
        <p:spPr>
          <a:xfrm>
            <a:off x="256032" y="777240"/>
            <a:ext cx="4169664" cy="475488"/>
          </a:xfrm>
          <a:prstGeom prst="rect">
            <a:avLst/>
          </a:prstGeom>
          <a:solidFill>
            <a:srgbClr val="0D7377"/>
          </a:solidFill>
          <a:ln w="12700">
            <a:solidFill>
              <a:srgbClr val="0D7377"/>
            </a:solidFill>
            <a:prstDash val="solid"/>
          </a:ln>
        </p:spPr>
      </p:sp>
      <p:sp>
        <p:nvSpPr>
          <p:cNvPr id="9" name="Text 7"/>
          <p:cNvSpPr/>
          <p:nvPr/>
        </p:nvSpPr>
        <p:spPr>
          <a:xfrm>
            <a:off x="256032" y="777240"/>
            <a:ext cx="41696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USE 1 — RIGHT NOW</a:t>
            </a:r>
            <a:endParaRPr lang="en-US" sz="1400" dirty="0"/>
          </a:p>
        </p:txBody>
      </p:sp>
      <p:sp>
        <p:nvSpPr>
          <p:cNvPr id="10" name="Text 8"/>
          <p:cNvSpPr/>
          <p:nvPr/>
        </p:nvSpPr>
        <p:spPr>
          <a:xfrm>
            <a:off x="347472" y="1353312"/>
            <a:ext cx="3986784" cy="457200"/>
          </a:xfrm>
          <a:prstGeom prst="rect">
            <a:avLst/>
          </a:prstGeom>
          <a:noFill/>
          <a:ln/>
        </p:spPr>
        <p:txBody>
          <a:bodyPr wrap="square"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Something is happening AT THIS MOMENT.</a:t>
            </a:r>
            <a:endParaRPr lang="en-US" sz="1300" dirty="0"/>
          </a:p>
        </p:txBody>
      </p:sp>
      <p:sp>
        <p:nvSpPr>
          <p:cNvPr id="11" name="Text 9"/>
          <p:cNvSpPr/>
          <p:nvPr/>
        </p:nvSpPr>
        <p:spPr>
          <a:xfrm>
            <a:off x="347472" y="1828800"/>
            <a:ext cx="3986784" cy="822960"/>
          </a:xfrm>
          <a:prstGeom prst="rect">
            <a:avLst/>
          </a:prstGeom>
          <a:noFill/>
          <a:ln/>
        </p:spPr>
        <p:txBody>
          <a:bodyPr wrap="square" rtlCol="0" anchor="ctr"/>
          <a:lstStyle/>
          <a:p>
            <a:pPr marL="0" indent="0">
              <a:buNone/>
            </a:pPr>
            <a:r>
              <a:rPr lang="en-US" sz="1400" i="1" dirty="0">
                <a:solidFill>
                  <a:srgbClr val="0D7377"/>
                </a:solidFill>
                <a:latin typeface="Calibri" pitchFamily="34" charset="0"/>
                <a:ea typeface="Calibri" pitchFamily="34" charset="-122"/>
                <a:cs typeface="Calibri" pitchFamily="34" charset="-120"/>
              </a:rPr>
              <a:t>I am eating dinner.</a:t>
            </a:r>
            <a:endParaRPr lang="en-US" sz="1400" dirty="0"/>
          </a:p>
          <a:p>
            <a:pPr marL="0" indent="0">
              <a:buNone/>
            </a:pPr>
            <a:r>
              <a:rPr lang="en-US" sz="1400" i="1" dirty="0">
                <a:solidFill>
                  <a:srgbClr val="0D7377"/>
                </a:solidFill>
                <a:latin typeface="Calibri" pitchFamily="34" charset="0"/>
                <a:ea typeface="Calibri" pitchFamily="34" charset="-122"/>
                <a:cs typeface="Calibri" pitchFamily="34" charset="-120"/>
              </a:rPr>
              <a:t>She is watching TV.</a:t>
            </a:r>
            <a:endParaRPr lang="en-US" sz="1400" dirty="0"/>
          </a:p>
          <a:p>
            <a:pPr marL="0" indent="0">
              <a:buNone/>
            </a:pPr>
            <a:r>
              <a:rPr lang="en-US" sz="1400" i="1" dirty="0">
                <a:solidFill>
                  <a:srgbClr val="0D7377"/>
                </a:solidFill>
                <a:latin typeface="Calibri" pitchFamily="34" charset="0"/>
                <a:ea typeface="Calibri" pitchFamily="34" charset="-122"/>
                <a:cs typeface="Calibri" pitchFamily="34" charset="-120"/>
              </a:rPr>
              <a:t>We are playing a game.</a:t>
            </a:r>
            <a:endParaRPr lang="en-US" sz="1400" dirty="0"/>
          </a:p>
        </p:txBody>
      </p:sp>
      <p:sp>
        <p:nvSpPr>
          <p:cNvPr id="12" name="Text 10"/>
          <p:cNvSpPr/>
          <p:nvPr/>
        </p:nvSpPr>
        <p:spPr>
          <a:xfrm>
            <a:off x="347472" y="2788920"/>
            <a:ext cx="3986784" cy="320040"/>
          </a:xfrm>
          <a:prstGeom prst="rect">
            <a:avLst/>
          </a:prstGeom>
          <a:noFill/>
          <a:ln/>
        </p:spPr>
        <p:txBody>
          <a:bodyPr wrap="square" rtlCol="0" anchor="ctr"/>
          <a:lstStyle/>
          <a:p>
            <a:pPr marL="0" indent="0">
              <a:buNone/>
            </a:pPr>
            <a:r>
              <a:rPr lang="en-US" sz="1200" b="1" dirty="0">
                <a:solidFill>
                  <a:srgbClr val="1B3A6B"/>
                </a:solidFill>
                <a:latin typeface="Trebuchet MS" pitchFamily="34" charset="0"/>
                <a:ea typeface="Trebuchet MS" pitchFamily="34" charset="-122"/>
                <a:cs typeface="Trebuchet MS" pitchFamily="34" charset="-120"/>
              </a:rPr>
              <a:t>🔑 Signal words:</a:t>
            </a:r>
            <a:endParaRPr lang="en-US" sz="1200" dirty="0"/>
          </a:p>
        </p:txBody>
      </p:sp>
      <p:sp>
        <p:nvSpPr>
          <p:cNvPr id="13" name="Text 11"/>
          <p:cNvSpPr/>
          <p:nvPr/>
        </p:nvSpPr>
        <p:spPr>
          <a:xfrm>
            <a:off x="347472" y="3108960"/>
            <a:ext cx="3986784" cy="457200"/>
          </a:xfrm>
          <a:prstGeom prst="rect">
            <a:avLst/>
          </a:prstGeom>
          <a:noFill/>
          <a:ln/>
        </p:spPr>
        <p:txBody>
          <a:bodyPr wrap="square" rtlCol="0" anchor="ctr"/>
          <a:lstStyle/>
          <a:p>
            <a:pPr marL="0" indent="0">
              <a:buNone/>
            </a:pPr>
            <a:r>
              <a:rPr lang="en-US" sz="1200" i="1" dirty="0">
                <a:solidFill>
                  <a:srgbClr val="111827"/>
                </a:solidFill>
                <a:latin typeface="Calibri" pitchFamily="34" charset="0"/>
                <a:ea typeface="Calibri" pitchFamily="34" charset="-122"/>
                <a:cs typeface="Calibri" pitchFamily="34" charset="-120"/>
              </a:rPr>
              <a:t>now · at the moment · right now · currently · look!</a:t>
            </a:r>
            <a:endParaRPr lang="en-US" sz="1200" dirty="0"/>
          </a:p>
        </p:txBody>
      </p:sp>
      <p:sp>
        <p:nvSpPr>
          <p:cNvPr id="14" name="Shape 12"/>
          <p:cNvSpPr/>
          <p:nvPr/>
        </p:nvSpPr>
        <p:spPr>
          <a:xfrm>
            <a:off x="4718304" y="777240"/>
            <a:ext cx="4169664" cy="4023360"/>
          </a:xfrm>
          <a:prstGeom prst="rect">
            <a:avLst/>
          </a:prstGeom>
          <a:solidFill>
            <a:srgbClr val="D6EAF8"/>
          </a:solidFill>
          <a:ln w="12700">
            <a:solidFill>
              <a:srgbClr val="1B3A6B"/>
            </a:solidFill>
            <a:prstDash val="solid"/>
          </a:ln>
        </p:spPr>
      </p:sp>
      <p:sp>
        <p:nvSpPr>
          <p:cNvPr id="15" name="Shape 13"/>
          <p:cNvSpPr/>
          <p:nvPr/>
        </p:nvSpPr>
        <p:spPr>
          <a:xfrm>
            <a:off x="4718304" y="777240"/>
            <a:ext cx="4169664" cy="475488"/>
          </a:xfrm>
          <a:prstGeom prst="rect">
            <a:avLst/>
          </a:prstGeom>
          <a:solidFill>
            <a:srgbClr val="1B3A6B"/>
          </a:solidFill>
          <a:ln w="12700">
            <a:solidFill>
              <a:srgbClr val="1B3A6B"/>
            </a:solidFill>
            <a:prstDash val="solid"/>
          </a:ln>
        </p:spPr>
      </p:sp>
      <p:sp>
        <p:nvSpPr>
          <p:cNvPr id="16" name="Text 14"/>
          <p:cNvSpPr/>
          <p:nvPr/>
        </p:nvSpPr>
        <p:spPr>
          <a:xfrm>
            <a:off x="4718304" y="777240"/>
            <a:ext cx="41696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USE 2 — FUTURE PLAN</a:t>
            </a:r>
            <a:endParaRPr lang="en-US" sz="1400" dirty="0"/>
          </a:p>
        </p:txBody>
      </p:sp>
      <p:sp>
        <p:nvSpPr>
          <p:cNvPr id="17" name="Text 15"/>
          <p:cNvSpPr/>
          <p:nvPr/>
        </p:nvSpPr>
        <p:spPr>
          <a:xfrm>
            <a:off x="4809744" y="1353312"/>
            <a:ext cx="3986784" cy="457200"/>
          </a:xfrm>
          <a:prstGeom prst="rect">
            <a:avLst/>
          </a:prstGeom>
          <a:noFill/>
          <a:ln/>
        </p:spPr>
        <p:txBody>
          <a:bodyPr wrap="square"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Something is already ARRANGED for the future.</a:t>
            </a:r>
            <a:endParaRPr lang="en-US" sz="1300" dirty="0"/>
          </a:p>
        </p:txBody>
      </p:sp>
      <p:sp>
        <p:nvSpPr>
          <p:cNvPr id="18" name="Text 16"/>
          <p:cNvSpPr/>
          <p:nvPr/>
        </p:nvSpPr>
        <p:spPr>
          <a:xfrm>
            <a:off x="4809744" y="1828800"/>
            <a:ext cx="3986784" cy="822960"/>
          </a:xfrm>
          <a:prstGeom prst="rect">
            <a:avLst/>
          </a:prstGeom>
          <a:noFill/>
          <a:ln/>
        </p:spPr>
        <p:txBody>
          <a:bodyPr wrap="square" rtlCol="0" anchor="ctr"/>
          <a:lstStyle/>
          <a:p>
            <a:pPr marL="0" indent="0">
              <a:buNone/>
            </a:pPr>
            <a:r>
              <a:rPr lang="en-US" sz="1400" i="1" dirty="0">
                <a:solidFill>
                  <a:srgbClr val="1B3A6B"/>
                </a:solidFill>
                <a:latin typeface="Calibri" pitchFamily="34" charset="0"/>
                <a:ea typeface="Calibri" pitchFamily="34" charset="-122"/>
                <a:cs typeface="Calibri" pitchFamily="34" charset="-120"/>
              </a:rPr>
              <a:t>I am eating dinner at 7pm tonight.</a:t>
            </a:r>
            <a:endParaRPr lang="en-US" sz="1400" dirty="0"/>
          </a:p>
          <a:p>
            <a:pPr marL="0" indent="0">
              <a:buNone/>
            </a:pPr>
            <a:r>
              <a:rPr lang="en-US" sz="1400" i="1" dirty="0">
                <a:solidFill>
                  <a:srgbClr val="1B3A6B"/>
                </a:solidFill>
                <a:latin typeface="Calibri" pitchFamily="34" charset="0"/>
                <a:ea typeface="Calibri" pitchFamily="34" charset="-122"/>
                <a:cs typeface="Calibri" pitchFamily="34" charset="-120"/>
              </a:rPr>
              <a:t>She is meeting friends tomorrow.</a:t>
            </a:r>
            <a:endParaRPr lang="en-US" sz="1400" dirty="0"/>
          </a:p>
          <a:p>
            <a:pPr marL="0" indent="0">
              <a:buNone/>
            </a:pPr>
            <a:r>
              <a:rPr lang="en-US" sz="1400" i="1" dirty="0">
                <a:solidFill>
                  <a:srgbClr val="1B3A6B"/>
                </a:solidFill>
                <a:latin typeface="Calibri" pitchFamily="34" charset="0"/>
                <a:ea typeface="Calibri" pitchFamily="34" charset="-122"/>
                <a:cs typeface="Calibri" pitchFamily="34" charset="-120"/>
              </a:rPr>
              <a:t>We are going to the cinema on Friday.</a:t>
            </a:r>
            <a:endParaRPr lang="en-US" sz="1400" dirty="0"/>
          </a:p>
        </p:txBody>
      </p:sp>
      <p:sp>
        <p:nvSpPr>
          <p:cNvPr id="19" name="Text 17"/>
          <p:cNvSpPr/>
          <p:nvPr/>
        </p:nvSpPr>
        <p:spPr>
          <a:xfrm>
            <a:off x="4809744" y="2788920"/>
            <a:ext cx="3986784" cy="320040"/>
          </a:xfrm>
          <a:prstGeom prst="rect">
            <a:avLst/>
          </a:prstGeom>
          <a:noFill/>
          <a:ln/>
        </p:spPr>
        <p:txBody>
          <a:bodyPr wrap="square" rtlCol="0" anchor="ctr"/>
          <a:lstStyle/>
          <a:p>
            <a:pPr marL="0" indent="0">
              <a:buNone/>
            </a:pPr>
            <a:r>
              <a:rPr lang="en-US" sz="1200" b="1" dirty="0">
                <a:solidFill>
                  <a:srgbClr val="1B3A6B"/>
                </a:solidFill>
                <a:latin typeface="Trebuchet MS" pitchFamily="34" charset="0"/>
                <a:ea typeface="Trebuchet MS" pitchFamily="34" charset="-122"/>
                <a:cs typeface="Trebuchet MS" pitchFamily="34" charset="-120"/>
              </a:rPr>
              <a:t>🔑 Signal words:</a:t>
            </a:r>
            <a:endParaRPr lang="en-US" sz="1200" dirty="0"/>
          </a:p>
        </p:txBody>
      </p:sp>
      <p:sp>
        <p:nvSpPr>
          <p:cNvPr id="20" name="Text 18"/>
          <p:cNvSpPr/>
          <p:nvPr/>
        </p:nvSpPr>
        <p:spPr>
          <a:xfrm>
            <a:off x="4809744" y="3108960"/>
            <a:ext cx="3986784" cy="457200"/>
          </a:xfrm>
          <a:prstGeom prst="rect">
            <a:avLst/>
          </a:prstGeom>
          <a:noFill/>
          <a:ln/>
        </p:spPr>
        <p:txBody>
          <a:bodyPr wrap="square" rtlCol="0" anchor="ctr"/>
          <a:lstStyle/>
          <a:p>
            <a:pPr marL="0" indent="0">
              <a:buNone/>
            </a:pPr>
            <a:r>
              <a:rPr lang="en-US" sz="1200" i="1" dirty="0">
                <a:solidFill>
                  <a:srgbClr val="111827"/>
                </a:solidFill>
                <a:latin typeface="Calibri" pitchFamily="34" charset="0"/>
                <a:ea typeface="Calibri" pitchFamily="34" charset="-122"/>
                <a:cs typeface="Calibri" pitchFamily="34" charset="-120"/>
              </a:rPr>
              <a:t>tonight · tomorrow · on Friday · next week · this weekend</a:t>
            </a:r>
            <a:endParaRPr lang="en-US" sz="1200" dirty="0"/>
          </a:p>
        </p:txBody>
      </p:sp>
      <p:sp>
        <p:nvSpPr>
          <p:cNvPr id="21" name="Shape 19"/>
          <p:cNvSpPr/>
          <p:nvPr/>
        </p:nvSpPr>
        <p:spPr>
          <a:xfrm>
            <a:off x="256032" y="4709160"/>
            <a:ext cx="8631936" cy="338328"/>
          </a:xfrm>
          <a:prstGeom prst="rect">
            <a:avLst/>
          </a:prstGeom>
          <a:solidFill>
            <a:srgbClr val="FEF9E7"/>
          </a:solidFill>
          <a:ln w="12700">
            <a:solidFill>
              <a:srgbClr val="F4A261"/>
            </a:solidFill>
            <a:prstDash val="solid"/>
          </a:ln>
        </p:spPr>
      </p:sp>
      <p:sp>
        <p:nvSpPr>
          <p:cNvPr id="22" name="Shape 20"/>
          <p:cNvSpPr/>
          <p:nvPr/>
        </p:nvSpPr>
        <p:spPr>
          <a:xfrm>
            <a:off x="256032" y="4709160"/>
            <a:ext cx="109728" cy="338328"/>
          </a:xfrm>
          <a:prstGeom prst="rect">
            <a:avLst/>
          </a:prstGeom>
          <a:solidFill>
            <a:srgbClr val="F4A261"/>
          </a:solidFill>
          <a:ln w="12700">
            <a:solidFill>
              <a:srgbClr val="F4A261"/>
            </a:solidFill>
            <a:prstDash val="solid"/>
          </a:ln>
        </p:spPr>
      </p:sp>
      <p:sp>
        <p:nvSpPr>
          <p:cNvPr id="23" name="Text 21"/>
          <p:cNvSpPr/>
          <p:nvPr/>
        </p:nvSpPr>
        <p:spPr>
          <a:xfrm>
            <a:off x="438912" y="4764024"/>
            <a:ext cx="8375904" cy="228600"/>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If you say a TIME WORD (tonight / tomorrow / on Friday) → it is a FUTURE plan. Always use present continuous!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1 — Part B: The Formula — Copy This Now!</a:t>
            </a:r>
            <a:endParaRPr lang="en-US" sz="2000" dirty="0"/>
          </a:p>
        </p:txBody>
      </p:sp>
      <p:sp>
        <p:nvSpPr>
          <p:cNvPr id="5" name="Shape 3"/>
          <p:cNvSpPr/>
          <p:nvPr/>
        </p:nvSpPr>
        <p:spPr>
          <a:xfrm>
            <a:off x="7315200" y="128016"/>
            <a:ext cx="1645920" cy="402336"/>
          </a:xfrm>
          <a:prstGeom prst="rect">
            <a:avLst/>
          </a:prstGeom>
          <a:solidFill>
            <a:srgbClr val="F4A261"/>
          </a:solidFill>
          <a:ln w="12700">
            <a:solidFill>
              <a:srgbClr val="F4A261"/>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WRITE THIS DOWN ✏</a:t>
            </a:r>
            <a:endParaRPr lang="en-US" sz="1100" dirty="0"/>
          </a:p>
        </p:txBody>
      </p:sp>
      <p:sp>
        <p:nvSpPr>
          <p:cNvPr id="7" name="Shape 5"/>
          <p:cNvSpPr/>
          <p:nvPr/>
        </p:nvSpPr>
        <p:spPr>
          <a:xfrm>
            <a:off x="256032" y="749808"/>
            <a:ext cx="8631936" cy="457200"/>
          </a:xfrm>
          <a:prstGeom prst="rect">
            <a:avLst/>
          </a:prstGeom>
          <a:solidFill>
            <a:srgbClr val="F4A261"/>
          </a:solidFill>
          <a:ln w="12700">
            <a:solidFill>
              <a:srgbClr val="E8873A"/>
            </a:solidFill>
            <a:prstDash val="solid"/>
          </a:ln>
        </p:spPr>
      </p:sp>
      <p:sp>
        <p:nvSpPr>
          <p:cNvPr id="8" name="Text 6"/>
          <p:cNvSpPr/>
          <p:nvPr/>
        </p:nvSpPr>
        <p:spPr>
          <a:xfrm>
            <a:off x="347472" y="749808"/>
            <a:ext cx="8449056" cy="45720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  This is in your exam. Copy the formula and ALL three examples into your notebook.</a:t>
            </a:r>
            <a:endParaRPr lang="en-US" sz="1300" dirty="0"/>
          </a:p>
        </p:txBody>
      </p:sp>
      <p:sp>
        <p:nvSpPr>
          <p:cNvPr id="9" name="Shape 7"/>
          <p:cNvSpPr/>
          <p:nvPr/>
        </p:nvSpPr>
        <p:spPr>
          <a:xfrm>
            <a:off x="256032" y="1298448"/>
            <a:ext cx="8631936" cy="640080"/>
          </a:xfrm>
          <a:prstGeom prst="rect">
            <a:avLst/>
          </a:prstGeom>
          <a:solidFill>
            <a:srgbClr val="1B3A6B"/>
          </a:solidFill>
          <a:ln w="12700">
            <a:solidFill>
              <a:srgbClr val="1B3A6B"/>
            </a:solidFill>
            <a:prstDash val="solid"/>
          </a:ln>
        </p:spPr>
      </p:sp>
      <p:sp>
        <p:nvSpPr>
          <p:cNvPr id="10" name="Shape 8"/>
          <p:cNvSpPr/>
          <p:nvPr/>
        </p:nvSpPr>
        <p:spPr>
          <a:xfrm>
            <a:off x="256032" y="1298448"/>
            <a:ext cx="137160" cy="640080"/>
          </a:xfrm>
          <a:prstGeom prst="rect">
            <a:avLst/>
          </a:prstGeom>
          <a:solidFill>
            <a:srgbClr val="F4A261"/>
          </a:solidFill>
          <a:ln w="12700">
            <a:solidFill>
              <a:srgbClr val="F4A261"/>
            </a:solidFill>
            <a:prstDash val="solid"/>
          </a:ln>
        </p:spPr>
      </p:sp>
      <p:sp>
        <p:nvSpPr>
          <p:cNvPr id="11" name="Text 9"/>
          <p:cNvSpPr/>
          <p:nvPr/>
        </p:nvSpPr>
        <p:spPr>
          <a:xfrm>
            <a:off x="457200" y="1298448"/>
            <a:ext cx="8339328" cy="640080"/>
          </a:xfrm>
          <a:prstGeom prst="rect">
            <a:avLst/>
          </a:prstGeom>
          <a:noFill/>
          <a:ln/>
        </p:spPr>
        <p:txBody>
          <a:bodyPr wrap="square" lIns="0" tIns="0" rIns="0" bIns="0" rtlCol="0" anchor="ctr"/>
          <a:lstStyle/>
          <a:p>
            <a:pPr marL="0" indent="0">
              <a:buNone/>
            </a:pPr>
            <a:r>
              <a:rPr lang="en-US" sz="2000" b="1" dirty="0">
                <a:solidFill>
                  <a:srgbClr val="F4A261"/>
                </a:solidFill>
                <a:latin typeface="Trebuchet MS" pitchFamily="34" charset="0"/>
                <a:ea typeface="Trebuchet MS" pitchFamily="34" charset="-122"/>
                <a:cs typeface="Trebuchet MS" pitchFamily="34" charset="-120"/>
              </a:rPr>
              <a:t>FORMULA:  </a:t>
            </a:r>
            <a:r>
              <a:rPr lang="en-US" sz="2000" dirty="0">
                <a:solidFill>
                  <a:srgbClr val="FFFFFF"/>
                </a:solidFill>
                <a:latin typeface="Trebuchet MS" pitchFamily="34" charset="0"/>
                <a:ea typeface="Trebuchet MS" pitchFamily="34" charset="-122"/>
                <a:cs typeface="Trebuchet MS" pitchFamily="34" charset="-120"/>
              </a:rPr>
              <a:t>Subject  +  am / is / are  +  Verb</a:t>
            </a:r>
            <a:r>
              <a:rPr lang="en-US" sz="2000" b="1" dirty="0">
                <a:solidFill>
                  <a:srgbClr val="F4A261"/>
                </a:solidFill>
                <a:latin typeface="Trebuchet MS" pitchFamily="34" charset="0"/>
                <a:ea typeface="Trebuchet MS" pitchFamily="34" charset="-122"/>
                <a:cs typeface="Trebuchet MS" pitchFamily="34" charset="-120"/>
              </a:rPr>
              <a:t>-ing</a:t>
            </a:r>
            <a:r>
              <a:rPr lang="en-US" sz="2000" i="1" dirty="0">
                <a:solidFill>
                  <a:srgbClr val="A8C4E0"/>
                </a:solidFill>
                <a:latin typeface="Trebuchet MS" pitchFamily="34" charset="0"/>
                <a:ea typeface="Trebuchet MS" pitchFamily="34" charset="-122"/>
                <a:cs typeface="Trebuchet MS" pitchFamily="34" charset="-120"/>
              </a:rPr>
              <a:t>  (+ time word for future)</a:t>
            </a:r>
            <a:endParaRPr lang="en-US" sz="2000" dirty="0"/>
          </a:p>
        </p:txBody>
      </p:sp>
      <p:sp>
        <p:nvSpPr>
          <p:cNvPr id="12" name="Shape 10"/>
          <p:cNvSpPr/>
          <p:nvPr/>
        </p:nvSpPr>
        <p:spPr>
          <a:xfrm>
            <a:off x="256032" y="2029968"/>
            <a:ext cx="2103120" cy="658368"/>
          </a:xfrm>
          <a:prstGeom prst="rect">
            <a:avLst/>
          </a:prstGeom>
          <a:solidFill>
            <a:srgbClr val="D5F5E3"/>
          </a:solidFill>
          <a:ln w="12700">
            <a:solidFill>
              <a:srgbClr val="CCCCCC"/>
            </a:solidFill>
            <a:prstDash val="solid"/>
          </a:ln>
        </p:spPr>
      </p:sp>
      <p:sp>
        <p:nvSpPr>
          <p:cNvPr id="13" name="Shape 11"/>
          <p:cNvSpPr/>
          <p:nvPr/>
        </p:nvSpPr>
        <p:spPr>
          <a:xfrm>
            <a:off x="2359152" y="2029968"/>
            <a:ext cx="6528816" cy="658368"/>
          </a:xfrm>
          <a:prstGeom prst="rect">
            <a:avLst/>
          </a:prstGeom>
          <a:solidFill>
            <a:srgbClr val="FFFFFF"/>
          </a:solidFill>
          <a:ln w="12700">
            <a:solidFill>
              <a:srgbClr val="CCCCCC"/>
            </a:solidFill>
            <a:prstDash val="solid"/>
          </a:ln>
        </p:spPr>
      </p:sp>
      <p:sp>
        <p:nvSpPr>
          <p:cNvPr id="14" name="Text 12"/>
          <p:cNvSpPr/>
          <p:nvPr/>
        </p:nvSpPr>
        <p:spPr>
          <a:xfrm>
            <a:off x="347472" y="2029968"/>
            <a:ext cx="1920240" cy="658368"/>
          </a:xfrm>
          <a:prstGeom prst="rect">
            <a:avLst/>
          </a:prstGeom>
          <a:noFill/>
          <a:ln/>
        </p:spPr>
        <p:txBody>
          <a:bodyPr wrap="square" lIns="0" tIns="0" rIns="0" bIns="0" rtlCol="0" anchor="ctr"/>
          <a:lstStyle/>
          <a:p>
            <a:pPr marL="0" indent="0">
              <a:buNone/>
            </a:pPr>
            <a:r>
              <a:rPr lang="en-US" sz="1300" b="1" dirty="0">
                <a:solidFill>
                  <a:srgbClr val="2E7D32"/>
                </a:solidFill>
                <a:latin typeface="Trebuchet MS" pitchFamily="34" charset="0"/>
                <a:ea typeface="Trebuchet MS" pitchFamily="34" charset="-122"/>
                <a:cs typeface="Trebuchet MS" pitchFamily="34" charset="-120"/>
              </a:rPr>
              <a:t>✅  POSITIVE</a:t>
            </a:r>
            <a:endParaRPr lang="en-US" sz="1300" dirty="0"/>
          </a:p>
        </p:txBody>
      </p:sp>
      <p:sp>
        <p:nvSpPr>
          <p:cNvPr id="15" name="Text 13"/>
          <p:cNvSpPr/>
          <p:nvPr/>
        </p:nvSpPr>
        <p:spPr>
          <a:xfrm>
            <a:off x="2450592" y="2029968"/>
            <a:ext cx="6309360" cy="658368"/>
          </a:xfrm>
          <a:prstGeom prst="rect">
            <a:avLst/>
          </a:prstGeom>
          <a:noFill/>
          <a:ln/>
        </p:spPr>
        <p:txBody>
          <a:bodyPr wrap="square" lIns="0" tIns="0" rIns="0" bIns="0" rtlCol="0" anchor="ctr"/>
          <a:lstStyle/>
          <a:p>
            <a:pPr marL="0" indent="0">
              <a:buNone/>
            </a:pPr>
            <a:r>
              <a:rPr lang="en-US" sz="1600" i="1" dirty="0">
                <a:solidFill>
                  <a:srgbClr val="111827"/>
                </a:solidFill>
                <a:latin typeface="Calibri" pitchFamily="34" charset="0"/>
                <a:ea typeface="Calibri" pitchFamily="34" charset="-122"/>
                <a:cs typeface="Calibri" pitchFamily="34" charset="-120"/>
              </a:rPr>
              <a:t>I am watching a movie tonight.</a:t>
            </a:r>
            <a:endParaRPr lang="en-US" sz="1600" dirty="0"/>
          </a:p>
        </p:txBody>
      </p:sp>
      <p:sp>
        <p:nvSpPr>
          <p:cNvPr id="16" name="Shape 14"/>
          <p:cNvSpPr/>
          <p:nvPr/>
        </p:nvSpPr>
        <p:spPr>
          <a:xfrm>
            <a:off x="256032" y="2779776"/>
            <a:ext cx="2103120" cy="658368"/>
          </a:xfrm>
          <a:prstGeom prst="rect">
            <a:avLst/>
          </a:prstGeom>
          <a:solidFill>
            <a:srgbClr val="FDE8E8"/>
          </a:solidFill>
          <a:ln w="12700">
            <a:solidFill>
              <a:srgbClr val="CCCCCC"/>
            </a:solidFill>
            <a:prstDash val="solid"/>
          </a:ln>
        </p:spPr>
      </p:sp>
      <p:sp>
        <p:nvSpPr>
          <p:cNvPr id="17" name="Shape 15"/>
          <p:cNvSpPr/>
          <p:nvPr/>
        </p:nvSpPr>
        <p:spPr>
          <a:xfrm>
            <a:off x="2359152" y="2779776"/>
            <a:ext cx="6528816" cy="658368"/>
          </a:xfrm>
          <a:prstGeom prst="rect">
            <a:avLst/>
          </a:prstGeom>
          <a:solidFill>
            <a:srgbClr val="FFFFFF"/>
          </a:solidFill>
          <a:ln w="12700">
            <a:solidFill>
              <a:srgbClr val="CCCCCC"/>
            </a:solidFill>
            <a:prstDash val="solid"/>
          </a:ln>
        </p:spPr>
      </p:sp>
      <p:sp>
        <p:nvSpPr>
          <p:cNvPr id="18" name="Text 16"/>
          <p:cNvSpPr/>
          <p:nvPr/>
        </p:nvSpPr>
        <p:spPr>
          <a:xfrm>
            <a:off x="347472" y="2779776"/>
            <a:ext cx="1920240" cy="658368"/>
          </a:xfrm>
          <a:prstGeom prst="rect">
            <a:avLst/>
          </a:prstGeom>
          <a:noFill/>
          <a:ln/>
        </p:spPr>
        <p:txBody>
          <a:bodyPr wrap="square" lIns="0" tIns="0" rIns="0" bIns="0" rtlCol="0" anchor="ctr"/>
          <a:lstStyle/>
          <a:p>
            <a:pPr marL="0" indent="0">
              <a:buNone/>
            </a:pPr>
            <a:r>
              <a:rPr lang="en-US" sz="1300" b="1" dirty="0">
                <a:solidFill>
                  <a:srgbClr val="E53E3E"/>
                </a:solidFill>
                <a:latin typeface="Trebuchet MS" pitchFamily="34" charset="0"/>
                <a:ea typeface="Trebuchet MS" pitchFamily="34" charset="-122"/>
                <a:cs typeface="Trebuchet MS" pitchFamily="34" charset="-120"/>
              </a:rPr>
              <a:t>❌  NEGATIVE</a:t>
            </a:r>
            <a:endParaRPr lang="en-US" sz="1300" dirty="0"/>
          </a:p>
        </p:txBody>
      </p:sp>
      <p:sp>
        <p:nvSpPr>
          <p:cNvPr id="19" name="Text 17"/>
          <p:cNvSpPr/>
          <p:nvPr/>
        </p:nvSpPr>
        <p:spPr>
          <a:xfrm>
            <a:off x="2450592" y="2779776"/>
            <a:ext cx="6309360" cy="658368"/>
          </a:xfrm>
          <a:prstGeom prst="rect">
            <a:avLst/>
          </a:prstGeom>
          <a:noFill/>
          <a:ln/>
        </p:spPr>
        <p:txBody>
          <a:bodyPr wrap="square" lIns="0" tIns="0" rIns="0" bIns="0" rtlCol="0" anchor="ctr"/>
          <a:lstStyle/>
          <a:p>
            <a:pPr marL="0" indent="0">
              <a:buNone/>
            </a:pPr>
            <a:r>
              <a:rPr lang="en-US" sz="1600" i="1" dirty="0">
                <a:solidFill>
                  <a:srgbClr val="111827"/>
                </a:solidFill>
                <a:latin typeface="Calibri" pitchFamily="34" charset="0"/>
                <a:ea typeface="Calibri" pitchFamily="34" charset="-122"/>
                <a:cs typeface="Calibri" pitchFamily="34" charset="-120"/>
              </a:rPr>
              <a:t>She is not / isn't going out.</a:t>
            </a:r>
            <a:endParaRPr lang="en-US" sz="1600" dirty="0"/>
          </a:p>
        </p:txBody>
      </p:sp>
      <p:sp>
        <p:nvSpPr>
          <p:cNvPr id="20" name="Shape 18"/>
          <p:cNvSpPr/>
          <p:nvPr/>
        </p:nvSpPr>
        <p:spPr>
          <a:xfrm>
            <a:off x="256032" y="3529584"/>
            <a:ext cx="2103120" cy="658368"/>
          </a:xfrm>
          <a:prstGeom prst="rect">
            <a:avLst/>
          </a:prstGeom>
          <a:solidFill>
            <a:srgbClr val="FEF9E7"/>
          </a:solidFill>
          <a:ln w="12700">
            <a:solidFill>
              <a:srgbClr val="CCCCCC"/>
            </a:solidFill>
            <a:prstDash val="solid"/>
          </a:ln>
        </p:spPr>
      </p:sp>
      <p:sp>
        <p:nvSpPr>
          <p:cNvPr id="21" name="Shape 19"/>
          <p:cNvSpPr/>
          <p:nvPr/>
        </p:nvSpPr>
        <p:spPr>
          <a:xfrm>
            <a:off x="2359152" y="3529584"/>
            <a:ext cx="6528816" cy="658368"/>
          </a:xfrm>
          <a:prstGeom prst="rect">
            <a:avLst/>
          </a:prstGeom>
          <a:solidFill>
            <a:srgbClr val="FFFFFF"/>
          </a:solidFill>
          <a:ln w="12700">
            <a:solidFill>
              <a:srgbClr val="CCCCCC"/>
            </a:solidFill>
            <a:prstDash val="solid"/>
          </a:ln>
        </p:spPr>
      </p:sp>
      <p:sp>
        <p:nvSpPr>
          <p:cNvPr id="22" name="Text 20"/>
          <p:cNvSpPr/>
          <p:nvPr/>
        </p:nvSpPr>
        <p:spPr>
          <a:xfrm>
            <a:off x="347472" y="3529584"/>
            <a:ext cx="1920240" cy="658368"/>
          </a:xfrm>
          <a:prstGeom prst="rect">
            <a:avLst/>
          </a:prstGeom>
          <a:noFill/>
          <a:ln/>
        </p:spPr>
        <p:txBody>
          <a:bodyPr wrap="square" lIns="0" tIns="0" rIns="0" bIns="0" rtlCol="0" anchor="ctr"/>
          <a:lstStyle/>
          <a:p>
            <a:pPr marL="0" indent="0">
              <a:buNone/>
            </a:pPr>
            <a:r>
              <a:rPr lang="en-US" sz="1300" b="1" dirty="0">
                <a:solidFill>
                  <a:srgbClr val="7D4E00"/>
                </a:solidFill>
                <a:latin typeface="Trebuchet MS" pitchFamily="34" charset="0"/>
                <a:ea typeface="Trebuchet MS" pitchFamily="34" charset="-122"/>
                <a:cs typeface="Trebuchet MS" pitchFamily="34" charset="-120"/>
              </a:rPr>
              <a:t>❓  QUESTION</a:t>
            </a:r>
            <a:endParaRPr lang="en-US" sz="1300" dirty="0"/>
          </a:p>
        </p:txBody>
      </p:sp>
      <p:sp>
        <p:nvSpPr>
          <p:cNvPr id="23" name="Text 21"/>
          <p:cNvSpPr/>
          <p:nvPr/>
        </p:nvSpPr>
        <p:spPr>
          <a:xfrm>
            <a:off x="2450592" y="3529584"/>
            <a:ext cx="6309360" cy="658368"/>
          </a:xfrm>
          <a:prstGeom prst="rect">
            <a:avLst/>
          </a:prstGeom>
          <a:noFill/>
          <a:ln/>
        </p:spPr>
        <p:txBody>
          <a:bodyPr wrap="square" lIns="0" tIns="0" rIns="0" bIns="0" rtlCol="0" anchor="ctr"/>
          <a:lstStyle/>
          <a:p>
            <a:pPr marL="0" indent="0">
              <a:buNone/>
            </a:pPr>
            <a:r>
              <a:rPr lang="en-US" sz="1600" i="1" dirty="0">
                <a:solidFill>
                  <a:srgbClr val="111827"/>
                </a:solidFill>
                <a:latin typeface="Calibri" pitchFamily="34" charset="0"/>
                <a:ea typeface="Calibri" pitchFamily="34" charset="-122"/>
                <a:cs typeface="Calibri" pitchFamily="34" charset="-120"/>
              </a:rPr>
              <a:t>Are you coming to dinner tonight?</a:t>
            </a:r>
            <a:endParaRPr lang="en-US" sz="1600" dirty="0"/>
          </a:p>
        </p:txBody>
      </p:sp>
      <p:sp>
        <p:nvSpPr>
          <p:cNvPr id="24" name="Shape 22"/>
          <p:cNvSpPr/>
          <p:nvPr/>
        </p:nvSpPr>
        <p:spPr>
          <a:xfrm>
            <a:off x="256032" y="4663440"/>
            <a:ext cx="8631936" cy="384048"/>
          </a:xfrm>
          <a:prstGeom prst="rect">
            <a:avLst/>
          </a:prstGeom>
          <a:solidFill>
            <a:srgbClr val="F8F9FA"/>
          </a:solidFill>
          <a:ln w="12700">
            <a:solidFill>
              <a:srgbClr val="DDDDDD"/>
            </a:solidFill>
            <a:prstDash val="solid"/>
          </a:ln>
        </p:spPr>
      </p:sp>
      <p:sp>
        <p:nvSpPr>
          <p:cNvPr id="25" name="Text 23"/>
          <p:cNvSpPr/>
          <p:nvPr/>
        </p:nvSpPr>
        <p:spPr>
          <a:xfrm>
            <a:off x="347472" y="4709160"/>
            <a:ext cx="8449056" cy="256032"/>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Write your own example sentences here: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1 — Part C: How To Do Exercise 1</a:t>
            </a:r>
            <a:endParaRPr lang="en-US" sz="2000" dirty="0"/>
          </a:p>
        </p:txBody>
      </p:sp>
      <p:sp>
        <p:nvSpPr>
          <p:cNvPr id="5" name="Shape 3"/>
          <p:cNvSpPr/>
          <p:nvPr/>
        </p:nvSpPr>
        <p:spPr>
          <a:xfrm>
            <a:off x="7315200" y="128016"/>
            <a:ext cx="1645920" cy="402336"/>
          </a:xfrm>
          <a:prstGeom prst="rect">
            <a:avLst/>
          </a:prstGeom>
          <a:solidFill>
            <a:srgbClr val="1B3A6B"/>
          </a:solidFill>
          <a:ln w="12700">
            <a:solidFill>
              <a:srgbClr val="1B3A6B"/>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EXERCISE GUIDE</a:t>
            </a:r>
            <a:endParaRPr lang="en-US" sz="1100" dirty="0"/>
          </a:p>
        </p:txBody>
      </p:sp>
      <p:sp>
        <p:nvSpPr>
          <p:cNvPr id="7" name="Text 5"/>
          <p:cNvSpPr/>
          <p:nvPr/>
        </p:nvSpPr>
        <p:spPr>
          <a:xfrm>
            <a:off x="256032" y="749808"/>
            <a:ext cx="8631936" cy="347472"/>
          </a:xfrm>
          <a:prstGeom prst="rect">
            <a:avLst/>
          </a:prstGeom>
          <a:noFill/>
          <a:ln/>
        </p:spPr>
        <p:txBody>
          <a:bodyPr wrap="square" rtlCol="0" anchor="ctr"/>
          <a:lstStyle/>
          <a:p>
            <a:pPr marL="0" indent="0">
              <a:buNone/>
            </a:pPr>
            <a:r>
              <a:rPr lang="en-US" sz="1400" i="1" dirty="0">
                <a:solidFill>
                  <a:srgbClr val="111827"/>
                </a:solidFill>
                <a:latin typeface="Calibri" pitchFamily="34" charset="0"/>
                <a:ea typeface="Calibri" pitchFamily="34" charset="-122"/>
                <a:cs typeface="Calibri" pitchFamily="34" charset="-120"/>
              </a:rPr>
              <a:t>Follow these steps every time you do a grammar exercise:</a:t>
            </a:r>
            <a:endParaRPr lang="en-US" sz="1400" dirty="0"/>
          </a:p>
        </p:txBody>
      </p:sp>
      <p:sp>
        <p:nvSpPr>
          <p:cNvPr id="8" name="Shape 6"/>
          <p:cNvSpPr/>
          <p:nvPr/>
        </p:nvSpPr>
        <p:spPr>
          <a:xfrm>
            <a:off x="256032" y="1161288"/>
            <a:ext cx="502920" cy="658368"/>
          </a:xfrm>
          <a:prstGeom prst="rect">
            <a:avLst/>
          </a:prstGeom>
          <a:solidFill>
            <a:srgbClr val="D6EAF8"/>
          </a:solidFill>
          <a:ln w="12700">
            <a:solidFill>
              <a:srgbClr val="BBBBBB"/>
            </a:solidFill>
            <a:prstDash val="solid"/>
          </a:ln>
        </p:spPr>
      </p:sp>
      <p:sp>
        <p:nvSpPr>
          <p:cNvPr id="9" name="Text 7"/>
          <p:cNvSpPr/>
          <p:nvPr/>
        </p:nvSpPr>
        <p:spPr>
          <a:xfrm>
            <a:off x="256032" y="1161288"/>
            <a:ext cx="502920" cy="658368"/>
          </a:xfrm>
          <a:prstGeom prst="rect">
            <a:avLst/>
          </a:prstGeom>
          <a:noFill/>
          <a:ln/>
        </p:spPr>
        <p:txBody>
          <a:bodyPr wrap="square" lIns="0" tIns="0" rIns="0" bIns="0" rtlCol="0" anchor="ctr"/>
          <a:lstStyle/>
          <a:p>
            <a:pPr marL="0" indent="0" algn="ctr">
              <a:buNone/>
            </a:pPr>
            <a:r>
              <a:rPr lang="en-US" sz="2200" b="1" dirty="0">
                <a:solidFill>
                  <a:srgbClr val="1B3A6B"/>
                </a:solidFill>
                <a:latin typeface="Trebuchet MS" pitchFamily="34" charset="0"/>
                <a:ea typeface="Trebuchet MS" pitchFamily="34" charset="-122"/>
                <a:cs typeface="Trebuchet MS" pitchFamily="34" charset="-120"/>
              </a:rPr>
              <a:t>1</a:t>
            </a:r>
            <a:endParaRPr lang="en-US" sz="2200" dirty="0"/>
          </a:p>
        </p:txBody>
      </p:sp>
      <p:sp>
        <p:nvSpPr>
          <p:cNvPr id="10" name="Shape 8"/>
          <p:cNvSpPr/>
          <p:nvPr/>
        </p:nvSpPr>
        <p:spPr>
          <a:xfrm>
            <a:off x="758952" y="1161288"/>
            <a:ext cx="8229600" cy="658368"/>
          </a:xfrm>
          <a:prstGeom prst="rect">
            <a:avLst/>
          </a:prstGeom>
          <a:solidFill>
            <a:srgbClr val="FFFFFF"/>
          </a:solidFill>
          <a:ln w="12700">
            <a:solidFill>
              <a:srgbClr val="BBBBBB"/>
            </a:solidFill>
            <a:prstDash val="solid"/>
          </a:ln>
        </p:spPr>
      </p:sp>
      <p:sp>
        <p:nvSpPr>
          <p:cNvPr id="11" name="Text 9"/>
          <p:cNvSpPr/>
          <p:nvPr/>
        </p:nvSpPr>
        <p:spPr>
          <a:xfrm>
            <a:off x="868680" y="1197864"/>
            <a:ext cx="804672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Look at the verb in brackets</a:t>
            </a:r>
            <a:endParaRPr lang="en-US" sz="1300" dirty="0"/>
          </a:p>
        </p:txBody>
      </p:sp>
      <p:sp>
        <p:nvSpPr>
          <p:cNvPr id="12" name="Text 10"/>
          <p:cNvSpPr/>
          <p:nvPr/>
        </p:nvSpPr>
        <p:spPr>
          <a:xfrm>
            <a:off x="868680" y="1490472"/>
            <a:ext cx="8046720" cy="29260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The verb in brackets tells you what word to use. Example: (watch) → you need to change this verb.</a:t>
            </a:r>
            <a:endParaRPr lang="en-US" sz="1200" dirty="0"/>
          </a:p>
        </p:txBody>
      </p:sp>
      <p:sp>
        <p:nvSpPr>
          <p:cNvPr id="13" name="Shape 11"/>
          <p:cNvSpPr/>
          <p:nvPr/>
        </p:nvSpPr>
        <p:spPr>
          <a:xfrm>
            <a:off x="256032" y="1911096"/>
            <a:ext cx="502920" cy="658368"/>
          </a:xfrm>
          <a:prstGeom prst="rect">
            <a:avLst/>
          </a:prstGeom>
          <a:solidFill>
            <a:srgbClr val="D1F2EB"/>
          </a:solidFill>
          <a:ln w="12700">
            <a:solidFill>
              <a:srgbClr val="BBBBBB"/>
            </a:solidFill>
            <a:prstDash val="solid"/>
          </a:ln>
        </p:spPr>
      </p:sp>
      <p:sp>
        <p:nvSpPr>
          <p:cNvPr id="14" name="Text 12"/>
          <p:cNvSpPr/>
          <p:nvPr/>
        </p:nvSpPr>
        <p:spPr>
          <a:xfrm>
            <a:off x="256032" y="1911096"/>
            <a:ext cx="502920" cy="658368"/>
          </a:xfrm>
          <a:prstGeom prst="rect">
            <a:avLst/>
          </a:prstGeom>
          <a:noFill/>
          <a:ln/>
        </p:spPr>
        <p:txBody>
          <a:bodyPr wrap="square" lIns="0" tIns="0" rIns="0" bIns="0" rtlCol="0" anchor="ctr"/>
          <a:lstStyle/>
          <a:p>
            <a:pPr marL="0" indent="0" algn="ctr">
              <a:buNone/>
            </a:pPr>
            <a:r>
              <a:rPr lang="en-US" sz="2200" b="1" dirty="0">
                <a:solidFill>
                  <a:srgbClr val="1B3A6B"/>
                </a:solidFill>
                <a:latin typeface="Trebuchet MS" pitchFamily="34" charset="0"/>
                <a:ea typeface="Trebuchet MS" pitchFamily="34" charset="-122"/>
                <a:cs typeface="Trebuchet MS" pitchFamily="34" charset="-120"/>
              </a:rPr>
              <a:t>2</a:t>
            </a:r>
            <a:endParaRPr lang="en-US" sz="2200" dirty="0"/>
          </a:p>
        </p:txBody>
      </p:sp>
      <p:sp>
        <p:nvSpPr>
          <p:cNvPr id="15" name="Shape 13"/>
          <p:cNvSpPr/>
          <p:nvPr/>
        </p:nvSpPr>
        <p:spPr>
          <a:xfrm>
            <a:off x="758952" y="1911096"/>
            <a:ext cx="8229600" cy="658368"/>
          </a:xfrm>
          <a:prstGeom prst="rect">
            <a:avLst/>
          </a:prstGeom>
          <a:solidFill>
            <a:srgbClr val="FFFFFF"/>
          </a:solidFill>
          <a:ln w="12700">
            <a:solidFill>
              <a:srgbClr val="BBBBBB"/>
            </a:solidFill>
            <a:prstDash val="solid"/>
          </a:ln>
        </p:spPr>
      </p:sp>
      <p:sp>
        <p:nvSpPr>
          <p:cNvPr id="16" name="Text 14"/>
          <p:cNvSpPr/>
          <p:nvPr/>
        </p:nvSpPr>
        <p:spPr>
          <a:xfrm>
            <a:off x="868680" y="1947672"/>
            <a:ext cx="804672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Write the correct form of 'be'</a:t>
            </a:r>
            <a:endParaRPr lang="en-US" sz="1300" dirty="0"/>
          </a:p>
        </p:txBody>
      </p:sp>
      <p:sp>
        <p:nvSpPr>
          <p:cNvPr id="17" name="Text 15"/>
          <p:cNvSpPr/>
          <p:nvPr/>
        </p:nvSpPr>
        <p:spPr>
          <a:xfrm>
            <a:off x="868680" y="2240280"/>
            <a:ext cx="8046720" cy="29260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Check the subject: I = am,  he/she/it = is,  you/we/they = are</a:t>
            </a:r>
            <a:endParaRPr lang="en-US" sz="1200" dirty="0"/>
          </a:p>
        </p:txBody>
      </p:sp>
      <p:sp>
        <p:nvSpPr>
          <p:cNvPr id="18" name="Shape 16"/>
          <p:cNvSpPr/>
          <p:nvPr/>
        </p:nvSpPr>
        <p:spPr>
          <a:xfrm>
            <a:off x="256032" y="2660904"/>
            <a:ext cx="502920" cy="658368"/>
          </a:xfrm>
          <a:prstGeom prst="rect">
            <a:avLst/>
          </a:prstGeom>
          <a:solidFill>
            <a:srgbClr val="F5EEF8"/>
          </a:solidFill>
          <a:ln w="12700">
            <a:solidFill>
              <a:srgbClr val="BBBBBB"/>
            </a:solidFill>
            <a:prstDash val="solid"/>
          </a:ln>
        </p:spPr>
      </p:sp>
      <p:sp>
        <p:nvSpPr>
          <p:cNvPr id="19" name="Text 17"/>
          <p:cNvSpPr/>
          <p:nvPr/>
        </p:nvSpPr>
        <p:spPr>
          <a:xfrm>
            <a:off x="256032" y="2660904"/>
            <a:ext cx="502920" cy="658368"/>
          </a:xfrm>
          <a:prstGeom prst="rect">
            <a:avLst/>
          </a:prstGeom>
          <a:noFill/>
          <a:ln/>
        </p:spPr>
        <p:txBody>
          <a:bodyPr wrap="square" lIns="0" tIns="0" rIns="0" bIns="0" rtlCol="0" anchor="ctr"/>
          <a:lstStyle/>
          <a:p>
            <a:pPr marL="0" indent="0" algn="ctr">
              <a:buNone/>
            </a:pPr>
            <a:r>
              <a:rPr lang="en-US" sz="2200" b="1" dirty="0">
                <a:solidFill>
                  <a:srgbClr val="1B3A6B"/>
                </a:solidFill>
                <a:latin typeface="Trebuchet MS" pitchFamily="34" charset="0"/>
                <a:ea typeface="Trebuchet MS" pitchFamily="34" charset="-122"/>
                <a:cs typeface="Trebuchet MS" pitchFamily="34" charset="-120"/>
              </a:rPr>
              <a:t>3</a:t>
            </a:r>
            <a:endParaRPr lang="en-US" sz="2200" dirty="0"/>
          </a:p>
        </p:txBody>
      </p:sp>
      <p:sp>
        <p:nvSpPr>
          <p:cNvPr id="20" name="Shape 18"/>
          <p:cNvSpPr/>
          <p:nvPr/>
        </p:nvSpPr>
        <p:spPr>
          <a:xfrm>
            <a:off x="758952" y="2660904"/>
            <a:ext cx="8229600" cy="658368"/>
          </a:xfrm>
          <a:prstGeom prst="rect">
            <a:avLst/>
          </a:prstGeom>
          <a:solidFill>
            <a:srgbClr val="FFFFFF"/>
          </a:solidFill>
          <a:ln w="12700">
            <a:solidFill>
              <a:srgbClr val="BBBBBB"/>
            </a:solidFill>
            <a:prstDash val="solid"/>
          </a:ln>
        </p:spPr>
      </p:sp>
      <p:sp>
        <p:nvSpPr>
          <p:cNvPr id="21" name="Text 19"/>
          <p:cNvSpPr/>
          <p:nvPr/>
        </p:nvSpPr>
        <p:spPr>
          <a:xfrm>
            <a:off x="868680" y="2697480"/>
            <a:ext cx="804672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Add  -ing  to the verb</a:t>
            </a:r>
            <a:endParaRPr lang="en-US" sz="1300" dirty="0"/>
          </a:p>
        </p:txBody>
      </p:sp>
      <p:sp>
        <p:nvSpPr>
          <p:cNvPr id="22" name="Text 20"/>
          <p:cNvSpPr/>
          <p:nvPr/>
        </p:nvSpPr>
        <p:spPr>
          <a:xfrm>
            <a:off x="868680" y="2990088"/>
            <a:ext cx="8046720" cy="29260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watch → watching,   go → going,   make → making,   have → having</a:t>
            </a:r>
            <a:endParaRPr lang="en-US" sz="1200" dirty="0"/>
          </a:p>
        </p:txBody>
      </p:sp>
      <p:sp>
        <p:nvSpPr>
          <p:cNvPr id="23" name="Shape 21"/>
          <p:cNvSpPr/>
          <p:nvPr/>
        </p:nvSpPr>
        <p:spPr>
          <a:xfrm>
            <a:off x="256032" y="3410712"/>
            <a:ext cx="502920" cy="658368"/>
          </a:xfrm>
          <a:prstGeom prst="rect">
            <a:avLst/>
          </a:prstGeom>
          <a:solidFill>
            <a:srgbClr val="FDEBD0"/>
          </a:solidFill>
          <a:ln w="12700">
            <a:solidFill>
              <a:srgbClr val="BBBBBB"/>
            </a:solidFill>
            <a:prstDash val="solid"/>
          </a:ln>
        </p:spPr>
      </p:sp>
      <p:sp>
        <p:nvSpPr>
          <p:cNvPr id="24" name="Text 22"/>
          <p:cNvSpPr/>
          <p:nvPr/>
        </p:nvSpPr>
        <p:spPr>
          <a:xfrm>
            <a:off x="256032" y="3410712"/>
            <a:ext cx="502920" cy="658368"/>
          </a:xfrm>
          <a:prstGeom prst="rect">
            <a:avLst/>
          </a:prstGeom>
          <a:noFill/>
          <a:ln/>
        </p:spPr>
        <p:txBody>
          <a:bodyPr wrap="square" lIns="0" tIns="0" rIns="0" bIns="0" rtlCol="0" anchor="ctr"/>
          <a:lstStyle/>
          <a:p>
            <a:pPr marL="0" indent="0" algn="ctr">
              <a:buNone/>
            </a:pPr>
            <a:r>
              <a:rPr lang="en-US" sz="2200" b="1" dirty="0">
                <a:solidFill>
                  <a:srgbClr val="1B3A6B"/>
                </a:solidFill>
                <a:latin typeface="Trebuchet MS" pitchFamily="34" charset="0"/>
                <a:ea typeface="Trebuchet MS" pitchFamily="34" charset="-122"/>
                <a:cs typeface="Trebuchet MS" pitchFamily="34" charset="-120"/>
              </a:rPr>
              <a:t>4</a:t>
            </a:r>
            <a:endParaRPr lang="en-US" sz="2200" dirty="0"/>
          </a:p>
        </p:txBody>
      </p:sp>
      <p:sp>
        <p:nvSpPr>
          <p:cNvPr id="25" name="Shape 23"/>
          <p:cNvSpPr/>
          <p:nvPr/>
        </p:nvSpPr>
        <p:spPr>
          <a:xfrm>
            <a:off x="758952" y="3410712"/>
            <a:ext cx="8229600" cy="658368"/>
          </a:xfrm>
          <a:prstGeom prst="rect">
            <a:avLst/>
          </a:prstGeom>
          <a:solidFill>
            <a:srgbClr val="FFFFFF"/>
          </a:solidFill>
          <a:ln w="12700">
            <a:solidFill>
              <a:srgbClr val="BBBBBB"/>
            </a:solidFill>
            <a:prstDash val="solid"/>
          </a:ln>
        </p:spPr>
      </p:sp>
      <p:sp>
        <p:nvSpPr>
          <p:cNvPr id="26" name="Text 24"/>
          <p:cNvSpPr/>
          <p:nvPr/>
        </p:nvSpPr>
        <p:spPr>
          <a:xfrm>
            <a:off x="868680" y="3447288"/>
            <a:ext cx="804672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Check for negative ( not ) or question</a:t>
            </a:r>
            <a:endParaRPr lang="en-US" sz="1300" dirty="0"/>
          </a:p>
        </p:txBody>
      </p:sp>
      <p:sp>
        <p:nvSpPr>
          <p:cNvPr id="27" name="Text 25"/>
          <p:cNvSpPr/>
          <p:nvPr/>
        </p:nvSpPr>
        <p:spPr>
          <a:xfrm>
            <a:off x="868680" y="3739896"/>
            <a:ext cx="8046720" cy="29260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If the sentence has NOT → use isn't/aren't.  If it is a question → put 'are/is' first.</a:t>
            </a:r>
            <a:endParaRPr lang="en-US" sz="1200" dirty="0"/>
          </a:p>
        </p:txBody>
      </p:sp>
      <p:sp>
        <p:nvSpPr>
          <p:cNvPr id="28" name="Shape 26"/>
          <p:cNvSpPr/>
          <p:nvPr/>
        </p:nvSpPr>
        <p:spPr>
          <a:xfrm>
            <a:off x="256032" y="4160520"/>
            <a:ext cx="502920" cy="658368"/>
          </a:xfrm>
          <a:prstGeom prst="rect">
            <a:avLst/>
          </a:prstGeom>
          <a:solidFill>
            <a:srgbClr val="FEF9E7"/>
          </a:solidFill>
          <a:ln w="12700">
            <a:solidFill>
              <a:srgbClr val="BBBBBB"/>
            </a:solidFill>
            <a:prstDash val="solid"/>
          </a:ln>
        </p:spPr>
      </p:sp>
      <p:sp>
        <p:nvSpPr>
          <p:cNvPr id="29" name="Text 27"/>
          <p:cNvSpPr/>
          <p:nvPr/>
        </p:nvSpPr>
        <p:spPr>
          <a:xfrm>
            <a:off x="256032" y="4160520"/>
            <a:ext cx="502920" cy="658368"/>
          </a:xfrm>
          <a:prstGeom prst="rect">
            <a:avLst/>
          </a:prstGeom>
          <a:noFill/>
          <a:ln/>
        </p:spPr>
        <p:txBody>
          <a:bodyPr wrap="square" lIns="0" tIns="0" rIns="0" bIns="0" rtlCol="0" anchor="ctr"/>
          <a:lstStyle/>
          <a:p>
            <a:pPr marL="0" indent="0" algn="ctr">
              <a:buNone/>
            </a:pPr>
            <a:r>
              <a:rPr lang="en-US" sz="2200" b="1" dirty="0">
                <a:solidFill>
                  <a:srgbClr val="1B3A6B"/>
                </a:solidFill>
                <a:latin typeface="Trebuchet MS" pitchFamily="34" charset="0"/>
                <a:ea typeface="Trebuchet MS" pitchFamily="34" charset="-122"/>
                <a:cs typeface="Trebuchet MS" pitchFamily="34" charset="-120"/>
              </a:rPr>
              <a:t>5</a:t>
            </a:r>
            <a:endParaRPr lang="en-US" sz="2200" dirty="0"/>
          </a:p>
        </p:txBody>
      </p:sp>
      <p:sp>
        <p:nvSpPr>
          <p:cNvPr id="30" name="Shape 28"/>
          <p:cNvSpPr/>
          <p:nvPr/>
        </p:nvSpPr>
        <p:spPr>
          <a:xfrm>
            <a:off x="758952" y="4160520"/>
            <a:ext cx="8229600" cy="658368"/>
          </a:xfrm>
          <a:prstGeom prst="rect">
            <a:avLst/>
          </a:prstGeom>
          <a:solidFill>
            <a:srgbClr val="FFFFFF"/>
          </a:solidFill>
          <a:ln w="12700">
            <a:solidFill>
              <a:srgbClr val="BBBBBB"/>
            </a:solidFill>
            <a:prstDash val="solid"/>
          </a:ln>
        </p:spPr>
      </p:sp>
      <p:sp>
        <p:nvSpPr>
          <p:cNvPr id="31" name="Text 29"/>
          <p:cNvSpPr/>
          <p:nvPr/>
        </p:nvSpPr>
        <p:spPr>
          <a:xfrm>
            <a:off x="868680" y="4197096"/>
            <a:ext cx="8046720" cy="274320"/>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Look at the model answer (No.1)</a:t>
            </a:r>
            <a:endParaRPr lang="en-US" sz="1300" dirty="0"/>
          </a:p>
        </p:txBody>
      </p:sp>
      <p:sp>
        <p:nvSpPr>
          <p:cNvPr id="32" name="Text 30"/>
          <p:cNvSpPr/>
          <p:nvPr/>
        </p:nvSpPr>
        <p:spPr>
          <a:xfrm>
            <a:off x="868680" y="4489704"/>
            <a:ext cx="8046720" cy="29260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Sentence 1 is already done. Use it as your guide for all other sentences.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1 — Part C: Exercise 1 — Check Your Answers</a:t>
            </a:r>
            <a:endParaRPr lang="en-US" sz="2000" dirty="0"/>
          </a:p>
        </p:txBody>
      </p:sp>
      <p:sp>
        <p:nvSpPr>
          <p:cNvPr id="5" name="Shape 3"/>
          <p:cNvSpPr/>
          <p:nvPr/>
        </p:nvSpPr>
        <p:spPr>
          <a:xfrm>
            <a:off x="7315200" y="128016"/>
            <a:ext cx="1645920" cy="402336"/>
          </a:xfrm>
          <a:prstGeom prst="rect">
            <a:avLst/>
          </a:prstGeom>
          <a:solidFill>
            <a:srgbClr val="0D7377"/>
          </a:solidFill>
          <a:ln w="12700">
            <a:solidFill>
              <a:srgbClr val="0D7377"/>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ANSWERS</a:t>
            </a:r>
            <a:endParaRPr lang="en-US" sz="1100" dirty="0"/>
          </a:p>
        </p:txBody>
      </p:sp>
      <p:sp>
        <p:nvSpPr>
          <p:cNvPr id="7" name="Text 5"/>
          <p:cNvSpPr/>
          <p:nvPr/>
        </p:nvSpPr>
        <p:spPr>
          <a:xfrm>
            <a:off x="256032" y="749808"/>
            <a:ext cx="8631936" cy="329184"/>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Compare your answers. Correct any mistakes in pencil.</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56032" y="1133856"/>
          <a:ext cx="8631936" cy="3657600"/>
        </p:xfrm>
        <a:graphic>
          <a:graphicData uri="http://schemas.openxmlformats.org/drawingml/2006/table">
            <a:tbl>
              <a:tblPr/>
              <a:tblGrid>
                <a:gridCol w="457200">
                  <a:extLst>
                    <a:ext uri="{9D8B030D-6E8A-4147-A177-3AD203B41FA5}">
                      <a16:colId xmlns:a16="http://schemas.microsoft.com/office/drawing/2014/main" val="20000"/>
                    </a:ext>
                  </a:extLst>
                </a:gridCol>
                <a:gridCol w="3419856">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522514">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Sentence</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Correct Answer</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522514">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1.</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She _______ (watch) a film tonight.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b="1" i="1" dirty="0">
                          <a:solidFill>
                            <a:srgbClr val="0D7377"/>
                          </a:solidFill>
                          <a:latin typeface="Calibri" pitchFamily="34" charset="0"/>
                          <a:ea typeface="Calibri" pitchFamily="34" charset="-122"/>
                          <a:cs typeface="Calibri" pitchFamily="34" charset="-120"/>
                        </a:rPr>
                        <a:t>She is watching a film tonight.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4EDDA"/>
                    </a:solidFill>
                  </a:tcPr>
                </a:tc>
                <a:extLst>
                  <a:ext uri="{0D108BD9-81ED-4DB2-BD59-A6C34878D82A}">
                    <a16:rowId xmlns:a16="http://schemas.microsoft.com/office/drawing/2014/main" val="10001"/>
                  </a:ext>
                </a:extLst>
              </a:tr>
              <a:tr h="522514">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2.</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They _______ (have) dinner at 8pm.</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i="1" dirty="0">
                          <a:solidFill>
                            <a:srgbClr val="0D7377"/>
                          </a:solidFill>
                          <a:latin typeface="Calibri" pitchFamily="34" charset="0"/>
                          <a:ea typeface="Calibri" pitchFamily="34" charset="-122"/>
                          <a:cs typeface="Calibri" pitchFamily="34" charset="-120"/>
                        </a:rPr>
                        <a:t>They are having dinner at 8pm.</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1ECF1"/>
                    </a:solidFill>
                  </a:tcPr>
                </a:tc>
                <a:extLst>
                  <a:ext uri="{0D108BD9-81ED-4DB2-BD59-A6C34878D82A}">
                    <a16:rowId xmlns:a16="http://schemas.microsoft.com/office/drawing/2014/main" val="10002"/>
                  </a:ext>
                </a:extLst>
              </a:tr>
              <a:tr h="522514">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3.</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I _______ (not / go out) this evening.</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i="1" dirty="0">
                          <a:solidFill>
                            <a:srgbClr val="0D7377"/>
                          </a:solidFill>
                          <a:latin typeface="Calibri" pitchFamily="34" charset="0"/>
                          <a:ea typeface="Calibri" pitchFamily="34" charset="-122"/>
                          <a:cs typeface="Calibri" pitchFamily="34" charset="-120"/>
                        </a:rPr>
                        <a:t>I am not going out / I'm not going out this evening.</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1ECF1"/>
                    </a:solidFill>
                  </a:tcPr>
                </a:tc>
                <a:extLst>
                  <a:ext uri="{0D108BD9-81ED-4DB2-BD59-A6C34878D82A}">
                    <a16:rowId xmlns:a16="http://schemas.microsoft.com/office/drawing/2014/main" val="10003"/>
                  </a:ext>
                </a:extLst>
              </a:tr>
              <a:tr h="522514">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4.</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We _______ (play) a board game later.</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i="1" dirty="0">
                          <a:solidFill>
                            <a:srgbClr val="0D7377"/>
                          </a:solidFill>
                          <a:latin typeface="Calibri" pitchFamily="34" charset="0"/>
                          <a:ea typeface="Calibri" pitchFamily="34" charset="-122"/>
                          <a:cs typeface="Calibri" pitchFamily="34" charset="-120"/>
                        </a:rPr>
                        <a:t>We are playing a board game later.</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1ECF1"/>
                    </a:solidFill>
                  </a:tcPr>
                </a:tc>
                <a:extLst>
                  <a:ext uri="{0D108BD9-81ED-4DB2-BD59-A6C34878D82A}">
                    <a16:rowId xmlns:a16="http://schemas.microsoft.com/office/drawing/2014/main" val="10004"/>
                  </a:ext>
                </a:extLst>
              </a:tr>
              <a:tr h="522514">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5.</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He _______ (make) a reservation for tomorrow.</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i="1" dirty="0">
                          <a:solidFill>
                            <a:srgbClr val="0D7377"/>
                          </a:solidFill>
                          <a:latin typeface="Calibri" pitchFamily="34" charset="0"/>
                          <a:ea typeface="Calibri" pitchFamily="34" charset="-122"/>
                          <a:cs typeface="Calibri" pitchFamily="34" charset="-120"/>
                        </a:rPr>
                        <a:t>He is making a reservation for tomorrow.</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1ECF1"/>
                    </a:solidFill>
                  </a:tcPr>
                </a:tc>
                <a:extLst>
                  <a:ext uri="{0D108BD9-81ED-4DB2-BD59-A6C34878D82A}">
                    <a16:rowId xmlns:a16="http://schemas.microsoft.com/office/drawing/2014/main" val="10005"/>
                  </a:ext>
                </a:extLst>
              </a:tr>
              <a:tr h="522514">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6.</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_______ you _______ (come) to the party?</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i="1" dirty="0">
                          <a:solidFill>
                            <a:srgbClr val="0D7377"/>
                          </a:solidFill>
                          <a:latin typeface="Calibri" pitchFamily="34" charset="0"/>
                          <a:ea typeface="Calibri" pitchFamily="34" charset="-122"/>
                          <a:cs typeface="Calibri" pitchFamily="34" charset="-120"/>
                        </a:rPr>
                        <a:t>Are you coming to the party?</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1ECF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1 — Pair Tasks 1 &amp; 2</a:t>
            </a:r>
            <a:endParaRPr lang="en-US" sz="2000" dirty="0"/>
          </a:p>
        </p:txBody>
      </p:sp>
      <p:sp>
        <p:nvSpPr>
          <p:cNvPr id="5" name="Shape 3"/>
          <p:cNvSpPr/>
          <p:nvPr/>
        </p:nvSpPr>
        <p:spPr>
          <a:xfrm>
            <a:off x="7315200" y="128016"/>
            <a:ext cx="1645920" cy="402336"/>
          </a:xfrm>
          <a:prstGeom prst="rect">
            <a:avLst/>
          </a:prstGeom>
          <a:solidFill>
            <a:srgbClr val="0D7377"/>
          </a:solidFill>
          <a:ln w="12700">
            <a:solidFill>
              <a:srgbClr val="0D7377"/>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PAIR WORK</a:t>
            </a:r>
            <a:endParaRPr lang="en-US" sz="1100" dirty="0"/>
          </a:p>
        </p:txBody>
      </p:sp>
      <p:sp>
        <p:nvSpPr>
          <p:cNvPr id="7" name="Shape 5"/>
          <p:cNvSpPr/>
          <p:nvPr/>
        </p:nvSpPr>
        <p:spPr>
          <a:xfrm>
            <a:off x="256032" y="749808"/>
            <a:ext cx="8631936" cy="2011680"/>
          </a:xfrm>
          <a:prstGeom prst="rect">
            <a:avLst/>
          </a:prstGeom>
          <a:solidFill>
            <a:srgbClr val="D1F2EB"/>
          </a:solidFill>
          <a:ln w="12700">
            <a:solidFill>
              <a:srgbClr val="0D7377"/>
            </a:solidFill>
            <a:prstDash val="solid"/>
          </a:ln>
        </p:spPr>
      </p:sp>
      <p:sp>
        <p:nvSpPr>
          <p:cNvPr id="8" name="Shape 6"/>
          <p:cNvSpPr/>
          <p:nvPr/>
        </p:nvSpPr>
        <p:spPr>
          <a:xfrm>
            <a:off x="256032" y="749808"/>
            <a:ext cx="109728" cy="2011680"/>
          </a:xfrm>
          <a:prstGeom prst="rect">
            <a:avLst/>
          </a:prstGeom>
          <a:solidFill>
            <a:srgbClr val="0D7377"/>
          </a:solidFill>
          <a:ln w="12700">
            <a:solidFill>
              <a:srgbClr val="0D7377"/>
            </a:solidFill>
            <a:prstDash val="solid"/>
          </a:ln>
        </p:spPr>
      </p:sp>
      <p:sp>
        <p:nvSpPr>
          <p:cNvPr id="9" name="Shape 7"/>
          <p:cNvSpPr/>
          <p:nvPr/>
        </p:nvSpPr>
        <p:spPr>
          <a:xfrm>
            <a:off x="438912" y="822960"/>
            <a:ext cx="1828800" cy="292608"/>
          </a:xfrm>
          <a:prstGeom prst="rect">
            <a:avLst/>
          </a:prstGeom>
          <a:solidFill>
            <a:srgbClr val="0D7377"/>
          </a:solidFill>
          <a:ln w="12700">
            <a:solidFill>
              <a:srgbClr val="0D7377"/>
            </a:solidFill>
            <a:prstDash val="solid"/>
          </a:ln>
        </p:spPr>
      </p:sp>
      <p:sp>
        <p:nvSpPr>
          <p:cNvPr id="10" name="Text 8"/>
          <p:cNvSpPr/>
          <p:nvPr/>
        </p:nvSpPr>
        <p:spPr>
          <a:xfrm>
            <a:off x="438912" y="822960"/>
            <a:ext cx="18288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PAIR / GROUP TASK</a:t>
            </a:r>
            <a:endParaRPr lang="en-US" sz="1100" dirty="0"/>
          </a:p>
        </p:txBody>
      </p:sp>
      <p:sp>
        <p:nvSpPr>
          <p:cNvPr id="11" name="Text 9"/>
          <p:cNvSpPr/>
          <p:nvPr/>
        </p:nvSpPr>
        <p:spPr>
          <a:xfrm>
            <a:off x="438912" y="1170432"/>
            <a:ext cx="8357616" cy="1517904"/>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TASK 1 — Vocabulary Test</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Student A: say a word from the vocabulary list.</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Student B: give the meaning WITHOUT looking at the worksheet.</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Swap after 5 words. Score 1 point for each correct answer!</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Who gets the highest score in your pair?</a:t>
            </a:r>
            <a:endParaRPr lang="en-US" sz="1300" dirty="0"/>
          </a:p>
        </p:txBody>
      </p:sp>
      <p:sp>
        <p:nvSpPr>
          <p:cNvPr id="12" name="Shape 10"/>
          <p:cNvSpPr/>
          <p:nvPr/>
        </p:nvSpPr>
        <p:spPr>
          <a:xfrm>
            <a:off x="256032" y="2907792"/>
            <a:ext cx="8631936" cy="2084832"/>
          </a:xfrm>
          <a:prstGeom prst="rect">
            <a:avLst/>
          </a:prstGeom>
          <a:solidFill>
            <a:srgbClr val="D1F2EB"/>
          </a:solidFill>
          <a:ln w="12700">
            <a:solidFill>
              <a:srgbClr val="0D7377"/>
            </a:solidFill>
            <a:prstDash val="solid"/>
          </a:ln>
        </p:spPr>
      </p:sp>
      <p:sp>
        <p:nvSpPr>
          <p:cNvPr id="13" name="Shape 11"/>
          <p:cNvSpPr/>
          <p:nvPr/>
        </p:nvSpPr>
        <p:spPr>
          <a:xfrm>
            <a:off x="256032" y="2907792"/>
            <a:ext cx="109728" cy="2084832"/>
          </a:xfrm>
          <a:prstGeom prst="rect">
            <a:avLst/>
          </a:prstGeom>
          <a:solidFill>
            <a:srgbClr val="0D7377"/>
          </a:solidFill>
          <a:ln w="12700">
            <a:solidFill>
              <a:srgbClr val="0D7377"/>
            </a:solidFill>
            <a:prstDash val="solid"/>
          </a:ln>
        </p:spPr>
      </p:sp>
      <p:sp>
        <p:nvSpPr>
          <p:cNvPr id="14" name="Shape 12"/>
          <p:cNvSpPr/>
          <p:nvPr/>
        </p:nvSpPr>
        <p:spPr>
          <a:xfrm>
            <a:off x="438912" y="2980944"/>
            <a:ext cx="1828800" cy="292608"/>
          </a:xfrm>
          <a:prstGeom prst="rect">
            <a:avLst/>
          </a:prstGeom>
          <a:solidFill>
            <a:srgbClr val="0D7377"/>
          </a:solidFill>
          <a:ln w="12700">
            <a:solidFill>
              <a:srgbClr val="0D7377"/>
            </a:solidFill>
            <a:prstDash val="solid"/>
          </a:ln>
        </p:spPr>
      </p:sp>
      <p:sp>
        <p:nvSpPr>
          <p:cNvPr id="15" name="Text 13"/>
          <p:cNvSpPr/>
          <p:nvPr/>
        </p:nvSpPr>
        <p:spPr>
          <a:xfrm>
            <a:off x="438912" y="2980944"/>
            <a:ext cx="18288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PAIR / GROUP TASK</a:t>
            </a:r>
            <a:endParaRPr lang="en-US" sz="1100" dirty="0"/>
          </a:p>
        </p:txBody>
      </p:sp>
      <p:sp>
        <p:nvSpPr>
          <p:cNvPr id="16" name="Text 14"/>
          <p:cNvSpPr/>
          <p:nvPr/>
        </p:nvSpPr>
        <p:spPr>
          <a:xfrm>
            <a:off x="438912" y="3328416"/>
            <a:ext cx="8357616" cy="1591056"/>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TASK 2 — Present Continuous Sentences</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With your partner, take turns saying sentences using present continuous.</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Use these topics:</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 What are you doing RIGHT NOW in this class?</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 What are you doing TONIGHT (future plan)?</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 What is your teacher doing right now? (look at me!)</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Say at least 3 sentences each. Read them out loud.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6B"/>
          </a:solidFill>
          <a:ln w="12700">
            <a:solidFill>
              <a:srgbClr val="1B3A6B"/>
            </a:solidFill>
            <a:prstDash val="solid"/>
          </a:ln>
        </p:spPr>
      </p:sp>
      <p:sp>
        <p:nvSpPr>
          <p:cNvPr id="3" name="Shape 1"/>
          <p:cNvSpPr/>
          <p:nvPr/>
        </p:nvSpPr>
        <p:spPr>
          <a:xfrm>
            <a:off x="6217920" y="0"/>
            <a:ext cx="2926080" cy="5143500"/>
          </a:xfrm>
          <a:prstGeom prst="rect">
            <a:avLst/>
          </a:prstGeom>
          <a:solidFill>
            <a:srgbClr val="0D7377"/>
          </a:solidFill>
          <a:ln w="12700">
            <a:solidFill>
              <a:srgbClr val="0D7377"/>
            </a:solidFill>
            <a:prstDash val="solid"/>
          </a:ln>
        </p:spPr>
      </p:sp>
      <p:sp>
        <p:nvSpPr>
          <p:cNvPr id="4" name="Shape 2"/>
          <p:cNvSpPr/>
          <p:nvPr/>
        </p:nvSpPr>
        <p:spPr>
          <a:xfrm>
            <a:off x="6217920" y="0"/>
            <a:ext cx="73152" cy="5143500"/>
          </a:xfrm>
          <a:prstGeom prst="rect">
            <a:avLst/>
          </a:prstGeom>
          <a:solidFill>
            <a:srgbClr val="F4A261"/>
          </a:solidFill>
          <a:ln w="12700">
            <a:solidFill>
              <a:srgbClr val="F4A261"/>
            </a:solidFill>
            <a:prstDash val="solid"/>
          </a:ln>
        </p:spPr>
      </p:sp>
      <p:sp>
        <p:nvSpPr>
          <p:cNvPr id="5" name="Shape 3"/>
          <p:cNvSpPr/>
          <p:nvPr/>
        </p:nvSpPr>
        <p:spPr>
          <a:xfrm>
            <a:off x="411480" y="914400"/>
            <a:ext cx="2011680" cy="438912"/>
          </a:xfrm>
          <a:prstGeom prst="rect">
            <a:avLst/>
          </a:prstGeom>
          <a:solidFill>
            <a:srgbClr val="F4A261"/>
          </a:solidFill>
          <a:ln w="12700">
            <a:solidFill>
              <a:srgbClr val="F4A261"/>
            </a:solidFill>
            <a:prstDash val="solid"/>
          </a:ln>
        </p:spPr>
      </p:sp>
      <p:sp>
        <p:nvSpPr>
          <p:cNvPr id="6" name="Text 4"/>
          <p:cNvSpPr/>
          <p:nvPr/>
        </p:nvSpPr>
        <p:spPr>
          <a:xfrm>
            <a:off x="411480" y="914400"/>
            <a:ext cx="2011680" cy="438912"/>
          </a:xfrm>
          <a:prstGeom prst="rect">
            <a:avLst/>
          </a:prstGeom>
          <a:noFill/>
          <a:ln/>
        </p:spPr>
        <p:txBody>
          <a:bodyPr wrap="square" lIns="0" tIns="0" rIns="0" bIns="0" rtlCol="0" anchor="ctr"/>
          <a:lstStyle/>
          <a:p>
            <a:pPr marL="0" indent="0" algn="ctr">
              <a:buNone/>
            </a:pPr>
            <a:r>
              <a:rPr lang="en-US" sz="1100" b="1" dirty="0">
                <a:solidFill>
                  <a:srgbClr val="1B3A6B"/>
                </a:solidFill>
                <a:latin typeface="Trebuchet MS" pitchFamily="34" charset="0"/>
                <a:ea typeface="Trebuchet MS" pitchFamily="34" charset="-122"/>
                <a:cs typeface="Trebuchet MS" pitchFamily="34" charset="-120"/>
              </a:rPr>
              <a:t>MODULE 2</a:t>
            </a:r>
            <a:endParaRPr lang="en-US" sz="1100" dirty="0"/>
          </a:p>
        </p:txBody>
      </p:sp>
      <p:sp>
        <p:nvSpPr>
          <p:cNvPr id="7" name="Text 5"/>
          <p:cNvSpPr/>
          <p:nvPr/>
        </p:nvSpPr>
        <p:spPr>
          <a:xfrm>
            <a:off x="411480" y="1508760"/>
            <a:ext cx="5577840" cy="1280160"/>
          </a:xfrm>
          <a:prstGeom prst="rect">
            <a:avLst/>
          </a:prstGeom>
          <a:noFill/>
          <a:ln/>
        </p:spPr>
        <p:txBody>
          <a:bodyPr wrap="square"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Simple Present</a:t>
            </a:r>
            <a:endParaRPr lang="en-US" sz="3800" dirty="0"/>
          </a:p>
          <a:p>
            <a:pPr marL="0" indent="0">
              <a:buNone/>
            </a:pPr>
            <a:r>
              <a:rPr lang="en-US" sz="3800" b="1" dirty="0">
                <a:solidFill>
                  <a:srgbClr val="FFFFFF"/>
                </a:solidFill>
                <a:latin typeface="Trebuchet MS" pitchFamily="34" charset="0"/>
                <a:ea typeface="Trebuchet MS" pitchFamily="34" charset="-122"/>
                <a:cs typeface="Trebuchet MS" pitchFamily="34" charset="-120"/>
              </a:rPr>
              <a:t>vs Present Continuous</a:t>
            </a:r>
            <a:endParaRPr lang="en-US" sz="3800" dirty="0"/>
          </a:p>
          <a:p>
            <a:pPr marL="0" indent="0">
              <a:buNone/>
            </a:pPr>
            <a:r>
              <a:rPr lang="en-US" sz="3800" b="1" dirty="0">
                <a:solidFill>
                  <a:srgbClr val="FFFFFF"/>
                </a:solidFill>
                <a:latin typeface="Trebuchet MS" pitchFamily="34" charset="0"/>
                <a:ea typeface="Trebuchet MS" pitchFamily="34" charset="-122"/>
                <a:cs typeface="Trebuchet MS" pitchFamily="34" charset="-120"/>
              </a:rPr>
              <a:t>+ Action &amp; Stative Verbs</a:t>
            </a:r>
            <a:endParaRPr lang="en-US" sz="3800" dirty="0"/>
          </a:p>
        </p:txBody>
      </p:sp>
      <p:sp>
        <p:nvSpPr>
          <p:cNvPr id="8" name="Text 6"/>
          <p:cNvSpPr/>
          <p:nvPr/>
        </p:nvSpPr>
        <p:spPr>
          <a:xfrm>
            <a:off x="411480" y="2834640"/>
            <a:ext cx="5577840" cy="822960"/>
          </a:xfrm>
          <a:prstGeom prst="rect">
            <a:avLst/>
          </a:prstGeom>
          <a:noFill/>
          <a:ln/>
        </p:spPr>
        <p:txBody>
          <a:bodyPr wrap="square" rtlCol="0" anchor="ctr"/>
          <a:lstStyle/>
          <a:p>
            <a:pPr marL="0" indent="0">
              <a:buNone/>
            </a:pPr>
            <a:r>
              <a:rPr lang="en-US" sz="1600" i="1" dirty="0">
                <a:solidFill>
                  <a:srgbClr val="A8C4E0"/>
                </a:solidFill>
                <a:latin typeface="Calibri" pitchFamily="34" charset="0"/>
                <a:ea typeface="Calibri" pitchFamily="34" charset="-122"/>
                <a:cs typeface="Calibri" pitchFamily="34" charset="-120"/>
              </a:rPr>
              <a:t>Two tenses compared · Signal words · Verbs that NEVER use -ing</a:t>
            </a:r>
            <a:endParaRPr lang="en-US" sz="1600" dirty="0"/>
          </a:p>
        </p:txBody>
      </p:sp>
      <p:sp>
        <p:nvSpPr>
          <p:cNvPr id="9" name="Text 7"/>
          <p:cNvSpPr/>
          <p:nvPr/>
        </p:nvSpPr>
        <p:spPr>
          <a:xfrm>
            <a:off x="6400800" y="1645920"/>
            <a:ext cx="2560320" cy="201168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Blueprint 4</a:t>
            </a:r>
            <a:endParaRPr lang="en-US" sz="1600" dirty="0"/>
          </a:p>
          <a:p>
            <a:pPr marL="0" indent="0" algn="ctr">
              <a:buNone/>
            </a:pPr>
            <a:r>
              <a:rPr lang="en-US" sz="1600" dirty="0">
                <a:solidFill>
                  <a:srgbClr val="FFFFFF"/>
                </a:solidFill>
                <a:latin typeface="Calibri" pitchFamily="34" charset="0"/>
                <a:ea typeface="Calibri" pitchFamily="34" charset="-122"/>
                <a:cs typeface="Calibri" pitchFamily="34" charset="-120"/>
              </a:rPr>
              <a:t>B1 Intermediate</a:t>
            </a:r>
            <a:endParaRPr lang="en-US" sz="1600" dirty="0"/>
          </a:p>
          <a:p>
            <a:pPr marL="0" indent="0" algn="ctr">
              <a:buNone/>
            </a:pPr>
            <a:r>
              <a:rPr lang="en-US" sz="1600" dirty="0">
                <a:solidFill>
                  <a:srgbClr val="FFFFFF"/>
                </a:solidFill>
                <a:latin typeface="Calibri" pitchFamily="34" charset="0"/>
                <a:ea typeface="Calibri" pitchFamily="34" charset="-122"/>
                <a:cs typeface="Calibri" pitchFamily="34" charset="-120"/>
              </a:rPr>
              <a:t>GEP 9</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2 — Part A: Simple Present vs Present Continuous</a:t>
            </a:r>
            <a:endParaRPr lang="en-US" sz="2000" dirty="0"/>
          </a:p>
        </p:txBody>
      </p:sp>
      <p:sp>
        <p:nvSpPr>
          <p:cNvPr id="5" name="Shape 3"/>
          <p:cNvSpPr/>
          <p:nvPr/>
        </p:nvSpPr>
        <p:spPr>
          <a:xfrm>
            <a:off x="7315200" y="128016"/>
            <a:ext cx="1645920" cy="402336"/>
          </a:xfrm>
          <a:prstGeom prst="rect">
            <a:avLst/>
          </a:prstGeom>
          <a:solidFill>
            <a:srgbClr val="0D7377"/>
          </a:solidFill>
          <a:ln w="12700">
            <a:solidFill>
              <a:srgbClr val="0D7377"/>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GRAMMAR</a:t>
            </a:r>
            <a:endParaRPr lang="en-US" sz="1100" dirty="0"/>
          </a:p>
        </p:txBody>
      </p:sp>
      <p:sp>
        <p:nvSpPr>
          <p:cNvPr id="7" name="Shape 5"/>
          <p:cNvSpPr/>
          <p:nvPr/>
        </p:nvSpPr>
        <p:spPr>
          <a:xfrm>
            <a:off x="256032" y="749808"/>
            <a:ext cx="8631936" cy="347472"/>
          </a:xfrm>
          <a:prstGeom prst="rect">
            <a:avLst/>
          </a:prstGeom>
          <a:solidFill>
            <a:srgbClr val="F4A261"/>
          </a:solidFill>
          <a:ln w="12700">
            <a:solidFill>
              <a:srgbClr val="E8873A"/>
            </a:solidFill>
            <a:prstDash val="solid"/>
          </a:ln>
        </p:spPr>
      </p:sp>
      <p:sp>
        <p:nvSpPr>
          <p:cNvPr id="8" name="Shape 6"/>
          <p:cNvSpPr/>
          <p:nvPr/>
        </p:nvSpPr>
        <p:spPr>
          <a:xfrm>
            <a:off x="256032" y="749808"/>
            <a:ext cx="109728" cy="347472"/>
          </a:xfrm>
          <a:prstGeom prst="rect">
            <a:avLst/>
          </a:prstGeom>
          <a:solidFill>
            <a:srgbClr val="E8873A"/>
          </a:solidFill>
          <a:ln w="12700">
            <a:solidFill>
              <a:srgbClr val="E8873A"/>
            </a:solidFill>
            <a:prstDash val="solid"/>
          </a:ln>
        </p:spPr>
      </p:sp>
      <p:sp>
        <p:nvSpPr>
          <p:cNvPr id="9" name="Text 7"/>
          <p:cNvSpPr/>
          <p:nvPr/>
        </p:nvSpPr>
        <p:spPr>
          <a:xfrm>
            <a:off x="420624" y="749808"/>
            <a:ext cx="8449056" cy="347472"/>
          </a:xfrm>
          <a:prstGeom prst="rect">
            <a:avLst/>
          </a:prstGeom>
          <a:noFill/>
          <a:ln/>
        </p:spPr>
        <p:txBody>
          <a:bodyPr wrap="square" lIns="0" tIns="0" rIns="0" bIns="0" rtlCol="0" anchor="ctr"/>
          <a:lstStyle/>
          <a:p>
            <a:pPr marL="0" indent="0">
              <a:buNone/>
            </a:pPr>
            <a:r>
              <a:rPr lang="en-US" sz="1200" b="1" dirty="0">
                <a:solidFill>
                  <a:srgbClr val="1B3A6B"/>
                </a:solidFill>
                <a:latin typeface="Trebuchet MS" pitchFamily="34" charset="0"/>
                <a:ea typeface="Trebuchet MS" pitchFamily="34" charset="-122"/>
                <a:cs typeface="Trebuchet MS" pitchFamily="34" charset="-120"/>
              </a:rPr>
              <a:t>✏  WRITE THIS DOWN</a:t>
            </a:r>
            <a:endParaRPr lang="en-US" sz="1200" dirty="0"/>
          </a:p>
        </p:txBody>
      </p:sp>
      <p:sp>
        <p:nvSpPr>
          <p:cNvPr id="10" name="Shape 8"/>
          <p:cNvSpPr/>
          <p:nvPr/>
        </p:nvSpPr>
        <p:spPr>
          <a:xfrm>
            <a:off x="256032" y="1170432"/>
            <a:ext cx="4169664" cy="3657600"/>
          </a:xfrm>
          <a:prstGeom prst="rect">
            <a:avLst/>
          </a:prstGeom>
          <a:solidFill>
            <a:srgbClr val="D6EAF8"/>
          </a:solidFill>
          <a:ln w="12700">
            <a:solidFill>
              <a:srgbClr val="1B3A6B"/>
            </a:solidFill>
            <a:prstDash val="solid"/>
          </a:ln>
        </p:spPr>
      </p:sp>
      <p:sp>
        <p:nvSpPr>
          <p:cNvPr id="11" name="Shape 9"/>
          <p:cNvSpPr/>
          <p:nvPr/>
        </p:nvSpPr>
        <p:spPr>
          <a:xfrm>
            <a:off x="256032" y="1170432"/>
            <a:ext cx="4169664" cy="457200"/>
          </a:xfrm>
          <a:prstGeom prst="rect">
            <a:avLst/>
          </a:prstGeom>
          <a:solidFill>
            <a:srgbClr val="1B3A6B"/>
          </a:solidFill>
          <a:ln w="12700">
            <a:solidFill>
              <a:srgbClr val="1B3A6B"/>
            </a:solidFill>
            <a:prstDash val="solid"/>
          </a:ln>
        </p:spPr>
      </p:sp>
      <p:sp>
        <p:nvSpPr>
          <p:cNvPr id="12" name="Text 10"/>
          <p:cNvSpPr/>
          <p:nvPr/>
        </p:nvSpPr>
        <p:spPr>
          <a:xfrm>
            <a:off x="256032" y="1170432"/>
            <a:ext cx="4169664"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SIMPLE PRESENT</a:t>
            </a:r>
            <a:endParaRPr lang="en-US" sz="1400" dirty="0"/>
          </a:p>
        </p:txBody>
      </p:sp>
      <p:sp>
        <p:nvSpPr>
          <p:cNvPr id="13" name="Shape 11"/>
          <p:cNvSpPr/>
          <p:nvPr/>
        </p:nvSpPr>
        <p:spPr>
          <a:xfrm>
            <a:off x="4718304" y="1170432"/>
            <a:ext cx="4169664" cy="3657600"/>
          </a:xfrm>
          <a:prstGeom prst="rect">
            <a:avLst/>
          </a:prstGeom>
          <a:solidFill>
            <a:srgbClr val="D1F2EB"/>
          </a:solidFill>
          <a:ln w="12700">
            <a:solidFill>
              <a:srgbClr val="0D7377"/>
            </a:solidFill>
            <a:prstDash val="solid"/>
          </a:ln>
        </p:spPr>
      </p:sp>
      <p:sp>
        <p:nvSpPr>
          <p:cNvPr id="14" name="Shape 12"/>
          <p:cNvSpPr/>
          <p:nvPr/>
        </p:nvSpPr>
        <p:spPr>
          <a:xfrm>
            <a:off x="4718304" y="1170432"/>
            <a:ext cx="4169664" cy="457200"/>
          </a:xfrm>
          <a:prstGeom prst="rect">
            <a:avLst/>
          </a:prstGeom>
          <a:solidFill>
            <a:srgbClr val="0D7377"/>
          </a:solidFill>
          <a:ln w="12700">
            <a:solidFill>
              <a:srgbClr val="0D7377"/>
            </a:solidFill>
            <a:prstDash val="solid"/>
          </a:ln>
        </p:spPr>
      </p:sp>
      <p:sp>
        <p:nvSpPr>
          <p:cNvPr id="15" name="Text 13"/>
          <p:cNvSpPr/>
          <p:nvPr/>
        </p:nvSpPr>
        <p:spPr>
          <a:xfrm>
            <a:off x="4718304" y="1170432"/>
            <a:ext cx="4169664"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PRESENT CONTINUOUS</a:t>
            </a:r>
            <a:endParaRPr lang="en-US" sz="1400" dirty="0"/>
          </a:p>
        </p:txBody>
      </p:sp>
      <p:sp>
        <p:nvSpPr>
          <p:cNvPr id="16" name="Text 14"/>
          <p:cNvSpPr/>
          <p:nvPr/>
        </p:nvSpPr>
        <p:spPr>
          <a:xfrm>
            <a:off x="347472" y="1737360"/>
            <a:ext cx="3986784" cy="274320"/>
          </a:xfrm>
          <a:prstGeom prst="rect">
            <a:avLst/>
          </a:prstGeom>
          <a:noFill/>
          <a:ln/>
        </p:spPr>
        <p:txBody>
          <a:bodyPr wrap="square" lIns="0" tIns="0" rIns="0" bIns="0" rtlCol="0" anchor="ctr"/>
          <a:lstStyle/>
          <a:p>
            <a:pPr marL="0" indent="0">
              <a:buNone/>
            </a:pPr>
            <a:r>
              <a:rPr lang="en-US" sz="1100" b="1" dirty="0">
                <a:solidFill>
                  <a:srgbClr val="6B7280"/>
                </a:solidFill>
                <a:latin typeface="Trebuchet MS" pitchFamily="34" charset="0"/>
                <a:ea typeface="Trebuchet MS" pitchFamily="34" charset="-122"/>
                <a:cs typeface="Trebuchet MS" pitchFamily="34" charset="-120"/>
              </a:rPr>
              <a:t>When to use:</a:t>
            </a:r>
            <a:endParaRPr lang="en-US" sz="1100" dirty="0"/>
          </a:p>
        </p:txBody>
      </p:sp>
      <p:sp>
        <p:nvSpPr>
          <p:cNvPr id="17" name="Text 15"/>
          <p:cNvSpPr/>
          <p:nvPr/>
        </p:nvSpPr>
        <p:spPr>
          <a:xfrm>
            <a:off x="347472" y="2029968"/>
            <a:ext cx="3986784" cy="457200"/>
          </a:xfrm>
          <a:prstGeom prst="rect">
            <a:avLst/>
          </a:prstGeom>
          <a:noFill/>
          <a:ln/>
        </p:spPr>
        <p:txBody>
          <a:bodyPr wrap="square"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Habits · Routines · Always-true facts</a:t>
            </a:r>
            <a:endParaRPr lang="en-US" sz="1300" dirty="0"/>
          </a:p>
        </p:txBody>
      </p:sp>
      <p:sp>
        <p:nvSpPr>
          <p:cNvPr id="18" name="Text 16"/>
          <p:cNvSpPr/>
          <p:nvPr/>
        </p:nvSpPr>
        <p:spPr>
          <a:xfrm>
            <a:off x="347472" y="2578608"/>
            <a:ext cx="3986784" cy="256032"/>
          </a:xfrm>
          <a:prstGeom prst="rect">
            <a:avLst/>
          </a:prstGeom>
          <a:noFill/>
          <a:ln/>
        </p:spPr>
        <p:txBody>
          <a:bodyPr wrap="square" lIns="0" tIns="0" rIns="0" bIns="0" rtlCol="0" anchor="ctr"/>
          <a:lstStyle/>
          <a:p>
            <a:pPr marL="0" indent="0">
              <a:buNone/>
            </a:pPr>
            <a:r>
              <a:rPr lang="en-US" sz="1100" b="1" dirty="0">
                <a:solidFill>
                  <a:srgbClr val="6B7280"/>
                </a:solidFill>
                <a:latin typeface="Trebuchet MS" pitchFamily="34" charset="0"/>
                <a:ea typeface="Trebuchet MS" pitchFamily="34" charset="-122"/>
                <a:cs typeface="Trebuchet MS" pitchFamily="34" charset="-120"/>
              </a:rPr>
              <a:t>Examples:</a:t>
            </a:r>
            <a:endParaRPr lang="en-US" sz="1100" dirty="0"/>
          </a:p>
        </p:txBody>
      </p:sp>
      <p:sp>
        <p:nvSpPr>
          <p:cNvPr id="19" name="Text 17"/>
          <p:cNvSpPr/>
          <p:nvPr/>
        </p:nvSpPr>
        <p:spPr>
          <a:xfrm>
            <a:off x="347472" y="2852928"/>
            <a:ext cx="3986784" cy="292608"/>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I watch TV every evening.</a:t>
            </a:r>
            <a:endParaRPr lang="en-US" sz="1300" dirty="0"/>
          </a:p>
        </p:txBody>
      </p:sp>
      <p:sp>
        <p:nvSpPr>
          <p:cNvPr id="20" name="Text 18"/>
          <p:cNvSpPr/>
          <p:nvPr/>
        </p:nvSpPr>
        <p:spPr>
          <a:xfrm>
            <a:off x="347472" y="3163824"/>
            <a:ext cx="3986784" cy="292608"/>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She cooks dinner every Sunday.</a:t>
            </a:r>
            <a:endParaRPr lang="en-US" sz="1300" dirty="0"/>
          </a:p>
        </p:txBody>
      </p:sp>
      <p:sp>
        <p:nvSpPr>
          <p:cNvPr id="21" name="Text 19"/>
          <p:cNvSpPr/>
          <p:nvPr/>
        </p:nvSpPr>
        <p:spPr>
          <a:xfrm>
            <a:off x="347472" y="3547872"/>
            <a:ext cx="3986784" cy="256032"/>
          </a:xfrm>
          <a:prstGeom prst="rect">
            <a:avLst/>
          </a:prstGeom>
          <a:noFill/>
          <a:ln/>
        </p:spPr>
        <p:txBody>
          <a:bodyPr wrap="square" lIns="0" tIns="0" rIns="0" bIns="0" rtlCol="0" anchor="ctr"/>
          <a:lstStyle/>
          <a:p>
            <a:pPr marL="0" indent="0">
              <a:buNone/>
            </a:pPr>
            <a:r>
              <a:rPr lang="en-US" sz="1100" b="1" dirty="0">
                <a:solidFill>
                  <a:srgbClr val="1B3A6B"/>
                </a:solidFill>
                <a:latin typeface="Trebuchet MS" pitchFamily="34" charset="0"/>
                <a:ea typeface="Trebuchet MS" pitchFamily="34" charset="-122"/>
                <a:cs typeface="Trebuchet MS" pitchFamily="34" charset="-120"/>
              </a:rPr>
              <a:t>🔑 Signal words:</a:t>
            </a:r>
            <a:endParaRPr lang="en-US" sz="1100" dirty="0"/>
          </a:p>
        </p:txBody>
      </p:sp>
      <p:sp>
        <p:nvSpPr>
          <p:cNvPr id="22" name="Text 20"/>
          <p:cNvSpPr/>
          <p:nvPr/>
        </p:nvSpPr>
        <p:spPr>
          <a:xfrm>
            <a:off x="347472" y="3822192"/>
            <a:ext cx="3986784" cy="658368"/>
          </a:xfrm>
          <a:prstGeom prst="rect">
            <a:avLst/>
          </a:prstGeom>
          <a:noFill/>
          <a:ln/>
        </p:spPr>
        <p:txBody>
          <a:bodyPr wrap="square" rtlCol="0" anchor="ctr"/>
          <a:lstStyle/>
          <a:p>
            <a:pPr marL="0" indent="0">
              <a:buNone/>
            </a:pPr>
            <a:r>
              <a:rPr lang="en-US" sz="1200" i="1" dirty="0">
                <a:solidFill>
                  <a:srgbClr val="111827"/>
                </a:solidFill>
                <a:latin typeface="Calibri" pitchFamily="34" charset="0"/>
                <a:ea typeface="Calibri" pitchFamily="34" charset="-122"/>
                <a:cs typeface="Calibri" pitchFamily="34" charset="-120"/>
              </a:rPr>
              <a:t>every day · usually · always · often · never</a:t>
            </a:r>
            <a:endParaRPr lang="en-US" sz="1200" dirty="0"/>
          </a:p>
        </p:txBody>
      </p:sp>
      <p:sp>
        <p:nvSpPr>
          <p:cNvPr id="23" name="Text 21"/>
          <p:cNvSpPr/>
          <p:nvPr/>
        </p:nvSpPr>
        <p:spPr>
          <a:xfrm>
            <a:off x="4809744" y="1737360"/>
            <a:ext cx="3986784" cy="274320"/>
          </a:xfrm>
          <a:prstGeom prst="rect">
            <a:avLst/>
          </a:prstGeom>
          <a:noFill/>
          <a:ln/>
        </p:spPr>
        <p:txBody>
          <a:bodyPr wrap="square" lIns="0" tIns="0" rIns="0" bIns="0" rtlCol="0" anchor="ctr"/>
          <a:lstStyle/>
          <a:p>
            <a:pPr marL="0" indent="0">
              <a:buNone/>
            </a:pPr>
            <a:r>
              <a:rPr lang="en-US" sz="1100" b="1" dirty="0">
                <a:solidFill>
                  <a:srgbClr val="6B7280"/>
                </a:solidFill>
                <a:latin typeface="Trebuchet MS" pitchFamily="34" charset="0"/>
                <a:ea typeface="Trebuchet MS" pitchFamily="34" charset="-122"/>
                <a:cs typeface="Trebuchet MS" pitchFamily="34" charset="-120"/>
              </a:rPr>
              <a:t>When to use:</a:t>
            </a:r>
            <a:endParaRPr lang="en-US" sz="1100" dirty="0"/>
          </a:p>
        </p:txBody>
      </p:sp>
      <p:sp>
        <p:nvSpPr>
          <p:cNvPr id="24" name="Text 22"/>
          <p:cNvSpPr/>
          <p:nvPr/>
        </p:nvSpPr>
        <p:spPr>
          <a:xfrm>
            <a:off x="4809744" y="2029968"/>
            <a:ext cx="3986784" cy="457200"/>
          </a:xfrm>
          <a:prstGeom prst="rect">
            <a:avLst/>
          </a:prstGeom>
          <a:noFill/>
          <a:ln/>
        </p:spPr>
        <p:txBody>
          <a:bodyPr wrap="square"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Actions happening NOW or future plans</a:t>
            </a:r>
            <a:endParaRPr lang="en-US" sz="1300" dirty="0"/>
          </a:p>
        </p:txBody>
      </p:sp>
      <p:sp>
        <p:nvSpPr>
          <p:cNvPr id="25" name="Text 23"/>
          <p:cNvSpPr/>
          <p:nvPr/>
        </p:nvSpPr>
        <p:spPr>
          <a:xfrm>
            <a:off x="4809744" y="2578608"/>
            <a:ext cx="3986784" cy="256032"/>
          </a:xfrm>
          <a:prstGeom prst="rect">
            <a:avLst/>
          </a:prstGeom>
          <a:noFill/>
          <a:ln/>
        </p:spPr>
        <p:txBody>
          <a:bodyPr wrap="square" lIns="0" tIns="0" rIns="0" bIns="0" rtlCol="0" anchor="ctr"/>
          <a:lstStyle/>
          <a:p>
            <a:pPr marL="0" indent="0">
              <a:buNone/>
            </a:pPr>
            <a:r>
              <a:rPr lang="en-US" sz="1100" b="1" dirty="0">
                <a:solidFill>
                  <a:srgbClr val="6B7280"/>
                </a:solidFill>
                <a:latin typeface="Trebuchet MS" pitchFamily="34" charset="0"/>
                <a:ea typeface="Trebuchet MS" pitchFamily="34" charset="-122"/>
                <a:cs typeface="Trebuchet MS" pitchFamily="34" charset="-120"/>
              </a:rPr>
              <a:t>Examples:</a:t>
            </a:r>
            <a:endParaRPr lang="en-US" sz="1100" dirty="0"/>
          </a:p>
        </p:txBody>
      </p:sp>
      <p:sp>
        <p:nvSpPr>
          <p:cNvPr id="26" name="Text 24"/>
          <p:cNvSpPr/>
          <p:nvPr/>
        </p:nvSpPr>
        <p:spPr>
          <a:xfrm>
            <a:off x="4809744" y="2852928"/>
            <a:ext cx="3986784" cy="292608"/>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I am watching TV right now.</a:t>
            </a:r>
            <a:endParaRPr lang="en-US" sz="1300" dirty="0"/>
          </a:p>
        </p:txBody>
      </p:sp>
      <p:sp>
        <p:nvSpPr>
          <p:cNvPr id="27" name="Text 25"/>
          <p:cNvSpPr/>
          <p:nvPr/>
        </p:nvSpPr>
        <p:spPr>
          <a:xfrm>
            <a:off x="4809744" y="3163824"/>
            <a:ext cx="3986784" cy="292608"/>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She is cooking dinner at the moment.</a:t>
            </a:r>
            <a:endParaRPr lang="en-US" sz="1300" dirty="0"/>
          </a:p>
        </p:txBody>
      </p:sp>
      <p:sp>
        <p:nvSpPr>
          <p:cNvPr id="28" name="Text 26"/>
          <p:cNvSpPr/>
          <p:nvPr/>
        </p:nvSpPr>
        <p:spPr>
          <a:xfrm>
            <a:off x="4809744" y="3547872"/>
            <a:ext cx="3986784" cy="256032"/>
          </a:xfrm>
          <a:prstGeom prst="rect">
            <a:avLst/>
          </a:prstGeom>
          <a:noFill/>
          <a:ln/>
        </p:spPr>
        <p:txBody>
          <a:bodyPr wrap="square" lIns="0" tIns="0" rIns="0" bIns="0" rtlCol="0" anchor="ctr"/>
          <a:lstStyle/>
          <a:p>
            <a:pPr marL="0" indent="0">
              <a:buNone/>
            </a:pPr>
            <a:r>
              <a:rPr lang="en-US" sz="1100" b="1" dirty="0">
                <a:solidFill>
                  <a:srgbClr val="1B3A6B"/>
                </a:solidFill>
                <a:latin typeface="Trebuchet MS" pitchFamily="34" charset="0"/>
                <a:ea typeface="Trebuchet MS" pitchFamily="34" charset="-122"/>
                <a:cs typeface="Trebuchet MS" pitchFamily="34" charset="-120"/>
              </a:rPr>
              <a:t>🔑 Signal words:</a:t>
            </a:r>
            <a:endParaRPr lang="en-US" sz="1100" dirty="0"/>
          </a:p>
        </p:txBody>
      </p:sp>
      <p:sp>
        <p:nvSpPr>
          <p:cNvPr id="29" name="Text 27"/>
          <p:cNvSpPr/>
          <p:nvPr/>
        </p:nvSpPr>
        <p:spPr>
          <a:xfrm>
            <a:off x="4809744" y="3822192"/>
            <a:ext cx="3986784" cy="658368"/>
          </a:xfrm>
          <a:prstGeom prst="rect">
            <a:avLst/>
          </a:prstGeom>
          <a:noFill/>
          <a:ln/>
        </p:spPr>
        <p:txBody>
          <a:bodyPr wrap="square" rtlCol="0" anchor="ctr"/>
          <a:lstStyle/>
          <a:p>
            <a:pPr marL="0" indent="0">
              <a:buNone/>
            </a:pPr>
            <a:r>
              <a:rPr lang="en-US" sz="1200" i="1" dirty="0">
                <a:solidFill>
                  <a:srgbClr val="111827"/>
                </a:solidFill>
                <a:latin typeface="Calibri" pitchFamily="34" charset="0"/>
                <a:ea typeface="Calibri" pitchFamily="34" charset="-122"/>
                <a:cs typeface="Calibri" pitchFamily="34" charset="-120"/>
              </a:rPr>
              <a:t>now · at the moment · tonight · this week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2 — Part B: Action Verbs vs Stative Verbs</a:t>
            </a:r>
            <a:endParaRPr lang="en-US" sz="2000" dirty="0"/>
          </a:p>
        </p:txBody>
      </p:sp>
      <p:sp>
        <p:nvSpPr>
          <p:cNvPr id="5" name="Shape 3"/>
          <p:cNvSpPr/>
          <p:nvPr/>
        </p:nvSpPr>
        <p:spPr>
          <a:xfrm>
            <a:off x="7315200" y="128016"/>
            <a:ext cx="1645920" cy="402336"/>
          </a:xfrm>
          <a:prstGeom prst="rect">
            <a:avLst/>
          </a:prstGeom>
          <a:solidFill>
            <a:srgbClr val="E53E3E"/>
          </a:solidFill>
          <a:ln w="12700">
            <a:solidFill>
              <a:srgbClr val="E53E3E"/>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IMPORTANT!</a:t>
            </a:r>
            <a:endParaRPr lang="en-US" sz="1100" dirty="0"/>
          </a:p>
        </p:txBody>
      </p:sp>
      <p:sp>
        <p:nvSpPr>
          <p:cNvPr id="7" name="Shape 5"/>
          <p:cNvSpPr/>
          <p:nvPr/>
        </p:nvSpPr>
        <p:spPr>
          <a:xfrm>
            <a:off x="256032" y="749808"/>
            <a:ext cx="8631936" cy="347472"/>
          </a:xfrm>
          <a:prstGeom prst="rect">
            <a:avLst/>
          </a:prstGeom>
          <a:solidFill>
            <a:srgbClr val="F4A261"/>
          </a:solidFill>
          <a:ln w="12700">
            <a:solidFill>
              <a:srgbClr val="E8873A"/>
            </a:solidFill>
            <a:prstDash val="solid"/>
          </a:ln>
        </p:spPr>
      </p:sp>
      <p:sp>
        <p:nvSpPr>
          <p:cNvPr id="8" name="Shape 6"/>
          <p:cNvSpPr/>
          <p:nvPr/>
        </p:nvSpPr>
        <p:spPr>
          <a:xfrm>
            <a:off x="256032" y="749808"/>
            <a:ext cx="109728" cy="347472"/>
          </a:xfrm>
          <a:prstGeom prst="rect">
            <a:avLst/>
          </a:prstGeom>
          <a:solidFill>
            <a:srgbClr val="E8873A"/>
          </a:solidFill>
          <a:ln w="12700">
            <a:solidFill>
              <a:srgbClr val="E8873A"/>
            </a:solidFill>
            <a:prstDash val="solid"/>
          </a:ln>
        </p:spPr>
      </p:sp>
      <p:sp>
        <p:nvSpPr>
          <p:cNvPr id="9" name="Text 7"/>
          <p:cNvSpPr/>
          <p:nvPr/>
        </p:nvSpPr>
        <p:spPr>
          <a:xfrm>
            <a:off x="420624" y="749808"/>
            <a:ext cx="8449056" cy="347472"/>
          </a:xfrm>
          <a:prstGeom prst="rect">
            <a:avLst/>
          </a:prstGeom>
          <a:noFill/>
          <a:ln/>
        </p:spPr>
        <p:txBody>
          <a:bodyPr wrap="square" lIns="0" tIns="0" rIns="0" bIns="0" rtlCol="0" anchor="ctr"/>
          <a:lstStyle/>
          <a:p>
            <a:pPr marL="0" indent="0">
              <a:buNone/>
            </a:pPr>
            <a:r>
              <a:rPr lang="en-US" sz="1200" b="1" dirty="0">
                <a:solidFill>
                  <a:srgbClr val="1B3A6B"/>
                </a:solidFill>
                <a:latin typeface="Trebuchet MS" pitchFamily="34" charset="0"/>
                <a:ea typeface="Trebuchet MS" pitchFamily="34" charset="-122"/>
                <a:cs typeface="Trebuchet MS" pitchFamily="34" charset="-120"/>
              </a:rPr>
              <a:t>✏  WRITE THIS DOWN</a:t>
            </a:r>
            <a:endParaRPr lang="en-US" sz="1200" dirty="0"/>
          </a:p>
        </p:txBody>
      </p:sp>
      <p:sp>
        <p:nvSpPr>
          <p:cNvPr id="10" name="Shape 8"/>
          <p:cNvSpPr/>
          <p:nvPr/>
        </p:nvSpPr>
        <p:spPr>
          <a:xfrm>
            <a:off x="256032" y="1170432"/>
            <a:ext cx="8631936" cy="548640"/>
          </a:xfrm>
          <a:prstGeom prst="rect">
            <a:avLst/>
          </a:prstGeom>
          <a:solidFill>
            <a:srgbClr val="FEE2E2"/>
          </a:solidFill>
          <a:ln w="12700">
            <a:solidFill>
              <a:srgbClr val="E53E3E"/>
            </a:solidFill>
            <a:prstDash val="solid"/>
          </a:ln>
        </p:spPr>
      </p:sp>
      <p:sp>
        <p:nvSpPr>
          <p:cNvPr id="11" name="Text 9"/>
          <p:cNvSpPr/>
          <p:nvPr/>
        </p:nvSpPr>
        <p:spPr>
          <a:xfrm>
            <a:off x="347472" y="1170432"/>
            <a:ext cx="8449056" cy="548640"/>
          </a:xfrm>
          <a:prstGeom prst="rect">
            <a:avLst/>
          </a:prstGeom>
          <a:noFill/>
          <a:ln/>
        </p:spPr>
        <p:txBody>
          <a:bodyPr wrap="square" lIns="0" tIns="0" rIns="0" bIns="0" rtlCol="0" anchor="ctr"/>
          <a:lstStyle/>
          <a:p>
            <a:pPr marL="0" indent="0">
              <a:buNone/>
            </a:pPr>
            <a:r>
              <a:rPr lang="en-US" sz="1400" b="1" dirty="0">
                <a:solidFill>
                  <a:srgbClr val="E53E3E"/>
                </a:solidFill>
                <a:latin typeface="Trebuchet MS" pitchFamily="34" charset="0"/>
                <a:ea typeface="Trebuchet MS" pitchFamily="34" charset="-122"/>
                <a:cs typeface="Trebuchet MS" pitchFamily="34" charset="-120"/>
              </a:rPr>
              <a:t>⚠  RULE: </a:t>
            </a:r>
            <a:r>
              <a:rPr lang="en-US" sz="1400" dirty="0">
                <a:solidFill>
                  <a:srgbClr val="111827"/>
                </a:solidFill>
                <a:latin typeface="Trebuchet MS" pitchFamily="34" charset="0"/>
                <a:ea typeface="Trebuchet MS" pitchFamily="34" charset="-122"/>
                <a:cs typeface="Trebuchet MS" pitchFamily="34" charset="-120"/>
              </a:rPr>
              <a:t>Stative verbs CANNOT use the -ing form. NEVER write 'I am knowing' or 'She is liking'.</a:t>
            </a:r>
            <a:endParaRPr lang="en-US" sz="1400" dirty="0"/>
          </a:p>
        </p:txBody>
      </p:sp>
      <p:sp>
        <p:nvSpPr>
          <p:cNvPr id="12" name="Shape 10"/>
          <p:cNvSpPr/>
          <p:nvPr/>
        </p:nvSpPr>
        <p:spPr>
          <a:xfrm>
            <a:off x="256032" y="1810512"/>
            <a:ext cx="4169664" cy="3017520"/>
          </a:xfrm>
          <a:prstGeom prst="rect">
            <a:avLst/>
          </a:prstGeom>
          <a:solidFill>
            <a:srgbClr val="D1F2EB"/>
          </a:solidFill>
          <a:ln w="12700">
            <a:solidFill>
              <a:srgbClr val="0D7377"/>
            </a:solidFill>
            <a:prstDash val="solid"/>
          </a:ln>
        </p:spPr>
      </p:sp>
      <p:sp>
        <p:nvSpPr>
          <p:cNvPr id="13" name="Shape 11"/>
          <p:cNvSpPr/>
          <p:nvPr/>
        </p:nvSpPr>
        <p:spPr>
          <a:xfrm>
            <a:off x="256032" y="1810512"/>
            <a:ext cx="4169664" cy="438912"/>
          </a:xfrm>
          <a:prstGeom prst="rect">
            <a:avLst/>
          </a:prstGeom>
          <a:solidFill>
            <a:srgbClr val="0D7377"/>
          </a:solidFill>
          <a:ln w="12700">
            <a:solidFill>
              <a:srgbClr val="0D7377"/>
            </a:solidFill>
            <a:prstDash val="solid"/>
          </a:ln>
        </p:spPr>
      </p:sp>
      <p:sp>
        <p:nvSpPr>
          <p:cNvPr id="14" name="Text 12"/>
          <p:cNvSpPr/>
          <p:nvPr/>
        </p:nvSpPr>
        <p:spPr>
          <a:xfrm>
            <a:off x="256032" y="1810512"/>
            <a:ext cx="4169664"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ACTION VERBS — CAN use -ing</a:t>
            </a:r>
            <a:endParaRPr lang="en-US" sz="1200" dirty="0"/>
          </a:p>
        </p:txBody>
      </p:sp>
      <p:sp>
        <p:nvSpPr>
          <p:cNvPr id="15" name="Text 13"/>
          <p:cNvSpPr/>
          <p:nvPr/>
        </p:nvSpPr>
        <p:spPr>
          <a:xfrm>
            <a:off x="347472" y="2322576"/>
            <a:ext cx="3986784" cy="292608"/>
          </a:xfrm>
          <a:prstGeom prst="rect">
            <a:avLst/>
          </a:prstGeom>
          <a:noFill/>
          <a:ln/>
        </p:spPr>
        <p:txBody>
          <a:bodyPr wrap="square" rtlCol="0" anchor="ctr"/>
          <a:lstStyle/>
          <a:p>
            <a:pPr marL="0" indent="0">
              <a:buNone/>
            </a:pPr>
            <a:r>
              <a:rPr lang="en-US" sz="1200" b="1" dirty="0">
                <a:solidFill>
                  <a:srgbClr val="111827"/>
                </a:solidFill>
                <a:latin typeface="Calibri" pitchFamily="34" charset="0"/>
                <a:ea typeface="Calibri" pitchFamily="34" charset="-122"/>
                <a:cs typeface="Calibri" pitchFamily="34" charset="-120"/>
              </a:rPr>
              <a:t>Things you DO — physical or active.</a:t>
            </a:r>
            <a:endParaRPr lang="en-US" sz="1200" dirty="0"/>
          </a:p>
        </p:txBody>
      </p:sp>
      <p:sp>
        <p:nvSpPr>
          <p:cNvPr id="16" name="Text 14"/>
          <p:cNvSpPr/>
          <p:nvPr/>
        </p:nvSpPr>
        <p:spPr>
          <a:xfrm>
            <a:off x="347472" y="2651760"/>
            <a:ext cx="3986784" cy="640080"/>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run · eat · watch · play · cook · read</a:t>
            </a:r>
            <a:endParaRPr lang="en-US" sz="1300" dirty="0"/>
          </a:p>
          <a:p>
            <a:pPr marL="0" indent="0">
              <a:buNone/>
            </a:pPr>
            <a:r>
              <a:rPr lang="en-US" sz="1300" i="1" dirty="0">
                <a:solidFill>
                  <a:srgbClr val="111827"/>
                </a:solidFill>
                <a:latin typeface="Calibri" pitchFamily="34" charset="0"/>
                <a:ea typeface="Calibri" pitchFamily="34" charset="-122"/>
                <a:cs typeface="Calibri" pitchFamily="34" charset="-120"/>
              </a:rPr>
              <a:t>go · listen · write · sit · talk</a:t>
            </a:r>
            <a:endParaRPr lang="en-US" sz="1300" dirty="0"/>
          </a:p>
        </p:txBody>
      </p:sp>
      <p:sp>
        <p:nvSpPr>
          <p:cNvPr id="17" name="Shape 15"/>
          <p:cNvSpPr/>
          <p:nvPr/>
        </p:nvSpPr>
        <p:spPr>
          <a:xfrm>
            <a:off x="347472" y="3364992"/>
            <a:ext cx="3803904" cy="548640"/>
          </a:xfrm>
          <a:prstGeom prst="rect">
            <a:avLst/>
          </a:prstGeom>
          <a:solidFill>
            <a:srgbClr val="FFFFFF"/>
          </a:solidFill>
          <a:ln w="12700">
            <a:solidFill>
              <a:srgbClr val="0D7377"/>
            </a:solidFill>
            <a:prstDash val="solid"/>
          </a:ln>
        </p:spPr>
      </p:sp>
      <p:sp>
        <p:nvSpPr>
          <p:cNvPr id="18" name="Text 16"/>
          <p:cNvSpPr/>
          <p:nvPr/>
        </p:nvSpPr>
        <p:spPr>
          <a:xfrm>
            <a:off x="438912" y="3364992"/>
            <a:ext cx="3621024" cy="548640"/>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  I am watching TV. (correct!)</a:t>
            </a:r>
            <a:endParaRPr lang="en-US" sz="1300" dirty="0"/>
          </a:p>
        </p:txBody>
      </p:sp>
      <p:sp>
        <p:nvSpPr>
          <p:cNvPr id="19" name="Shape 17"/>
          <p:cNvSpPr/>
          <p:nvPr/>
        </p:nvSpPr>
        <p:spPr>
          <a:xfrm>
            <a:off x="4718304" y="1810512"/>
            <a:ext cx="4169664" cy="3017520"/>
          </a:xfrm>
          <a:prstGeom prst="rect">
            <a:avLst/>
          </a:prstGeom>
          <a:solidFill>
            <a:srgbClr val="FDE8E8"/>
          </a:solidFill>
          <a:ln w="12700">
            <a:solidFill>
              <a:srgbClr val="E53E3E"/>
            </a:solidFill>
            <a:prstDash val="solid"/>
          </a:ln>
        </p:spPr>
      </p:sp>
      <p:sp>
        <p:nvSpPr>
          <p:cNvPr id="20" name="Shape 18"/>
          <p:cNvSpPr/>
          <p:nvPr/>
        </p:nvSpPr>
        <p:spPr>
          <a:xfrm>
            <a:off x="4718304" y="1810512"/>
            <a:ext cx="4169664" cy="438912"/>
          </a:xfrm>
          <a:prstGeom prst="rect">
            <a:avLst/>
          </a:prstGeom>
          <a:solidFill>
            <a:srgbClr val="E53E3E"/>
          </a:solidFill>
          <a:ln w="12700">
            <a:solidFill>
              <a:srgbClr val="E53E3E"/>
            </a:solidFill>
            <a:prstDash val="solid"/>
          </a:ln>
        </p:spPr>
      </p:sp>
      <p:sp>
        <p:nvSpPr>
          <p:cNvPr id="21" name="Text 19"/>
          <p:cNvSpPr/>
          <p:nvPr/>
        </p:nvSpPr>
        <p:spPr>
          <a:xfrm>
            <a:off x="4718304" y="1810512"/>
            <a:ext cx="4169664"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STATIVE VERBS — NEVER use -ing</a:t>
            </a:r>
            <a:endParaRPr lang="en-US" sz="1200" dirty="0"/>
          </a:p>
        </p:txBody>
      </p:sp>
      <p:sp>
        <p:nvSpPr>
          <p:cNvPr id="22" name="Text 20"/>
          <p:cNvSpPr/>
          <p:nvPr/>
        </p:nvSpPr>
        <p:spPr>
          <a:xfrm>
            <a:off x="4809744" y="2322576"/>
            <a:ext cx="3986784" cy="292608"/>
          </a:xfrm>
          <a:prstGeom prst="rect">
            <a:avLst/>
          </a:prstGeom>
          <a:noFill/>
          <a:ln/>
        </p:spPr>
        <p:txBody>
          <a:bodyPr wrap="square" rtlCol="0" anchor="ctr"/>
          <a:lstStyle/>
          <a:p>
            <a:pPr marL="0" indent="0">
              <a:buNone/>
            </a:pPr>
            <a:r>
              <a:rPr lang="en-US" sz="1200" b="1" dirty="0">
                <a:solidFill>
                  <a:srgbClr val="111827"/>
                </a:solidFill>
                <a:latin typeface="Calibri" pitchFamily="34" charset="0"/>
                <a:ea typeface="Calibri" pitchFamily="34" charset="-122"/>
                <a:cs typeface="Calibri" pitchFamily="34" charset="-120"/>
              </a:rPr>
              <a:t>Feelings, thoughts, senses, possession.</a:t>
            </a:r>
            <a:endParaRPr lang="en-US" sz="1200" dirty="0"/>
          </a:p>
        </p:txBody>
      </p:sp>
      <p:sp>
        <p:nvSpPr>
          <p:cNvPr id="23" name="Text 21"/>
          <p:cNvSpPr/>
          <p:nvPr/>
        </p:nvSpPr>
        <p:spPr>
          <a:xfrm>
            <a:off x="4809744" y="2651760"/>
            <a:ext cx="3986784" cy="640080"/>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know · like · love · hate · want · need</a:t>
            </a:r>
            <a:endParaRPr lang="en-US" sz="1300" dirty="0"/>
          </a:p>
          <a:p>
            <a:pPr marL="0" indent="0">
              <a:buNone/>
            </a:pPr>
            <a:r>
              <a:rPr lang="en-US" sz="1300" i="1" dirty="0">
                <a:solidFill>
                  <a:srgbClr val="111827"/>
                </a:solidFill>
                <a:latin typeface="Calibri" pitchFamily="34" charset="0"/>
                <a:ea typeface="Calibri" pitchFamily="34" charset="-122"/>
                <a:cs typeface="Calibri" pitchFamily="34" charset="-120"/>
              </a:rPr>
              <a:t>believe · understand · prefer · remember</a:t>
            </a:r>
            <a:endParaRPr lang="en-US" sz="1300" dirty="0"/>
          </a:p>
        </p:txBody>
      </p:sp>
      <p:sp>
        <p:nvSpPr>
          <p:cNvPr id="24" name="Shape 22"/>
          <p:cNvSpPr/>
          <p:nvPr/>
        </p:nvSpPr>
        <p:spPr>
          <a:xfrm>
            <a:off x="4809744" y="3364992"/>
            <a:ext cx="3803904" cy="548640"/>
          </a:xfrm>
          <a:prstGeom prst="rect">
            <a:avLst/>
          </a:prstGeom>
          <a:solidFill>
            <a:srgbClr val="FFFFFF"/>
          </a:solidFill>
          <a:ln w="12700">
            <a:solidFill>
              <a:srgbClr val="E53E3E"/>
            </a:solidFill>
            <a:prstDash val="solid"/>
          </a:ln>
        </p:spPr>
      </p:sp>
      <p:sp>
        <p:nvSpPr>
          <p:cNvPr id="25" name="Text 23"/>
          <p:cNvSpPr/>
          <p:nvPr/>
        </p:nvSpPr>
        <p:spPr>
          <a:xfrm>
            <a:off x="4901184" y="3364992"/>
            <a:ext cx="3621024" cy="548640"/>
          </a:xfrm>
          <a:prstGeom prst="rect">
            <a:avLst/>
          </a:prstGeom>
          <a:noFill/>
          <a:ln/>
        </p:spPr>
        <p:txBody>
          <a:bodyPr wrap="square" lIns="0" tIns="0" rIns="0" bIns="0" rtlCol="0" anchor="ctr"/>
          <a:lstStyle/>
          <a:p>
            <a:pPr marL="0" indent="0">
              <a:buNone/>
            </a:pPr>
            <a:r>
              <a:rPr lang="en-US" sz="1200" b="1" dirty="0">
                <a:solidFill>
                  <a:srgbClr val="E53E3E"/>
                </a:solidFill>
                <a:latin typeface="Calibri" pitchFamily="34" charset="0"/>
                <a:ea typeface="Calibri" pitchFamily="34" charset="-122"/>
                <a:cs typeface="Calibri" pitchFamily="34" charset="-120"/>
              </a:rPr>
              <a:t>❌  I am knowing the answer.  →  ✅  I know.</a:t>
            </a:r>
            <a:endParaRPr lang="en-US" sz="1200" dirty="0"/>
          </a:p>
        </p:txBody>
      </p:sp>
      <p:sp>
        <p:nvSpPr>
          <p:cNvPr id="26" name="Shape 24"/>
          <p:cNvSpPr/>
          <p:nvPr/>
        </p:nvSpPr>
        <p:spPr>
          <a:xfrm>
            <a:off x="256032" y="4901184"/>
            <a:ext cx="8631936" cy="164592"/>
          </a:xfrm>
          <a:prstGeom prst="rect">
            <a:avLst/>
          </a:prstGeom>
          <a:solidFill>
            <a:srgbClr val="FEF9E7"/>
          </a:solidFill>
          <a:ln w="12700">
            <a:solidFill>
              <a:srgbClr val="F4A261"/>
            </a:solidFill>
            <a:prstDash val="solid"/>
          </a:ln>
        </p:spPr>
      </p:sp>
      <p:sp>
        <p:nvSpPr>
          <p:cNvPr id="27" name="Shape 25"/>
          <p:cNvSpPr/>
          <p:nvPr/>
        </p:nvSpPr>
        <p:spPr>
          <a:xfrm>
            <a:off x="256032" y="4901184"/>
            <a:ext cx="109728" cy="164592"/>
          </a:xfrm>
          <a:prstGeom prst="rect">
            <a:avLst/>
          </a:prstGeom>
          <a:solidFill>
            <a:srgbClr val="F4A261"/>
          </a:solidFill>
          <a:ln w="12700">
            <a:solidFill>
              <a:srgbClr val="F4A261"/>
            </a:solidFill>
            <a:prstDash val="solid"/>
          </a:ln>
        </p:spPr>
      </p:sp>
      <p:sp>
        <p:nvSpPr>
          <p:cNvPr id="28" name="Text 26"/>
          <p:cNvSpPr/>
          <p:nvPr/>
        </p:nvSpPr>
        <p:spPr>
          <a:xfrm>
            <a:off x="438912" y="4956048"/>
            <a:ext cx="8375904" cy="54864"/>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GYM TRICK: If you can do it at the gym → ACTION verb (run, eat, play). You cannot 'know' or 'like' at the gym! → STATIVE verb.</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2 — Part C: Exercise 2 — Check Your Answers</a:t>
            </a:r>
            <a:endParaRPr lang="en-US" sz="2000" dirty="0"/>
          </a:p>
        </p:txBody>
      </p:sp>
      <p:sp>
        <p:nvSpPr>
          <p:cNvPr id="5" name="Shape 3"/>
          <p:cNvSpPr/>
          <p:nvPr/>
        </p:nvSpPr>
        <p:spPr>
          <a:xfrm>
            <a:off x="7315200" y="128016"/>
            <a:ext cx="1645920" cy="402336"/>
          </a:xfrm>
          <a:prstGeom prst="rect">
            <a:avLst/>
          </a:prstGeom>
          <a:solidFill>
            <a:srgbClr val="0D7377"/>
          </a:solidFill>
          <a:ln w="12700">
            <a:solidFill>
              <a:srgbClr val="0D7377"/>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ANSWERS</a:t>
            </a:r>
            <a:endParaRPr lang="en-US" sz="1100" dirty="0"/>
          </a:p>
        </p:txBody>
      </p:sp>
      <p:sp>
        <p:nvSpPr>
          <p:cNvPr id="7" name="Text 5"/>
          <p:cNvSpPr/>
          <p:nvPr/>
        </p:nvSpPr>
        <p:spPr>
          <a:xfrm>
            <a:off x="256032" y="749808"/>
            <a:ext cx="8631936" cy="329184"/>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This exercise tests BOTH stative verbs AND choosing the right tense. Check carefully.</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56032" y="1133856"/>
          <a:ext cx="8631936" cy="3794760"/>
        </p:xfrm>
        <a:graphic>
          <a:graphicData uri="http://schemas.openxmlformats.org/drawingml/2006/table">
            <a:tbl>
              <a:tblPr/>
              <a:tblGrid>
                <a:gridCol w="365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3877056">
                  <a:extLst>
                    <a:ext uri="{9D8B030D-6E8A-4147-A177-3AD203B41FA5}">
                      <a16:colId xmlns:a16="http://schemas.microsoft.com/office/drawing/2014/main" val="20003"/>
                    </a:ext>
                  </a:extLst>
                </a:gridCol>
              </a:tblGrid>
              <a:tr h="542109">
                <a:tc>
                  <a:txBody>
                    <a:bodyP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a:t>
                      </a:r>
                      <a:endParaRPr lang="en-US" sz="11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Sentence</a:t>
                      </a:r>
                      <a:endParaRPr lang="en-US" sz="11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Answer</a:t>
                      </a:r>
                      <a:endParaRPr lang="en-US" sz="11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Why?</a:t>
                      </a:r>
                      <a:endParaRPr lang="en-US" sz="11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542109">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1.</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He _______ this film. (like)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200" b="1" dirty="0">
                          <a:solidFill>
                            <a:srgbClr val="0D7377"/>
                          </a:solidFill>
                          <a:latin typeface="Trebuchet MS" pitchFamily="34" charset="0"/>
                          <a:ea typeface="Trebuchet MS" pitchFamily="34" charset="-122"/>
                          <a:cs typeface="Trebuchet MS" pitchFamily="34" charset="-120"/>
                        </a:rPr>
                        <a:t>B — likes</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4EDDA"/>
                    </a:solidFill>
                  </a:tcPr>
                </a:tc>
                <a:tc>
                  <a:txBody>
                    <a:bodyPr/>
                    <a:lstStyle/>
                    <a:p>
                      <a:pPr marL="0" indent="0">
                        <a:buNone/>
                      </a:pPr>
                      <a:r>
                        <a:rPr lang="en-US" sz="1100" i="1" dirty="0">
                          <a:solidFill>
                            <a:srgbClr val="7D4E00"/>
                          </a:solidFill>
                          <a:latin typeface="Calibri" pitchFamily="34" charset="0"/>
                          <a:ea typeface="Calibri" pitchFamily="34" charset="-122"/>
                          <a:cs typeface="Calibri" pitchFamily="34" charset="-120"/>
                        </a:rPr>
                        <a:t>STATIVE verb. Never use -ing with 'like'!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EF9E7"/>
                    </a:solidFill>
                  </a:tcPr>
                </a:tc>
                <a:extLst>
                  <a:ext uri="{0D108BD9-81ED-4DB2-BD59-A6C34878D82A}">
                    <a16:rowId xmlns:a16="http://schemas.microsoft.com/office/drawing/2014/main" val="10001"/>
                  </a:ext>
                </a:extLst>
              </a:tr>
              <a:tr h="542109">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2.</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They _______ dinner right now. (cook)</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b="1" dirty="0">
                          <a:solidFill>
                            <a:srgbClr val="0D7377"/>
                          </a:solidFill>
                          <a:latin typeface="Trebuchet MS" pitchFamily="34" charset="0"/>
                          <a:ea typeface="Trebuchet MS" pitchFamily="34" charset="-122"/>
                          <a:cs typeface="Trebuchet MS" pitchFamily="34" charset="-120"/>
                        </a:rPr>
                        <a:t>A — are cooking</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4EDDA"/>
                    </a:solidFill>
                  </a:tcPr>
                </a:tc>
                <a:tc>
                  <a:txBody>
                    <a:bodyPr/>
                    <a:lstStyle/>
                    <a:p>
                      <a:pPr marL="0" indent="0">
                        <a:buNone/>
                      </a:pPr>
                      <a:r>
                        <a:rPr lang="en-US" sz="1100" i="1" dirty="0">
                          <a:solidFill>
                            <a:srgbClr val="7D4E00"/>
                          </a:solidFill>
                          <a:latin typeface="Calibri" pitchFamily="34" charset="0"/>
                          <a:ea typeface="Calibri" pitchFamily="34" charset="-122"/>
                          <a:cs typeface="Calibri" pitchFamily="34" charset="-120"/>
                        </a:rPr>
                        <a:t>ACTION verb. Happening NOW → present continuous.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EF9E7"/>
                    </a:solidFill>
                  </a:tcPr>
                </a:tc>
                <a:extLst>
                  <a:ext uri="{0D108BD9-81ED-4DB2-BD59-A6C34878D82A}">
                    <a16:rowId xmlns:a16="http://schemas.microsoft.com/office/drawing/2014/main" val="10002"/>
                  </a:ext>
                </a:extLst>
              </a:tr>
              <a:tr h="542109">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3.</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I _______ you! (not understand)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200" b="1" dirty="0">
                          <a:solidFill>
                            <a:srgbClr val="0D7377"/>
                          </a:solidFill>
                          <a:latin typeface="Trebuchet MS" pitchFamily="34" charset="0"/>
                          <a:ea typeface="Trebuchet MS" pitchFamily="34" charset="-122"/>
                          <a:cs typeface="Trebuchet MS" pitchFamily="34" charset="-120"/>
                        </a:rPr>
                        <a:t>B — don't understand</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4EDDA"/>
                    </a:solidFill>
                  </a:tcPr>
                </a:tc>
                <a:tc>
                  <a:txBody>
                    <a:bodyPr/>
                    <a:lstStyle/>
                    <a:p>
                      <a:pPr marL="0" indent="0">
                        <a:buNone/>
                      </a:pPr>
                      <a:r>
                        <a:rPr lang="en-US" sz="1100" i="1" dirty="0">
                          <a:solidFill>
                            <a:srgbClr val="7D4E00"/>
                          </a:solidFill>
                          <a:latin typeface="Calibri" pitchFamily="34" charset="0"/>
                          <a:ea typeface="Calibri" pitchFamily="34" charset="-122"/>
                          <a:cs typeface="Calibri" pitchFamily="34" charset="-120"/>
                        </a:rPr>
                        <a:t>STATIVE verb. 'Understand' cannot use -ing.</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EF9E7"/>
                    </a:solidFill>
                  </a:tcPr>
                </a:tc>
                <a:extLst>
                  <a:ext uri="{0D108BD9-81ED-4DB2-BD59-A6C34878D82A}">
                    <a16:rowId xmlns:a16="http://schemas.microsoft.com/office/drawing/2014/main" val="10003"/>
                  </a:ext>
                </a:extLst>
              </a:tr>
              <a:tr h="542109">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4.</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She _______ to the cinema tonight. (go)</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b="1" dirty="0">
                          <a:solidFill>
                            <a:srgbClr val="0D7377"/>
                          </a:solidFill>
                          <a:latin typeface="Trebuchet MS" pitchFamily="34" charset="0"/>
                          <a:ea typeface="Trebuchet MS" pitchFamily="34" charset="-122"/>
                          <a:cs typeface="Trebuchet MS" pitchFamily="34" charset="-120"/>
                        </a:rPr>
                        <a:t>B — is going</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4EDDA"/>
                    </a:solidFill>
                  </a:tcPr>
                </a:tc>
                <a:tc>
                  <a:txBody>
                    <a:bodyPr/>
                    <a:lstStyle/>
                    <a:p>
                      <a:pPr marL="0" indent="0">
                        <a:buNone/>
                      </a:pPr>
                      <a:r>
                        <a:rPr lang="en-US" sz="1100" i="1" dirty="0">
                          <a:solidFill>
                            <a:srgbClr val="7D4E00"/>
                          </a:solidFill>
                          <a:latin typeface="Calibri" pitchFamily="34" charset="0"/>
                          <a:ea typeface="Calibri" pitchFamily="34" charset="-122"/>
                          <a:cs typeface="Calibri" pitchFamily="34" charset="-120"/>
                        </a:rPr>
                        <a:t>Future plan (tonight) → present continuous.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EF9E7"/>
                    </a:solidFill>
                  </a:tcPr>
                </a:tc>
                <a:extLst>
                  <a:ext uri="{0D108BD9-81ED-4DB2-BD59-A6C34878D82A}">
                    <a16:rowId xmlns:a16="http://schemas.microsoft.com/office/drawing/2014/main" val="10004"/>
                  </a:ext>
                </a:extLst>
              </a:tr>
              <a:tr h="542109">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5.</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We _______ board games on weekends. (play)</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200" b="1" dirty="0">
                          <a:solidFill>
                            <a:srgbClr val="0D7377"/>
                          </a:solidFill>
                          <a:latin typeface="Trebuchet MS" pitchFamily="34" charset="0"/>
                          <a:ea typeface="Trebuchet MS" pitchFamily="34" charset="-122"/>
                          <a:cs typeface="Trebuchet MS" pitchFamily="34" charset="-120"/>
                        </a:rPr>
                        <a:t>A — play</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4EDDA"/>
                    </a:solidFill>
                  </a:tcPr>
                </a:tc>
                <a:tc>
                  <a:txBody>
                    <a:bodyPr/>
                    <a:lstStyle/>
                    <a:p>
                      <a:pPr marL="0" indent="0">
                        <a:buNone/>
                      </a:pPr>
                      <a:r>
                        <a:rPr lang="en-US" sz="1100" i="1" dirty="0">
                          <a:solidFill>
                            <a:srgbClr val="7D4E00"/>
                          </a:solidFill>
                          <a:latin typeface="Calibri" pitchFamily="34" charset="0"/>
                          <a:ea typeface="Calibri" pitchFamily="34" charset="-122"/>
                          <a:cs typeface="Calibri" pitchFamily="34" charset="-120"/>
                        </a:rPr>
                        <a:t>Habit / routine → simple present.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EF9E7"/>
                    </a:solidFill>
                  </a:tcPr>
                </a:tc>
                <a:extLst>
                  <a:ext uri="{0D108BD9-81ED-4DB2-BD59-A6C34878D82A}">
                    <a16:rowId xmlns:a16="http://schemas.microsoft.com/office/drawing/2014/main" val="10005"/>
                  </a:ext>
                </a:extLst>
              </a:tr>
              <a:tr h="542109">
                <a:tc>
                  <a:txBody>
                    <a:bodyP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6.</a:t>
                      </a:r>
                      <a:endParaRPr lang="en-US" sz="13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He _______ to watch a movie tomorrow. (want)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b="1" dirty="0">
                          <a:solidFill>
                            <a:srgbClr val="0D7377"/>
                          </a:solidFill>
                          <a:latin typeface="Trebuchet MS" pitchFamily="34" charset="0"/>
                          <a:ea typeface="Trebuchet MS" pitchFamily="34" charset="-122"/>
                          <a:cs typeface="Trebuchet MS" pitchFamily="34" charset="-120"/>
                        </a:rPr>
                        <a:t>B — wants</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4EDDA"/>
                    </a:solidFill>
                  </a:tcPr>
                </a:tc>
                <a:tc>
                  <a:txBody>
                    <a:bodyPr/>
                    <a:lstStyle/>
                    <a:p>
                      <a:pPr marL="0" indent="0">
                        <a:buNone/>
                      </a:pPr>
                      <a:r>
                        <a:rPr lang="en-US" sz="1100" i="1" dirty="0">
                          <a:solidFill>
                            <a:srgbClr val="7D4E00"/>
                          </a:solidFill>
                          <a:latin typeface="Calibri" pitchFamily="34" charset="0"/>
                          <a:ea typeface="Calibri" pitchFamily="34" charset="-122"/>
                          <a:cs typeface="Calibri" pitchFamily="34" charset="-120"/>
                        </a:rPr>
                        <a:t>STATIVE verb. 'Want' cannot use -ing.</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EF9E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2 — Pair Task 3: Your Turn to Speak!</a:t>
            </a:r>
            <a:endParaRPr lang="en-US" sz="2000" dirty="0"/>
          </a:p>
        </p:txBody>
      </p:sp>
      <p:sp>
        <p:nvSpPr>
          <p:cNvPr id="5" name="Shape 3"/>
          <p:cNvSpPr/>
          <p:nvPr/>
        </p:nvSpPr>
        <p:spPr>
          <a:xfrm>
            <a:off x="7315200" y="128016"/>
            <a:ext cx="1645920" cy="402336"/>
          </a:xfrm>
          <a:prstGeom prst="rect">
            <a:avLst/>
          </a:prstGeom>
          <a:solidFill>
            <a:srgbClr val="0D7377"/>
          </a:solidFill>
          <a:ln w="12700">
            <a:solidFill>
              <a:srgbClr val="0D7377"/>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PAIR WORK</a:t>
            </a:r>
            <a:endParaRPr lang="en-US" sz="1100" dirty="0"/>
          </a:p>
        </p:txBody>
      </p:sp>
      <p:sp>
        <p:nvSpPr>
          <p:cNvPr id="7" name="Shape 5"/>
          <p:cNvSpPr/>
          <p:nvPr/>
        </p:nvSpPr>
        <p:spPr>
          <a:xfrm>
            <a:off x="256032" y="749808"/>
            <a:ext cx="8631936" cy="1828800"/>
          </a:xfrm>
          <a:prstGeom prst="rect">
            <a:avLst/>
          </a:prstGeom>
          <a:solidFill>
            <a:srgbClr val="D1F2EB"/>
          </a:solidFill>
          <a:ln w="12700">
            <a:solidFill>
              <a:srgbClr val="0D7377"/>
            </a:solidFill>
            <a:prstDash val="solid"/>
          </a:ln>
        </p:spPr>
      </p:sp>
      <p:sp>
        <p:nvSpPr>
          <p:cNvPr id="8" name="Shape 6"/>
          <p:cNvSpPr/>
          <p:nvPr/>
        </p:nvSpPr>
        <p:spPr>
          <a:xfrm>
            <a:off x="256032" y="749808"/>
            <a:ext cx="109728" cy="1828800"/>
          </a:xfrm>
          <a:prstGeom prst="rect">
            <a:avLst/>
          </a:prstGeom>
          <a:solidFill>
            <a:srgbClr val="0D7377"/>
          </a:solidFill>
          <a:ln w="12700">
            <a:solidFill>
              <a:srgbClr val="0D7377"/>
            </a:solidFill>
            <a:prstDash val="solid"/>
          </a:ln>
        </p:spPr>
      </p:sp>
      <p:sp>
        <p:nvSpPr>
          <p:cNvPr id="9" name="Shape 7"/>
          <p:cNvSpPr/>
          <p:nvPr/>
        </p:nvSpPr>
        <p:spPr>
          <a:xfrm>
            <a:off x="438912" y="822960"/>
            <a:ext cx="1828800" cy="292608"/>
          </a:xfrm>
          <a:prstGeom prst="rect">
            <a:avLst/>
          </a:prstGeom>
          <a:solidFill>
            <a:srgbClr val="0D7377"/>
          </a:solidFill>
          <a:ln w="12700">
            <a:solidFill>
              <a:srgbClr val="0D7377"/>
            </a:solidFill>
            <a:prstDash val="solid"/>
          </a:ln>
        </p:spPr>
      </p:sp>
      <p:sp>
        <p:nvSpPr>
          <p:cNvPr id="10" name="Text 8"/>
          <p:cNvSpPr/>
          <p:nvPr/>
        </p:nvSpPr>
        <p:spPr>
          <a:xfrm>
            <a:off x="438912" y="822960"/>
            <a:ext cx="18288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PAIR / GROUP TASK</a:t>
            </a:r>
            <a:endParaRPr lang="en-US" sz="1100" dirty="0"/>
          </a:p>
        </p:txBody>
      </p:sp>
      <p:sp>
        <p:nvSpPr>
          <p:cNvPr id="11" name="Text 9"/>
          <p:cNvSpPr/>
          <p:nvPr/>
        </p:nvSpPr>
        <p:spPr>
          <a:xfrm>
            <a:off x="438912" y="1170432"/>
            <a:ext cx="8357616" cy="1335024"/>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PART 1 — HABITS (Simple Present)</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Tell your partner 3 things you do regularly.</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Use signal words: every day / usually / always / never.</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Example: "I usually watch TV after dinner." or "I never cook on Mondays."</a:t>
            </a:r>
            <a:endParaRPr lang="en-US" sz="1300" dirty="0"/>
          </a:p>
        </p:txBody>
      </p:sp>
      <p:sp>
        <p:nvSpPr>
          <p:cNvPr id="12" name="Shape 10"/>
          <p:cNvSpPr/>
          <p:nvPr/>
        </p:nvSpPr>
        <p:spPr>
          <a:xfrm>
            <a:off x="256032" y="2724912"/>
            <a:ext cx="8631936" cy="1828800"/>
          </a:xfrm>
          <a:prstGeom prst="rect">
            <a:avLst/>
          </a:prstGeom>
          <a:solidFill>
            <a:srgbClr val="D1F2EB"/>
          </a:solidFill>
          <a:ln w="12700">
            <a:solidFill>
              <a:srgbClr val="0D7377"/>
            </a:solidFill>
            <a:prstDash val="solid"/>
          </a:ln>
        </p:spPr>
      </p:sp>
      <p:sp>
        <p:nvSpPr>
          <p:cNvPr id="13" name="Shape 11"/>
          <p:cNvSpPr/>
          <p:nvPr/>
        </p:nvSpPr>
        <p:spPr>
          <a:xfrm>
            <a:off x="256032" y="2724912"/>
            <a:ext cx="109728" cy="1828800"/>
          </a:xfrm>
          <a:prstGeom prst="rect">
            <a:avLst/>
          </a:prstGeom>
          <a:solidFill>
            <a:srgbClr val="0D7377"/>
          </a:solidFill>
          <a:ln w="12700">
            <a:solidFill>
              <a:srgbClr val="0D7377"/>
            </a:solidFill>
            <a:prstDash val="solid"/>
          </a:ln>
        </p:spPr>
      </p:sp>
      <p:sp>
        <p:nvSpPr>
          <p:cNvPr id="14" name="Shape 12"/>
          <p:cNvSpPr/>
          <p:nvPr/>
        </p:nvSpPr>
        <p:spPr>
          <a:xfrm>
            <a:off x="438912" y="2798064"/>
            <a:ext cx="1828800" cy="292608"/>
          </a:xfrm>
          <a:prstGeom prst="rect">
            <a:avLst/>
          </a:prstGeom>
          <a:solidFill>
            <a:srgbClr val="0D7377"/>
          </a:solidFill>
          <a:ln w="12700">
            <a:solidFill>
              <a:srgbClr val="0D7377"/>
            </a:solidFill>
            <a:prstDash val="solid"/>
          </a:ln>
        </p:spPr>
      </p:sp>
      <p:sp>
        <p:nvSpPr>
          <p:cNvPr id="15" name="Text 13"/>
          <p:cNvSpPr/>
          <p:nvPr/>
        </p:nvSpPr>
        <p:spPr>
          <a:xfrm>
            <a:off x="438912" y="2798064"/>
            <a:ext cx="18288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PAIR / GROUP TASK</a:t>
            </a:r>
            <a:endParaRPr lang="en-US" sz="1100" dirty="0"/>
          </a:p>
        </p:txBody>
      </p:sp>
      <p:sp>
        <p:nvSpPr>
          <p:cNvPr id="16" name="Text 14"/>
          <p:cNvSpPr/>
          <p:nvPr/>
        </p:nvSpPr>
        <p:spPr>
          <a:xfrm>
            <a:off x="438912" y="3145536"/>
            <a:ext cx="8357616" cy="1335024"/>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PART 2 — PLANS (Present Continuous)</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Tell your partner 3 things you are doing this week — already planned.</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Use time words: tonight / tomorrow / on Saturday / this weekend.</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Example: "I am meeting my friends on Saturday." or "We are going to a restaurant tonight."</a:t>
            </a:r>
            <a:endParaRPr lang="en-US" sz="1300" dirty="0"/>
          </a:p>
        </p:txBody>
      </p:sp>
      <p:sp>
        <p:nvSpPr>
          <p:cNvPr id="17" name="Shape 15"/>
          <p:cNvSpPr/>
          <p:nvPr/>
        </p:nvSpPr>
        <p:spPr>
          <a:xfrm>
            <a:off x="256032" y="4645152"/>
            <a:ext cx="8631936" cy="384048"/>
          </a:xfrm>
          <a:prstGeom prst="rect">
            <a:avLst/>
          </a:prstGeom>
          <a:solidFill>
            <a:srgbClr val="FEF9E7"/>
          </a:solidFill>
          <a:ln w="12700">
            <a:solidFill>
              <a:srgbClr val="F4A261"/>
            </a:solidFill>
            <a:prstDash val="solid"/>
          </a:ln>
        </p:spPr>
      </p:sp>
      <p:sp>
        <p:nvSpPr>
          <p:cNvPr id="18" name="Shape 16"/>
          <p:cNvSpPr/>
          <p:nvPr/>
        </p:nvSpPr>
        <p:spPr>
          <a:xfrm>
            <a:off x="256032" y="4645152"/>
            <a:ext cx="109728" cy="384048"/>
          </a:xfrm>
          <a:prstGeom prst="rect">
            <a:avLst/>
          </a:prstGeom>
          <a:solidFill>
            <a:srgbClr val="F4A261"/>
          </a:solidFill>
          <a:ln w="12700">
            <a:solidFill>
              <a:srgbClr val="F4A261"/>
            </a:solidFill>
            <a:prstDash val="solid"/>
          </a:ln>
        </p:spPr>
      </p:sp>
      <p:sp>
        <p:nvSpPr>
          <p:cNvPr id="19" name="Text 17"/>
          <p:cNvSpPr/>
          <p:nvPr/>
        </p:nvSpPr>
        <p:spPr>
          <a:xfrm>
            <a:off x="438912" y="4700016"/>
            <a:ext cx="8375904" cy="274320"/>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REMEMBER: Stative verbs (know / like / want / prefer) → ALWAYS simple present. NEVER use -ing with these verbs!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6B"/>
          </a:solidFill>
          <a:ln w="12700">
            <a:solidFill>
              <a:srgbClr val="1B3A6B"/>
            </a:solidFill>
            <a:prstDash val="solid"/>
          </a:ln>
        </p:spPr>
      </p:sp>
      <p:sp>
        <p:nvSpPr>
          <p:cNvPr id="3" name="Shape 1"/>
          <p:cNvSpPr/>
          <p:nvPr/>
        </p:nvSpPr>
        <p:spPr>
          <a:xfrm>
            <a:off x="6217920" y="0"/>
            <a:ext cx="2926080" cy="5143500"/>
          </a:xfrm>
          <a:prstGeom prst="rect">
            <a:avLst/>
          </a:prstGeom>
          <a:solidFill>
            <a:srgbClr val="0D7377"/>
          </a:solidFill>
          <a:ln w="12700">
            <a:solidFill>
              <a:srgbClr val="0D7377"/>
            </a:solidFill>
            <a:prstDash val="solid"/>
          </a:ln>
        </p:spPr>
      </p:sp>
      <p:sp>
        <p:nvSpPr>
          <p:cNvPr id="4" name="Shape 2"/>
          <p:cNvSpPr/>
          <p:nvPr/>
        </p:nvSpPr>
        <p:spPr>
          <a:xfrm>
            <a:off x="6217920" y="0"/>
            <a:ext cx="73152" cy="5143500"/>
          </a:xfrm>
          <a:prstGeom prst="rect">
            <a:avLst/>
          </a:prstGeom>
          <a:solidFill>
            <a:srgbClr val="F4A261"/>
          </a:solidFill>
          <a:ln w="12700">
            <a:solidFill>
              <a:srgbClr val="F4A261"/>
            </a:solidFill>
            <a:prstDash val="solid"/>
          </a:ln>
        </p:spPr>
      </p:sp>
      <p:sp>
        <p:nvSpPr>
          <p:cNvPr id="5" name="Shape 3"/>
          <p:cNvSpPr/>
          <p:nvPr/>
        </p:nvSpPr>
        <p:spPr>
          <a:xfrm>
            <a:off x="411480" y="914400"/>
            <a:ext cx="2011680" cy="438912"/>
          </a:xfrm>
          <a:prstGeom prst="rect">
            <a:avLst/>
          </a:prstGeom>
          <a:solidFill>
            <a:srgbClr val="F4A261"/>
          </a:solidFill>
          <a:ln w="12700">
            <a:solidFill>
              <a:srgbClr val="F4A261"/>
            </a:solidFill>
            <a:prstDash val="solid"/>
          </a:ln>
        </p:spPr>
      </p:sp>
      <p:sp>
        <p:nvSpPr>
          <p:cNvPr id="6" name="Text 4"/>
          <p:cNvSpPr/>
          <p:nvPr/>
        </p:nvSpPr>
        <p:spPr>
          <a:xfrm>
            <a:off x="411480" y="914400"/>
            <a:ext cx="2011680" cy="438912"/>
          </a:xfrm>
          <a:prstGeom prst="rect">
            <a:avLst/>
          </a:prstGeom>
          <a:noFill/>
          <a:ln/>
        </p:spPr>
        <p:txBody>
          <a:bodyPr wrap="square" lIns="0" tIns="0" rIns="0" bIns="0" rtlCol="0" anchor="ctr"/>
          <a:lstStyle/>
          <a:p>
            <a:pPr marL="0" indent="0" algn="ctr">
              <a:buNone/>
            </a:pPr>
            <a:r>
              <a:rPr lang="en-US" sz="1100" b="1" dirty="0">
                <a:solidFill>
                  <a:srgbClr val="1B3A6B"/>
                </a:solidFill>
                <a:latin typeface="Trebuchet MS" pitchFamily="34" charset="0"/>
                <a:ea typeface="Trebuchet MS" pitchFamily="34" charset="-122"/>
                <a:cs typeface="Trebuchet MS" pitchFamily="34" charset="-120"/>
              </a:rPr>
              <a:t>MODULE 3</a:t>
            </a:r>
            <a:endParaRPr lang="en-US" sz="1100" dirty="0"/>
          </a:p>
        </p:txBody>
      </p:sp>
      <p:sp>
        <p:nvSpPr>
          <p:cNvPr id="7" name="Text 5"/>
          <p:cNvSpPr/>
          <p:nvPr/>
        </p:nvSpPr>
        <p:spPr>
          <a:xfrm>
            <a:off x="411480" y="1508760"/>
            <a:ext cx="5577840" cy="1280160"/>
          </a:xfrm>
          <a:prstGeom prst="rect">
            <a:avLst/>
          </a:prstGeom>
          <a:noFill/>
          <a:ln/>
        </p:spPr>
        <p:txBody>
          <a:bodyPr wrap="square"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Expressing Preferences</a:t>
            </a:r>
            <a:endParaRPr lang="en-US" sz="3800" dirty="0"/>
          </a:p>
        </p:txBody>
      </p:sp>
      <p:sp>
        <p:nvSpPr>
          <p:cNvPr id="8" name="Text 6"/>
          <p:cNvSpPr/>
          <p:nvPr/>
        </p:nvSpPr>
        <p:spPr>
          <a:xfrm>
            <a:off x="411480" y="2834640"/>
            <a:ext cx="5577840" cy="822960"/>
          </a:xfrm>
          <a:prstGeom prst="rect">
            <a:avLst/>
          </a:prstGeom>
          <a:noFill/>
          <a:ln/>
        </p:spPr>
        <p:txBody>
          <a:bodyPr wrap="square" rtlCol="0" anchor="ctr"/>
          <a:lstStyle/>
          <a:p>
            <a:pPr marL="0" indent="0">
              <a:buNone/>
            </a:pPr>
            <a:r>
              <a:rPr lang="en-US" sz="1600" i="1" dirty="0">
                <a:solidFill>
                  <a:srgbClr val="A8C4E0"/>
                </a:solidFill>
                <a:latin typeface="Calibri" pitchFamily="34" charset="0"/>
                <a:ea typeface="Calibri" pitchFamily="34" charset="-122"/>
                <a:cs typeface="Calibri" pitchFamily="34" charset="-120"/>
              </a:rPr>
              <a:t>Would rather · Prefer · As...as  —  Three ways to say what you like more</a:t>
            </a:r>
            <a:endParaRPr lang="en-US" sz="1600" dirty="0"/>
          </a:p>
        </p:txBody>
      </p:sp>
      <p:sp>
        <p:nvSpPr>
          <p:cNvPr id="9" name="Text 7"/>
          <p:cNvSpPr/>
          <p:nvPr/>
        </p:nvSpPr>
        <p:spPr>
          <a:xfrm>
            <a:off x="6400800" y="1645920"/>
            <a:ext cx="2560320" cy="201168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Blueprint 4</a:t>
            </a:r>
            <a:endParaRPr lang="en-US" sz="1600" dirty="0"/>
          </a:p>
          <a:p>
            <a:pPr marL="0" indent="0" algn="ctr">
              <a:buNone/>
            </a:pPr>
            <a:r>
              <a:rPr lang="en-US" sz="1600" dirty="0">
                <a:solidFill>
                  <a:srgbClr val="FFFFFF"/>
                </a:solidFill>
                <a:latin typeface="Calibri" pitchFamily="34" charset="0"/>
                <a:ea typeface="Calibri" pitchFamily="34" charset="-122"/>
                <a:cs typeface="Calibri" pitchFamily="34" charset="-120"/>
              </a:rPr>
              <a:t>B1 Intermediate</a:t>
            </a:r>
            <a:endParaRPr lang="en-US" sz="1600" dirty="0"/>
          </a:p>
          <a:p>
            <a:pPr marL="0" indent="0" algn="ctr">
              <a:buNone/>
            </a:pPr>
            <a:r>
              <a:rPr lang="en-US" sz="1600" dirty="0">
                <a:solidFill>
                  <a:srgbClr val="FFFFFF"/>
                </a:solidFill>
                <a:latin typeface="Calibri" pitchFamily="34" charset="0"/>
                <a:ea typeface="Calibri" pitchFamily="34" charset="-122"/>
                <a:cs typeface="Calibri" pitchFamily="34" charset="-120"/>
              </a:rPr>
              <a:t>GEP 9</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3 — Part A: Would Rather</a:t>
            </a:r>
            <a:endParaRPr lang="en-US" sz="2000" dirty="0"/>
          </a:p>
        </p:txBody>
      </p:sp>
      <p:sp>
        <p:nvSpPr>
          <p:cNvPr id="5" name="Shape 3"/>
          <p:cNvSpPr/>
          <p:nvPr/>
        </p:nvSpPr>
        <p:spPr>
          <a:xfrm>
            <a:off x="7315200" y="128016"/>
            <a:ext cx="1645920" cy="402336"/>
          </a:xfrm>
          <a:prstGeom prst="rect">
            <a:avLst/>
          </a:prstGeom>
          <a:solidFill>
            <a:srgbClr val="F4A261"/>
          </a:solidFill>
          <a:ln w="12700">
            <a:solidFill>
              <a:srgbClr val="F4A261"/>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WRITE THIS DOWN ✏</a:t>
            </a:r>
            <a:endParaRPr lang="en-US" sz="1100" dirty="0"/>
          </a:p>
        </p:txBody>
      </p:sp>
      <p:sp>
        <p:nvSpPr>
          <p:cNvPr id="7" name="Shape 5"/>
          <p:cNvSpPr/>
          <p:nvPr/>
        </p:nvSpPr>
        <p:spPr>
          <a:xfrm>
            <a:off x="256032" y="749808"/>
            <a:ext cx="8631936" cy="347472"/>
          </a:xfrm>
          <a:prstGeom prst="rect">
            <a:avLst/>
          </a:prstGeom>
          <a:solidFill>
            <a:srgbClr val="F4A261"/>
          </a:solidFill>
          <a:ln w="12700">
            <a:solidFill>
              <a:srgbClr val="E8873A"/>
            </a:solidFill>
            <a:prstDash val="solid"/>
          </a:ln>
        </p:spPr>
      </p:sp>
      <p:sp>
        <p:nvSpPr>
          <p:cNvPr id="8" name="Shape 6"/>
          <p:cNvSpPr/>
          <p:nvPr/>
        </p:nvSpPr>
        <p:spPr>
          <a:xfrm>
            <a:off x="256032" y="749808"/>
            <a:ext cx="109728" cy="347472"/>
          </a:xfrm>
          <a:prstGeom prst="rect">
            <a:avLst/>
          </a:prstGeom>
          <a:solidFill>
            <a:srgbClr val="E8873A"/>
          </a:solidFill>
          <a:ln w="12700">
            <a:solidFill>
              <a:srgbClr val="E8873A"/>
            </a:solidFill>
            <a:prstDash val="solid"/>
          </a:ln>
        </p:spPr>
      </p:sp>
      <p:sp>
        <p:nvSpPr>
          <p:cNvPr id="9" name="Text 7"/>
          <p:cNvSpPr/>
          <p:nvPr/>
        </p:nvSpPr>
        <p:spPr>
          <a:xfrm>
            <a:off x="420624" y="749808"/>
            <a:ext cx="8449056" cy="347472"/>
          </a:xfrm>
          <a:prstGeom prst="rect">
            <a:avLst/>
          </a:prstGeom>
          <a:noFill/>
          <a:ln/>
        </p:spPr>
        <p:txBody>
          <a:bodyPr wrap="square" lIns="0" tIns="0" rIns="0" bIns="0" rtlCol="0" anchor="ctr"/>
          <a:lstStyle/>
          <a:p>
            <a:pPr marL="0" indent="0">
              <a:buNone/>
            </a:pPr>
            <a:r>
              <a:rPr lang="en-US" sz="1200" b="1" dirty="0">
                <a:solidFill>
                  <a:srgbClr val="1B3A6B"/>
                </a:solidFill>
                <a:latin typeface="Trebuchet MS" pitchFamily="34" charset="0"/>
                <a:ea typeface="Trebuchet MS" pitchFamily="34" charset="-122"/>
                <a:cs typeface="Trebuchet MS" pitchFamily="34" charset="-120"/>
              </a:rPr>
              <a:t>✏  WRITE THIS DOWN</a:t>
            </a:r>
            <a:endParaRPr lang="en-US" sz="1200" dirty="0"/>
          </a:p>
        </p:txBody>
      </p:sp>
      <p:sp>
        <p:nvSpPr>
          <p:cNvPr id="10" name="Shape 8"/>
          <p:cNvSpPr/>
          <p:nvPr/>
        </p:nvSpPr>
        <p:spPr>
          <a:xfrm>
            <a:off x="256032" y="1170432"/>
            <a:ext cx="8631936" cy="621792"/>
          </a:xfrm>
          <a:prstGeom prst="rect">
            <a:avLst/>
          </a:prstGeom>
          <a:solidFill>
            <a:srgbClr val="1B3A6B"/>
          </a:solidFill>
          <a:ln w="12700">
            <a:solidFill>
              <a:srgbClr val="1B3A6B"/>
            </a:solidFill>
            <a:prstDash val="solid"/>
          </a:ln>
        </p:spPr>
      </p:sp>
      <p:sp>
        <p:nvSpPr>
          <p:cNvPr id="11" name="Shape 9"/>
          <p:cNvSpPr/>
          <p:nvPr/>
        </p:nvSpPr>
        <p:spPr>
          <a:xfrm>
            <a:off x="256032" y="1170432"/>
            <a:ext cx="137160" cy="621792"/>
          </a:xfrm>
          <a:prstGeom prst="rect">
            <a:avLst/>
          </a:prstGeom>
          <a:solidFill>
            <a:srgbClr val="F4A261"/>
          </a:solidFill>
          <a:ln w="12700">
            <a:solidFill>
              <a:srgbClr val="F4A261"/>
            </a:solidFill>
            <a:prstDash val="solid"/>
          </a:ln>
        </p:spPr>
      </p:sp>
      <p:sp>
        <p:nvSpPr>
          <p:cNvPr id="12" name="Text 10"/>
          <p:cNvSpPr/>
          <p:nvPr/>
        </p:nvSpPr>
        <p:spPr>
          <a:xfrm>
            <a:off x="457200" y="1170432"/>
            <a:ext cx="8321040" cy="621792"/>
          </a:xfrm>
          <a:prstGeom prst="rect">
            <a:avLst/>
          </a:prstGeom>
          <a:noFill/>
          <a:ln/>
        </p:spPr>
        <p:txBody>
          <a:bodyPr wrap="square" lIns="0" tIns="0" rIns="0" bIns="0" rtlCol="0" anchor="ctr"/>
          <a:lstStyle/>
          <a:p>
            <a:pPr marL="0" indent="0">
              <a:buNone/>
            </a:pPr>
            <a:r>
              <a:rPr lang="en-US" sz="1800" b="1" dirty="0">
                <a:solidFill>
                  <a:srgbClr val="F4A261"/>
                </a:solidFill>
                <a:latin typeface="Trebuchet MS" pitchFamily="34" charset="0"/>
                <a:ea typeface="Trebuchet MS" pitchFamily="34" charset="-122"/>
                <a:cs typeface="Trebuchet MS" pitchFamily="34" charset="-120"/>
              </a:rPr>
              <a:t>FORMULA:  </a:t>
            </a:r>
            <a:r>
              <a:rPr lang="en-US" sz="1800" dirty="0">
                <a:solidFill>
                  <a:srgbClr val="FFFFFF"/>
                </a:solidFill>
                <a:latin typeface="Trebuchet MS" pitchFamily="34" charset="0"/>
                <a:ea typeface="Trebuchet MS" pitchFamily="34" charset="-122"/>
                <a:cs typeface="Trebuchet MS" pitchFamily="34" charset="-120"/>
              </a:rPr>
              <a:t>Subject  +  would rather  +  </a:t>
            </a:r>
            <a:r>
              <a:rPr lang="en-US" sz="1800" b="1" dirty="0">
                <a:solidFill>
                  <a:srgbClr val="F4A261"/>
                </a:solidFill>
                <a:latin typeface="Trebuchet MS" pitchFamily="34" charset="0"/>
                <a:ea typeface="Trebuchet MS" pitchFamily="34" charset="-122"/>
                <a:cs typeface="Trebuchet MS" pitchFamily="34" charset="-120"/>
              </a:rPr>
              <a:t>BASE VERB</a:t>
            </a:r>
            <a:r>
              <a:rPr lang="en-US" sz="1800" i="1" dirty="0">
                <a:solidFill>
                  <a:srgbClr val="A8C4E0"/>
                </a:solidFill>
                <a:latin typeface="Trebuchet MS" pitchFamily="34" charset="0"/>
                <a:ea typeface="Trebuchet MS" pitchFamily="34" charset="-122"/>
                <a:cs typeface="Trebuchet MS" pitchFamily="34" charset="-120"/>
              </a:rPr>
              <a:t>  (NOT verb-ing!)</a:t>
            </a:r>
            <a:endParaRPr lang="en-US" sz="1800" dirty="0"/>
          </a:p>
        </p:txBody>
      </p:sp>
      <p:sp>
        <p:nvSpPr>
          <p:cNvPr id="13" name="Shape 11"/>
          <p:cNvSpPr/>
          <p:nvPr/>
        </p:nvSpPr>
        <p:spPr>
          <a:xfrm>
            <a:off x="256032" y="1883664"/>
            <a:ext cx="1737360" cy="566928"/>
          </a:xfrm>
          <a:prstGeom prst="rect">
            <a:avLst/>
          </a:prstGeom>
          <a:solidFill>
            <a:srgbClr val="FEF9E7"/>
          </a:solidFill>
          <a:ln w="12700">
            <a:solidFill>
              <a:srgbClr val="DDDDDD"/>
            </a:solidFill>
            <a:prstDash val="solid"/>
          </a:ln>
        </p:spPr>
      </p:sp>
      <p:sp>
        <p:nvSpPr>
          <p:cNvPr id="14" name="Shape 12"/>
          <p:cNvSpPr/>
          <p:nvPr/>
        </p:nvSpPr>
        <p:spPr>
          <a:xfrm>
            <a:off x="1993392" y="1883664"/>
            <a:ext cx="6894576" cy="566928"/>
          </a:xfrm>
          <a:prstGeom prst="rect">
            <a:avLst/>
          </a:prstGeom>
          <a:solidFill>
            <a:srgbClr val="FFFFFF"/>
          </a:solidFill>
          <a:ln w="12700">
            <a:solidFill>
              <a:srgbClr val="DDDDDD"/>
            </a:solidFill>
            <a:prstDash val="solid"/>
          </a:ln>
        </p:spPr>
      </p:sp>
      <p:sp>
        <p:nvSpPr>
          <p:cNvPr id="15" name="Text 13"/>
          <p:cNvSpPr/>
          <p:nvPr/>
        </p:nvSpPr>
        <p:spPr>
          <a:xfrm>
            <a:off x="347472" y="1938528"/>
            <a:ext cx="1554480" cy="457200"/>
          </a:xfrm>
          <a:prstGeom prst="rect">
            <a:avLst/>
          </a:prstGeom>
          <a:noFill/>
          <a:ln/>
        </p:spPr>
        <p:txBody>
          <a:bodyPr wrap="square" lIns="0" tIns="0" rIns="0" bIns="0" rtlCol="0" anchor="ctr"/>
          <a:lstStyle/>
          <a:p>
            <a:pPr marL="0" indent="0">
              <a:buNone/>
            </a:pPr>
            <a:r>
              <a:rPr lang="en-US" sz="1200" b="1" dirty="0">
                <a:solidFill>
                  <a:srgbClr val="2E7D32"/>
                </a:solidFill>
                <a:latin typeface="Trebuchet MS" pitchFamily="34" charset="0"/>
                <a:ea typeface="Trebuchet MS" pitchFamily="34" charset="-122"/>
                <a:cs typeface="Trebuchet MS" pitchFamily="34" charset="-120"/>
              </a:rPr>
              <a:t>✅  Positive</a:t>
            </a:r>
            <a:endParaRPr lang="en-US" sz="1200" dirty="0"/>
          </a:p>
        </p:txBody>
      </p:sp>
      <p:sp>
        <p:nvSpPr>
          <p:cNvPr id="16" name="Text 14"/>
          <p:cNvSpPr/>
          <p:nvPr/>
        </p:nvSpPr>
        <p:spPr>
          <a:xfrm>
            <a:off x="2084832" y="1920240"/>
            <a:ext cx="4114800" cy="274320"/>
          </a:xfrm>
          <a:prstGeom prst="rect">
            <a:avLst/>
          </a:prstGeom>
          <a:noFill/>
          <a:ln/>
        </p:spPr>
        <p:txBody>
          <a:bodyPr wrap="square" lIns="0" tIns="0" rIns="0" bIns="0" rtlCol="0" anchor="ctr"/>
          <a:lstStyle/>
          <a:p>
            <a:pPr marL="0" indent="0">
              <a:buNone/>
            </a:pPr>
            <a:r>
              <a:rPr lang="en-US" sz="1400" b="1" i="1" dirty="0">
                <a:solidFill>
                  <a:srgbClr val="1B3A6B"/>
                </a:solidFill>
                <a:latin typeface="Calibri" pitchFamily="34" charset="0"/>
                <a:ea typeface="Calibri" pitchFamily="34" charset="-122"/>
                <a:cs typeface="Calibri" pitchFamily="34" charset="-120"/>
              </a:rPr>
              <a:t>I would rather stay in tonight.</a:t>
            </a:r>
            <a:endParaRPr lang="en-US" sz="1400" dirty="0"/>
          </a:p>
        </p:txBody>
      </p:sp>
      <p:sp>
        <p:nvSpPr>
          <p:cNvPr id="17" name="Text 15"/>
          <p:cNvSpPr/>
          <p:nvPr/>
        </p:nvSpPr>
        <p:spPr>
          <a:xfrm>
            <a:off x="2084832" y="2176272"/>
            <a:ext cx="6675120" cy="256032"/>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 I prefer staying in (right now)</a:t>
            </a:r>
            <a:endParaRPr lang="en-US" sz="1100" dirty="0"/>
          </a:p>
        </p:txBody>
      </p:sp>
      <p:sp>
        <p:nvSpPr>
          <p:cNvPr id="18" name="Shape 16"/>
          <p:cNvSpPr/>
          <p:nvPr/>
        </p:nvSpPr>
        <p:spPr>
          <a:xfrm>
            <a:off x="256032" y="2542032"/>
            <a:ext cx="1737360" cy="566928"/>
          </a:xfrm>
          <a:prstGeom prst="rect">
            <a:avLst/>
          </a:prstGeom>
          <a:solidFill>
            <a:srgbClr val="FEF9E7"/>
          </a:solidFill>
          <a:ln w="12700">
            <a:solidFill>
              <a:srgbClr val="DDDDDD"/>
            </a:solidFill>
            <a:prstDash val="solid"/>
          </a:ln>
        </p:spPr>
      </p:sp>
      <p:sp>
        <p:nvSpPr>
          <p:cNvPr id="19" name="Shape 17"/>
          <p:cNvSpPr/>
          <p:nvPr/>
        </p:nvSpPr>
        <p:spPr>
          <a:xfrm>
            <a:off x="1993392" y="2542032"/>
            <a:ext cx="6894576" cy="566928"/>
          </a:xfrm>
          <a:prstGeom prst="rect">
            <a:avLst/>
          </a:prstGeom>
          <a:solidFill>
            <a:srgbClr val="F9F9F9"/>
          </a:solidFill>
          <a:ln w="12700">
            <a:solidFill>
              <a:srgbClr val="DDDDDD"/>
            </a:solidFill>
            <a:prstDash val="solid"/>
          </a:ln>
        </p:spPr>
      </p:sp>
      <p:sp>
        <p:nvSpPr>
          <p:cNvPr id="20" name="Text 18"/>
          <p:cNvSpPr/>
          <p:nvPr/>
        </p:nvSpPr>
        <p:spPr>
          <a:xfrm>
            <a:off x="347472" y="2596896"/>
            <a:ext cx="1554480" cy="457200"/>
          </a:xfrm>
          <a:prstGeom prst="rect">
            <a:avLst/>
          </a:prstGeom>
          <a:noFill/>
          <a:ln/>
        </p:spPr>
        <p:txBody>
          <a:bodyPr wrap="square" lIns="0" tIns="0" rIns="0" bIns="0" rtlCol="0" anchor="ctr"/>
          <a:lstStyle/>
          <a:p>
            <a:pPr marL="0" indent="0">
              <a:buNone/>
            </a:pPr>
            <a:r>
              <a:rPr lang="en-US" sz="1200" b="1" dirty="0">
                <a:solidFill>
                  <a:srgbClr val="0D7377"/>
                </a:solidFill>
                <a:latin typeface="Trebuchet MS" pitchFamily="34" charset="0"/>
                <a:ea typeface="Trebuchet MS" pitchFamily="34" charset="-122"/>
                <a:cs typeface="Trebuchet MS" pitchFamily="34" charset="-120"/>
              </a:rPr>
              <a:t>✅  Short form</a:t>
            </a:r>
            <a:endParaRPr lang="en-US" sz="1200" dirty="0"/>
          </a:p>
        </p:txBody>
      </p:sp>
      <p:sp>
        <p:nvSpPr>
          <p:cNvPr id="21" name="Text 19"/>
          <p:cNvSpPr/>
          <p:nvPr/>
        </p:nvSpPr>
        <p:spPr>
          <a:xfrm>
            <a:off x="2084832" y="2578608"/>
            <a:ext cx="4114800" cy="274320"/>
          </a:xfrm>
          <a:prstGeom prst="rect">
            <a:avLst/>
          </a:prstGeom>
          <a:noFill/>
          <a:ln/>
        </p:spPr>
        <p:txBody>
          <a:bodyPr wrap="square" lIns="0" tIns="0" rIns="0" bIns="0" rtlCol="0" anchor="ctr"/>
          <a:lstStyle/>
          <a:p>
            <a:pPr marL="0" indent="0">
              <a:buNone/>
            </a:pPr>
            <a:r>
              <a:rPr lang="en-US" sz="1400" b="1" i="1" dirty="0">
                <a:solidFill>
                  <a:srgbClr val="1B3A6B"/>
                </a:solidFill>
                <a:latin typeface="Calibri" pitchFamily="34" charset="0"/>
                <a:ea typeface="Calibri" pitchFamily="34" charset="-122"/>
                <a:cs typeface="Calibri" pitchFamily="34" charset="-120"/>
              </a:rPr>
              <a:t>I'd rather watch a film.</a:t>
            </a:r>
            <a:endParaRPr lang="en-US" sz="1400" dirty="0"/>
          </a:p>
        </p:txBody>
      </p:sp>
      <p:sp>
        <p:nvSpPr>
          <p:cNvPr id="22" name="Text 20"/>
          <p:cNvSpPr/>
          <p:nvPr/>
        </p:nvSpPr>
        <p:spPr>
          <a:xfrm>
            <a:off x="2084832" y="2834640"/>
            <a:ext cx="6675120" cy="256032"/>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'I'd' = I would — we use this in speaking</a:t>
            </a:r>
            <a:endParaRPr lang="en-US" sz="1100" dirty="0"/>
          </a:p>
        </p:txBody>
      </p:sp>
      <p:sp>
        <p:nvSpPr>
          <p:cNvPr id="23" name="Shape 21"/>
          <p:cNvSpPr/>
          <p:nvPr/>
        </p:nvSpPr>
        <p:spPr>
          <a:xfrm>
            <a:off x="256032" y="3200400"/>
            <a:ext cx="1737360" cy="566928"/>
          </a:xfrm>
          <a:prstGeom prst="rect">
            <a:avLst/>
          </a:prstGeom>
          <a:solidFill>
            <a:srgbClr val="FEF9E7"/>
          </a:solidFill>
          <a:ln w="12700">
            <a:solidFill>
              <a:srgbClr val="DDDDDD"/>
            </a:solidFill>
            <a:prstDash val="solid"/>
          </a:ln>
        </p:spPr>
      </p:sp>
      <p:sp>
        <p:nvSpPr>
          <p:cNvPr id="24" name="Shape 22"/>
          <p:cNvSpPr/>
          <p:nvPr/>
        </p:nvSpPr>
        <p:spPr>
          <a:xfrm>
            <a:off x="1993392" y="3200400"/>
            <a:ext cx="6894576" cy="566928"/>
          </a:xfrm>
          <a:prstGeom prst="rect">
            <a:avLst/>
          </a:prstGeom>
          <a:solidFill>
            <a:srgbClr val="FFFFFF"/>
          </a:solidFill>
          <a:ln w="12700">
            <a:solidFill>
              <a:srgbClr val="DDDDDD"/>
            </a:solidFill>
            <a:prstDash val="solid"/>
          </a:ln>
        </p:spPr>
      </p:sp>
      <p:sp>
        <p:nvSpPr>
          <p:cNvPr id="25" name="Text 23"/>
          <p:cNvSpPr/>
          <p:nvPr/>
        </p:nvSpPr>
        <p:spPr>
          <a:xfrm>
            <a:off x="347472" y="3255264"/>
            <a:ext cx="1554480" cy="457200"/>
          </a:xfrm>
          <a:prstGeom prst="rect">
            <a:avLst/>
          </a:prstGeom>
          <a:noFill/>
          <a:ln/>
        </p:spPr>
        <p:txBody>
          <a:bodyPr wrap="square" lIns="0" tIns="0" rIns="0" bIns="0" rtlCol="0" anchor="ctr"/>
          <a:lstStyle/>
          <a:p>
            <a:pPr marL="0" indent="0">
              <a:buNone/>
            </a:pPr>
            <a:r>
              <a:rPr lang="en-US" sz="1200" b="1" dirty="0">
                <a:solidFill>
                  <a:srgbClr val="E53E3E"/>
                </a:solidFill>
                <a:latin typeface="Trebuchet MS" pitchFamily="34" charset="0"/>
                <a:ea typeface="Trebuchet MS" pitchFamily="34" charset="-122"/>
                <a:cs typeface="Trebuchet MS" pitchFamily="34" charset="-120"/>
              </a:rPr>
              <a:t>❌  Negative</a:t>
            </a:r>
            <a:endParaRPr lang="en-US" sz="1200" dirty="0"/>
          </a:p>
        </p:txBody>
      </p:sp>
      <p:sp>
        <p:nvSpPr>
          <p:cNvPr id="26" name="Text 24"/>
          <p:cNvSpPr/>
          <p:nvPr/>
        </p:nvSpPr>
        <p:spPr>
          <a:xfrm>
            <a:off x="2084832" y="3236976"/>
            <a:ext cx="4114800" cy="274320"/>
          </a:xfrm>
          <a:prstGeom prst="rect">
            <a:avLst/>
          </a:prstGeom>
          <a:noFill/>
          <a:ln/>
        </p:spPr>
        <p:txBody>
          <a:bodyPr wrap="square" lIns="0" tIns="0" rIns="0" bIns="0" rtlCol="0" anchor="ctr"/>
          <a:lstStyle/>
          <a:p>
            <a:pPr marL="0" indent="0">
              <a:buNone/>
            </a:pPr>
            <a:r>
              <a:rPr lang="en-US" sz="1400" b="1" i="1" dirty="0">
                <a:solidFill>
                  <a:srgbClr val="1B3A6B"/>
                </a:solidFill>
                <a:latin typeface="Calibri" pitchFamily="34" charset="0"/>
                <a:ea typeface="Calibri" pitchFamily="34" charset="-122"/>
                <a:cs typeface="Calibri" pitchFamily="34" charset="-120"/>
              </a:rPr>
              <a:t>I would rather not go to the cinema.</a:t>
            </a:r>
            <a:endParaRPr lang="en-US" sz="1400" dirty="0"/>
          </a:p>
        </p:txBody>
      </p:sp>
      <p:sp>
        <p:nvSpPr>
          <p:cNvPr id="27" name="Text 25"/>
          <p:cNvSpPr/>
          <p:nvPr/>
        </p:nvSpPr>
        <p:spPr>
          <a:xfrm>
            <a:off x="2084832" y="3493008"/>
            <a:ext cx="6675120" cy="256032"/>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Add 'not' after 'rather'</a:t>
            </a:r>
            <a:endParaRPr lang="en-US" sz="1100" dirty="0"/>
          </a:p>
        </p:txBody>
      </p:sp>
      <p:sp>
        <p:nvSpPr>
          <p:cNvPr id="28" name="Shape 26"/>
          <p:cNvSpPr/>
          <p:nvPr/>
        </p:nvSpPr>
        <p:spPr>
          <a:xfrm>
            <a:off x="256032" y="3858768"/>
            <a:ext cx="1737360" cy="566928"/>
          </a:xfrm>
          <a:prstGeom prst="rect">
            <a:avLst/>
          </a:prstGeom>
          <a:solidFill>
            <a:srgbClr val="FEF9E7"/>
          </a:solidFill>
          <a:ln w="12700">
            <a:solidFill>
              <a:srgbClr val="DDDDDD"/>
            </a:solidFill>
            <a:prstDash val="solid"/>
          </a:ln>
        </p:spPr>
      </p:sp>
      <p:sp>
        <p:nvSpPr>
          <p:cNvPr id="29" name="Shape 27"/>
          <p:cNvSpPr/>
          <p:nvPr/>
        </p:nvSpPr>
        <p:spPr>
          <a:xfrm>
            <a:off x="1993392" y="3858768"/>
            <a:ext cx="6894576" cy="566928"/>
          </a:xfrm>
          <a:prstGeom prst="rect">
            <a:avLst/>
          </a:prstGeom>
          <a:solidFill>
            <a:srgbClr val="F9F9F9"/>
          </a:solidFill>
          <a:ln w="12700">
            <a:solidFill>
              <a:srgbClr val="DDDDDD"/>
            </a:solidFill>
            <a:prstDash val="solid"/>
          </a:ln>
        </p:spPr>
      </p:sp>
      <p:sp>
        <p:nvSpPr>
          <p:cNvPr id="30" name="Text 28"/>
          <p:cNvSpPr/>
          <p:nvPr/>
        </p:nvSpPr>
        <p:spPr>
          <a:xfrm>
            <a:off x="347472" y="3913632"/>
            <a:ext cx="1554480" cy="457200"/>
          </a:xfrm>
          <a:prstGeom prst="rect">
            <a:avLst/>
          </a:prstGeom>
          <a:noFill/>
          <a:ln/>
        </p:spPr>
        <p:txBody>
          <a:bodyPr wrap="square" lIns="0" tIns="0" rIns="0" bIns="0" rtlCol="0" anchor="ctr"/>
          <a:lstStyle/>
          <a:p>
            <a:pPr marL="0" indent="0">
              <a:buNone/>
            </a:pPr>
            <a:r>
              <a:rPr lang="en-US" sz="1200" b="1" dirty="0">
                <a:solidFill>
                  <a:srgbClr val="2E7D32"/>
                </a:solidFill>
                <a:latin typeface="Trebuchet MS" pitchFamily="34" charset="0"/>
                <a:ea typeface="Trebuchet MS" pitchFamily="34" charset="-122"/>
                <a:cs typeface="Trebuchet MS" pitchFamily="34" charset="-120"/>
              </a:rPr>
              <a:t>⚡  Comparing</a:t>
            </a:r>
            <a:endParaRPr lang="en-US" sz="1200" dirty="0"/>
          </a:p>
        </p:txBody>
      </p:sp>
      <p:sp>
        <p:nvSpPr>
          <p:cNvPr id="31" name="Text 29"/>
          <p:cNvSpPr/>
          <p:nvPr/>
        </p:nvSpPr>
        <p:spPr>
          <a:xfrm>
            <a:off x="2084832" y="3895344"/>
            <a:ext cx="4114800" cy="274320"/>
          </a:xfrm>
          <a:prstGeom prst="rect">
            <a:avLst/>
          </a:prstGeom>
          <a:noFill/>
          <a:ln/>
        </p:spPr>
        <p:txBody>
          <a:bodyPr wrap="square" lIns="0" tIns="0" rIns="0" bIns="0" rtlCol="0" anchor="ctr"/>
          <a:lstStyle/>
          <a:p>
            <a:pPr marL="0" indent="0">
              <a:buNone/>
            </a:pPr>
            <a:r>
              <a:rPr lang="en-US" sz="1400" b="1" i="1" dirty="0">
                <a:solidFill>
                  <a:srgbClr val="1B3A6B"/>
                </a:solidFill>
                <a:latin typeface="Calibri" pitchFamily="34" charset="0"/>
                <a:ea typeface="Calibri" pitchFamily="34" charset="-122"/>
                <a:cs typeface="Calibri" pitchFamily="34" charset="-120"/>
              </a:rPr>
              <a:t>I'd rather watch a film than go out.</a:t>
            </a:r>
            <a:endParaRPr lang="en-US" sz="1400" dirty="0"/>
          </a:p>
        </p:txBody>
      </p:sp>
      <p:sp>
        <p:nvSpPr>
          <p:cNvPr id="32" name="Text 30"/>
          <p:cNvSpPr/>
          <p:nvPr/>
        </p:nvSpPr>
        <p:spPr>
          <a:xfrm>
            <a:off x="2084832" y="4151376"/>
            <a:ext cx="6675120" cy="256032"/>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Use THAN to compare two choices</a:t>
            </a:r>
            <a:endParaRPr lang="en-US" sz="1100" dirty="0"/>
          </a:p>
        </p:txBody>
      </p:sp>
      <p:sp>
        <p:nvSpPr>
          <p:cNvPr id="33" name="Shape 31"/>
          <p:cNvSpPr/>
          <p:nvPr/>
        </p:nvSpPr>
        <p:spPr>
          <a:xfrm>
            <a:off x="256032" y="4572000"/>
            <a:ext cx="8631936" cy="457200"/>
          </a:xfrm>
          <a:prstGeom prst="rect">
            <a:avLst/>
          </a:prstGeom>
          <a:solidFill>
            <a:srgbClr val="FEF9E7"/>
          </a:solidFill>
          <a:ln w="12700">
            <a:solidFill>
              <a:srgbClr val="F4A261"/>
            </a:solidFill>
            <a:prstDash val="solid"/>
          </a:ln>
        </p:spPr>
      </p:sp>
      <p:sp>
        <p:nvSpPr>
          <p:cNvPr id="34" name="Shape 32"/>
          <p:cNvSpPr/>
          <p:nvPr/>
        </p:nvSpPr>
        <p:spPr>
          <a:xfrm>
            <a:off x="256032" y="4572000"/>
            <a:ext cx="109728" cy="457200"/>
          </a:xfrm>
          <a:prstGeom prst="rect">
            <a:avLst/>
          </a:prstGeom>
          <a:solidFill>
            <a:srgbClr val="F4A261"/>
          </a:solidFill>
          <a:ln w="12700">
            <a:solidFill>
              <a:srgbClr val="F4A261"/>
            </a:solidFill>
            <a:prstDash val="solid"/>
          </a:ln>
        </p:spPr>
      </p:sp>
      <p:sp>
        <p:nvSpPr>
          <p:cNvPr id="35" name="Text 33"/>
          <p:cNvSpPr/>
          <p:nvPr/>
        </p:nvSpPr>
        <p:spPr>
          <a:xfrm>
            <a:off x="438912" y="4626864"/>
            <a:ext cx="8375904" cy="347472"/>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KEY RULE: 'Would rather' is ALWAYS followed by the BASE VERB. Never -ing. Never to + verb.</a:t>
            </a:r>
            <a:endParaRPr lang="en-US" sz="1300" dirty="0"/>
          </a:p>
          <a:p>
            <a:pPr marL="0" indent="0">
              <a:buNone/>
            </a:pPr>
            <a:r>
              <a:rPr lang="en-US" sz="1300" dirty="0">
                <a:solidFill>
                  <a:srgbClr val="7D4E00"/>
                </a:solidFill>
                <a:latin typeface="Calibri" pitchFamily="34" charset="0"/>
                <a:ea typeface="Calibri" pitchFamily="34" charset="-122"/>
                <a:cs typeface="Calibri" pitchFamily="34" charset="-120"/>
              </a:rPr>
              <a:t>✅  I'd rather watch.   ❌  I'd rather watching.   ❌  I'd rather to watch.</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3 — Part B: Prefer</a:t>
            </a:r>
            <a:endParaRPr lang="en-US" sz="2000" dirty="0"/>
          </a:p>
        </p:txBody>
      </p:sp>
      <p:sp>
        <p:nvSpPr>
          <p:cNvPr id="5" name="Shape 3"/>
          <p:cNvSpPr/>
          <p:nvPr/>
        </p:nvSpPr>
        <p:spPr>
          <a:xfrm>
            <a:off x="7315200" y="128016"/>
            <a:ext cx="1645920" cy="402336"/>
          </a:xfrm>
          <a:prstGeom prst="rect">
            <a:avLst/>
          </a:prstGeom>
          <a:solidFill>
            <a:srgbClr val="F4A261"/>
          </a:solidFill>
          <a:ln w="12700">
            <a:solidFill>
              <a:srgbClr val="F4A261"/>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WRITE THIS DOWN ✏</a:t>
            </a:r>
            <a:endParaRPr lang="en-US" sz="1100" dirty="0"/>
          </a:p>
        </p:txBody>
      </p:sp>
      <p:sp>
        <p:nvSpPr>
          <p:cNvPr id="7" name="Shape 5"/>
          <p:cNvSpPr/>
          <p:nvPr/>
        </p:nvSpPr>
        <p:spPr>
          <a:xfrm>
            <a:off x="256032" y="749808"/>
            <a:ext cx="8631936" cy="347472"/>
          </a:xfrm>
          <a:prstGeom prst="rect">
            <a:avLst/>
          </a:prstGeom>
          <a:solidFill>
            <a:srgbClr val="F4A261"/>
          </a:solidFill>
          <a:ln w="12700">
            <a:solidFill>
              <a:srgbClr val="E8873A"/>
            </a:solidFill>
            <a:prstDash val="solid"/>
          </a:ln>
        </p:spPr>
      </p:sp>
      <p:sp>
        <p:nvSpPr>
          <p:cNvPr id="8" name="Shape 6"/>
          <p:cNvSpPr/>
          <p:nvPr/>
        </p:nvSpPr>
        <p:spPr>
          <a:xfrm>
            <a:off x="256032" y="749808"/>
            <a:ext cx="109728" cy="347472"/>
          </a:xfrm>
          <a:prstGeom prst="rect">
            <a:avLst/>
          </a:prstGeom>
          <a:solidFill>
            <a:srgbClr val="E8873A"/>
          </a:solidFill>
          <a:ln w="12700">
            <a:solidFill>
              <a:srgbClr val="E8873A"/>
            </a:solidFill>
            <a:prstDash val="solid"/>
          </a:ln>
        </p:spPr>
      </p:sp>
      <p:sp>
        <p:nvSpPr>
          <p:cNvPr id="9" name="Text 7"/>
          <p:cNvSpPr/>
          <p:nvPr/>
        </p:nvSpPr>
        <p:spPr>
          <a:xfrm>
            <a:off x="420624" y="749808"/>
            <a:ext cx="8449056" cy="347472"/>
          </a:xfrm>
          <a:prstGeom prst="rect">
            <a:avLst/>
          </a:prstGeom>
          <a:noFill/>
          <a:ln/>
        </p:spPr>
        <p:txBody>
          <a:bodyPr wrap="square" lIns="0" tIns="0" rIns="0" bIns="0" rtlCol="0" anchor="ctr"/>
          <a:lstStyle/>
          <a:p>
            <a:pPr marL="0" indent="0">
              <a:buNone/>
            </a:pPr>
            <a:r>
              <a:rPr lang="en-US" sz="1200" b="1" dirty="0">
                <a:solidFill>
                  <a:srgbClr val="1B3A6B"/>
                </a:solidFill>
                <a:latin typeface="Trebuchet MS" pitchFamily="34" charset="0"/>
                <a:ea typeface="Trebuchet MS" pitchFamily="34" charset="-122"/>
                <a:cs typeface="Trebuchet MS" pitchFamily="34" charset="-120"/>
              </a:rPr>
              <a:t>✏  WRITE THIS DOWN</a:t>
            </a:r>
            <a:endParaRPr lang="en-US" sz="1200" dirty="0"/>
          </a:p>
        </p:txBody>
      </p:sp>
      <p:sp>
        <p:nvSpPr>
          <p:cNvPr id="10" name="Shape 8"/>
          <p:cNvSpPr/>
          <p:nvPr/>
        </p:nvSpPr>
        <p:spPr>
          <a:xfrm>
            <a:off x="256032" y="1170432"/>
            <a:ext cx="8631936" cy="548640"/>
          </a:xfrm>
          <a:prstGeom prst="rect">
            <a:avLst/>
          </a:prstGeom>
          <a:solidFill>
            <a:srgbClr val="1B3A6B"/>
          </a:solidFill>
          <a:ln w="12700">
            <a:solidFill>
              <a:srgbClr val="1B3A6B"/>
            </a:solidFill>
            <a:prstDash val="solid"/>
          </a:ln>
        </p:spPr>
      </p:sp>
      <p:sp>
        <p:nvSpPr>
          <p:cNvPr id="11" name="Shape 9"/>
          <p:cNvSpPr/>
          <p:nvPr/>
        </p:nvSpPr>
        <p:spPr>
          <a:xfrm>
            <a:off x="256032" y="1170432"/>
            <a:ext cx="137160" cy="548640"/>
          </a:xfrm>
          <a:prstGeom prst="rect">
            <a:avLst/>
          </a:prstGeom>
          <a:solidFill>
            <a:srgbClr val="0D7377"/>
          </a:solidFill>
          <a:ln w="12700">
            <a:solidFill>
              <a:srgbClr val="0D7377"/>
            </a:solidFill>
            <a:prstDash val="solid"/>
          </a:ln>
        </p:spPr>
      </p:sp>
      <p:sp>
        <p:nvSpPr>
          <p:cNvPr id="12" name="Text 10"/>
          <p:cNvSpPr/>
          <p:nvPr/>
        </p:nvSpPr>
        <p:spPr>
          <a:xfrm>
            <a:off x="457200" y="1170432"/>
            <a:ext cx="8321040" cy="5486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PREFER has TWO formulas. Copy BOTH.</a:t>
            </a:r>
            <a:endParaRPr lang="en-US" sz="1600" dirty="0"/>
          </a:p>
        </p:txBody>
      </p:sp>
      <p:sp>
        <p:nvSpPr>
          <p:cNvPr id="13" name="Shape 11"/>
          <p:cNvSpPr/>
          <p:nvPr/>
        </p:nvSpPr>
        <p:spPr>
          <a:xfrm>
            <a:off x="256032" y="1792224"/>
            <a:ext cx="4169664" cy="1417320"/>
          </a:xfrm>
          <a:prstGeom prst="rect">
            <a:avLst/>
          </a:prstGeom>
          <a:solidFill>
            <a:srgbClr val="D1F2EB"/>
          </a:solidFill>
          <a:ln w="12700">
            <a:solidFill>
              <a:srgbClr val="0D7377"/>
            </a:solidFill>
            <a:prstDash val="solid"/>
          </a:ln>
        </p:spPr>
      </p:sp>
      <p:sp>
        <p:nvSpPr>
          <p:cNvPr id="14" name="Shape 12"/>
          <p:cNvSpPr/>
          <p:nvPr/>
        </p:nvSpPr>
        <p:spPr>
          <a:xfrm>
            <a:off x="256032" y="1792224"/>
            <a:ext cx="4169664" cy="384048"/>
          </a:xfrm>
          <a:prstGeom prst="rect">
            <a:avLst/>
          </a:prstGeom>
          <a:solidFill>
            <a:srgbClr val="0D7377"/>
          </a:solidFill>
          <a:ln w="12700">
            <a:solidFill>
              <a:srgbClr val="0D7377"/>
            </a:solidFill>
            <a:prstDash val="solid"/>
          </a:ln>
        </p:spPr>
      </p:sp>
      <p:sp>
        <p:nvSpPr>
          <p:cNvPr id="15" name="Text 13"/>
          <p:cNvSpPr/>
          <p:nvPr/>
        </p:nvSpPr>
        <p:spPr>
          <a:xfrm>
            <a:off x="256032" y="1792224"/>
            <a:ext cx="4169664"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FORMULA 1 — General Preference</a:t>
            </a:r>
            <a:endParaRPr lang="en-US" sz="1200" dirty="0"/>
          </a:p>
        </p:txBody>
      </p:sp>
      <p:sp>
        <p:nvSpPr>
          <p:cNvPr id="16" name="Text 14"/>
          <p:cNvSpPr/>
          <p:nvPr/>
        </p:nvSpPr>
        <p:spPr>
          <a:xfrm>
            <a:off x="347472" y="2240280"/>
            <a:ext cx="3986784" cy="329184"/>
          </a:xfrm>
          <a:prstGeom prst="rect">
            <a:avLst/>
          </a:prstGeom>
          <a:noFill/>
          <a:ln/>
        </p:spPr>
        <p:txBody>
          <a:bodyPr wrap="square" rtlCol="0" anchor="ctr"/>
          <a:lstStyle/>
          <a:p>
            <a:pPr marL="0" indent="0">
              <a:buNone/>
            </a:pPr>
            <a:r>
              <a:rPr lang="en-US" sz="1500" b="1" dirty="0">
                <a:solidFill>
                  <a:srgbClr val="1B3A6B"/>
                </a:solidFill>
                <a:latin typeface="Trebuchet MS" pitchFamily="34" charset="0"/>
                <a:ea typeface="Trebuchet MS" pitchFamily="34" charset="-122"/>
                <a:cs typeface="Trebuchet MS" pitchFamily="34" charset="-120"/>
              </a:rPr>
              <a:t>prefer + noun / verb-ing</a:t>
            </a:r>
            <a:endParaRPr lang="en-US" sz="1500" dirty="0"/>
          </a:p>
        </p:txBody>
      </p:sp>
      <p:sp>
        <p:nvSpPr>
          <p:cNvPr id="17" name="Text 15"/>
          <p:cNvSpPr/>
          <p:nvPr/>
        </p:nvSpPr>
        <p:spPr>
          <a:xfrm>
            <a:off x="347472" y="2596896"/>
            <a:ext cx="3986784" cy="548640"/>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I prefer books to films.</a:t>
            </a:r>
            <a:endParaRPr lang="en-US" sz="1300" dirty="0"/>
          </a:p>
          <a:p>
            <a:pPr marL="0" indent="0">
              <a:buNone/>
            </a:pPr>
            <a:r>
              <a:rPr lang="en-US" sz="1300" i="1" dirty="0">
                <a:solidFill>
                  <a:srgbClr val="111827"/>
                </a:solidFill>
                <a:latin typeface="Calibri" pitchFamily="34" charset="0"/>
                <a:ea typeface="Calibri" pitchFamily="34" charset="-122"/>
                <a:cs typeface="Calibri" pitchFamily="34" charset="-120"/>
              </a:rPr>
              <a:t>She prefers watching TV to reading.</a:t>
            </a:r>
            <a:endParaRPr lang="en-US" sz="1300" dirty="0"/>
          </a:p>
        </p:txBody>
      </p:sp>
      <p:sp>
        <p:nvSpPr>
          <p:cNvPr id="18" name="Shape 16"/>
          <p:cNvSpPr/>
          <p:nvPr/>
        </p:nvSpPr>
        <p:spPr>
          <a:xfrm>
            <a:off x="4718304" y="1792224"/>
            <a:ext cx="4169664" cy="1417320"/>
          </a:xfrm>
          <a:prstGeom prst="rect">
            <a:avLst/>
          </a:prstGeom>
          <a:solidFill>
            <a:srgbClr val="D6EAF8"/>
          </a:solidFill>
          <a:ln w="12700">
            <a:solidFill>
              <a:srgbClr val="1B3A6B"/>
            </a:solidFill>
            <a:prstDash val="solid"/>
          </a:ln>
        </p:spPr>
      </p:sp>
      <p:sp>
        <p:nvSpPr>
          <p:cNvPr id="19" name="Shape 17"/>
          <p:cNvSpPr/>
          <p:nvPr/>
        </p:nvSpPr>
        <p:spPr>
          <a:xfrm>
            <a:off x="4718304" y="1792224"/>
            <a:ext cx="4169664" cy="384048"/>
          </a:xfrm>
          <a:prstGeom prst="rect">
            <a:avLst/>
          </a:prstGeom>
          <a:solidFill>
            <a:srgbClr val="1B3A6B"/>
          </a:solidFill>
          <a:ln w="12700">
            <a:solidFill>
              <a:srgbClr val="1B3A6B"/>
            </a:solidFill>
            <a:prstDash val="solid"/>
          </a:ln>
        </p:spPr>
      </p:sp>
      <p:sp>
        <p:nvSpPr>
          <p:cNvPr id="20" name="Text 18"/>
          <p:cNvSpPr/>
          <p:nvPr/>
        </p:nvSpPr>
        <p:spPr>
          <a:xfrm>
            <a:off x="4718304" y="1792224"/>
            <a:ext cx="4169664"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FORMULA 2 — Specific Situation</a:t>
            </a:r>
            <a:endParaRPr lang="en-US" sz="1200" dirty="0"/>
          </a:p>
        </p:txBody>
      </p:sp>
      <p:sp>
        <p:nvSpPr>
          <p:cNvPr id="21" name="Text 19"/>
          <p:cNvSpPr/>
          <p:nvPr/>
        </p:nvSpPr>
        <p:spPr>
          <a:xfrm>
            <a:off x="4809744" y="2240280"/>
            <a:ext cx="3986784" cy="329184"/>
          </a:xfrm>
          <a:prstGeom prst="rect">
            <a:avLst/>
          </a:prstGeom>
          <a:noFill/>
          <a:ln/>
        </p:spPr>
        <p:txBody>
          <a:bodyPr wrap="square" rtlCol="0" anchor="ctr"/>
          <a:lstStyle/>
          <a:p>
            <a:pPr marL="0" indent="0">
              <a:buNone/>
            </a:pPr>
            <a:r>
              <a:rPr lang="en-US" sz="1500" b="1" dirty="0">
                <a:solidFill>
                  <a:srgbClr val="1B3A6B"/>
                </a:solidFill>
                <a:latin typeface="Trebuchet MS" pitchFamily="34" charset="0"/>
                <a:ea typeface="Trebuchet MS" pitchFamily="34" charset="-122"/>
                <a:cs typeface="Trebuchet MS" pitchFamily="34" charset="-120"/>
              </a:rPr>
              <a:t>would prefer + to + base verb</a:t>
            </a:r>
            <a:endParaRPr lang="en-US" sz="1500" dirty="0"/>
          </a:p>
        </p:txBody>
      </p:sp>
      <p:sp>
        <p:nvSpPr>
          <p:cNvPr id="22" name="Text 20"/>
          <p:cNvSpPr/>
          <p:nvPr/>
        </p:nvSpPr>
        <p:spPr>
          <a:xfrm>
            <a:off x="4809744" y="2596896"/>
            <a:ext cx="3986784" cy="548640"/>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I would prefer to stay home tonight.</a:t>
            </a:r>
            <a:endParaRPr lang="en-US" sz="1300" dirty="0"/>
          </a:p>
          <a:p>
            <a:pPr marL="0" indent="0">
              <a:buNone/>
            </a:pPr>
            <a:r>
              <a:rPr lang="en-US" sz="1300" i="1" dirty="0">
                <a:solidFill>
                  <a:srgbClr val="111827"/>
                </a:solidFill>
                <a:latin typeface="Calibri" pitchFamily="34" charset="0"/>
                <a:ea typeface="Calibri" pitchFamily="34" charset="-122"/>
                <a:cs typeface="Calibri" pitchFamily="34" charset="-120"/>
              </a:rPr>
              <a:t>He'd prefer to order pizza.</a:t>
            </a:r>
            <a:endParaRPr lang="en-US" sz="1300" dirty="0"/>
          </a:p>
        </p:txBody>
      </p:sp>
      <p:sp>
        <p:nvSpPr>
          <p:cNvPr id="23" name="Shape 21"/>
          <p:cNvSpPr/>
          <p:nvPr/>
        </p:nvSpPr>
        <p:spPr>
          <a:xfrm>
            <a:off x="256032" y="3291840"/>
            <a:ext cx="8631936" cy="1005840"/>
          </a:xfrm>
          <a:prstGeom prst="rect">
            <a:avLst/>
          </a:prstGeom>
          <a:solidFill>
            <a:srgbClr val="FDEBD0"/>
          </a:solidFill>
          <a:ln w="12700">
            <a:solidFill>
              <a:srgbClr val="F4A261"/>
            </a:solidFill>
            <a:prstDash val="solid"/>
          </a:ln>
        </p:spPr>
      </p:sp>
      <p:sp>
        <p:nvSpPr>
          <p:cNvPr id="24" name="Shape 22"/>
          <p:cNvSpPr/>
          <p:nvPr/>
        </p:nvSpPr>
        <p:spPr>
          <a:xfrm>
            <a:off x="256032" y="3291840"/>
            <a:ext cx="109728" cy="1005840"/>
          </a:xfrm>
          <a:prstGeom prst="rect">
            <a:avLst/>
          </a:prstGeom>
          <a:solidFill>
            <a:srgbClr val="F4A261"/>
          </a:solidFill>
          <a:ln w="12700">
            <a:solidFill>
              <a:srgbClr val="F4A261"/>
            </a:solidFill>
            <a:prstDash val="solid"/>
          </a:ln>
        </p:spPr>
      </p:sp>
      <p:sp>
        <p:nvSpPr>
          <p:cNvPr id="25" name="Text 23"/>
          <p:cNvSpPr/>
          <p:nvPr/>
        </p:nvSpPr>
        <p:spPr>
          <a:xfrm>
            <a:off x="438912" y="3328416"/>
            <a:ext cx="8321040" cy="292608"/>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DIFFERENCE: Would Rather vs Prefer</a:t>
            </a:r>
            <a:endParaRPr lang="en-US" sz="1300" dirty="0"/>
          </a:p>
        </p:txBody>
      </p:sp>
      <p:sp>
        <p:nvSpPr>
          <p:cNvPr id="26" name="Text 24"/>
          <p:cNvSpPr/>
          <p:nvPr/>
        </p:nvSpPr>
        <p:spPr>
          <a:xfrm>
            <a:off x="438912" y="3639312"/>
            <a:ext cx="8321040" cy="274320"/>
          </a:xfrm>
          <a:prstGeom prst="rect">
            <a:avLst/>
          </a:prstGeom>
          <a:noFill/>
          <a:ln/>
        </p:spPr>
        <p:txBody>
          <a:bodyPr wrap="square" lIns="0" tIns="0" rIns="0" bIns="0"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Would rather</a:t>
            </a:r>
            <a:r>
              <a:rPr lang="en-US" sz="1300" dirty="0">
                <a:solidFill>
                  <a:srgbClr val="111827"/>
                </a:solidFill>
                <a:latin typeface="Calibri" pitchFamily="34" charset="0"/>
                <a:ea typeface="Calibri" pitchFamily="34" charset="-122"/>
                <a:cs typeface="Calibri" pitchFamily="34" charset="-120"/>
              </a:rPr>
              <a:t> = right now, this specific situation.    </a:t>
            </a:r>
            <a:r>
              <a:rPr lang="en-US" sz="1300" b="1" dirty="0">
                <a:solidFill>
                  <a:srgbClr val="0D7377"/>
                </a:solidFill>
                <a:latin typeface="Calibri" pitchFamily="34" charset="0"/>
                <a:ea typeface="Calibri" pitchFamily="34" charset="-122"/>
                <a:cs typeface="Calibri" pitchFamily="34" charset="-120"/>
              </a:rPr>
              <a:t>Prefer</a:t>
            </a:r>
            <a:r>
              <a:rPr lang="en-US" sz="1300" dirty="0">
                <a:solidFill>
                  <a:srgbClr val="111827"/>
                </a:solidFill>
                <a:latin typeface="Calibri" pitchFamily="34" charset="0"/>
                <a:ea typeface="Calibri" pitchFamily="34" charset="-122"/>
                <a:cs typeface="Calibri" pitchFamily="34" charset="-120"/>
              </a:rPr>
              <a:t> = general/always true preference.</a:t>
            </a:r>
            <a:endParaRPr lang="en-US" sz="1300" dirty="0"/>
          </a:p>
        </p:txBody>
      </p:sp>
      <p:sp>
        <p:nvSpPr>
          <p:cNvPr id="27" name="Text 25"/>
          <p:cNvSpPr/>
          <p:nvPr/>
        </p:nvSpPr>
        <p:spPr>
          <a:xfrm>
            <a:off x="438912" y="3931920"/>
            <a:ext cx="8321040" cy="292608"/>
          </a:xfrm>
          <a:prstGeom prst="rect">
            <a:avLst/>
          </a:prstGeom>
          <a:noFill/>
          <a:ln/>
        </p:spPr>
        <p:txBody>
          <a:bodyPr wrap="square" lIns="0" tIns="0" rIns="0" bIns="0"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"I'd rather watch a film tonight." (now)   vs   "I prefer films to books." (always)</a:t>
            </a:r>
            <a:endParaRPr lang="en-US" sz="1300" dirty="0"/>
          </a:p>
        </p:txBody>
      </p:sp>
      <p:sp>
        <p:nvSpPr>
          <p:cNvPr id="28" name="Shape 26"/>
          <p:cNvSpPr/>
          <p:nvPr/>
        </p:nvSpPr>
        <p:spPr>
          <a:xfrm>
            <a:off x="256032" y="4370832"/>
            <a:ext cx="8631936" cy="658368"/>
          </a:xfrm>
          <a:prstGeom prst="rect">
            <a:avLst/>
          </a:prstGeom>
          <a:solidFill>
            <a:srgbClr val="FEF9E7"/>
          </a:solidFill>
          <a:ln w="12700">
            <a:solidFill>
              <a:srgbClr val="F4A261"/>
            </a:solidFill>
            <a:prstDash val="solid"/>
          </a:ln>
        </p:spPr>
      </p:sp>
      <p:sp>
        <p:nvSpPr>
          <p:cNvPr id="29" name="Shape 27"/>
          <p:cNvSpPr/>
          <p:nvPr/>
        </p:nvSpPr>
        <p:spPr>
          <a:xfrm>
            <a:off x="256032" y="4370832"/>
            <a:ext cx="109728" cy="658368"/>
          </a:xfrm>
          <a:prstGeom prst="rect">
            <a:avLst/>
          </a:prstGeom>
          <a:solidFill>
            <a:srgbClr val="F4A261"/>
          </a:solidFill>
          <a:ln w="12700">
            <a:solidFill>
              <a:srgbClr val="F4A261"/>
            </a:solidFill>
            <a:prstDash val="solid"/>
          </a:ln>
        </p:spPr>
      </p:sp>
      <p:sp>
        <p:nvSpPr>
          <p:cNvPr id="30" name="Text 28"/>
          <p:cNvSpPr/>
          <p:nvPr/>
        </p:nvSpPr>
        <p:spPr>
          <a:xfrm>
            <a:off x="438912" y="4425696"/>
            <a:ext cx="8375904" cy="548640"/>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Formula 1: prefer + noun/verb-ing + TO + noun/verb-ing.   Formula 2: would prefer + TO + base verb.</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3 — Part C: As...As — Making Comparisons</a:t>
            </a:r>
            <a:endParaRPr lang="en-US" sz="2000" dirty="0"/>
          </a:p>
        </p:txBody>
      </p:sp>
      <p:sp>
        <p:nvSpPr>
          <p:cNvPr id="5" name="Shape 3"/>
          <p:cNvSpPr/>
          <p:nvPr/>
        </p:nvSpPr>
        <p:spPr>
          <a:xfrm>
            <a:off x="7315200" y="128016"/>
            <a:ext cx="1645920" cy="402336"/>
          </a:xfrm>
          <a:prstGeom prst="rect">
            <a:avLst/>
          </a:prstGeom>
          <a:solidFill>
            <a:srgbClr val="F4A261"/>
          </a:solidFill>
          <a:ln w="12700">
            <a:solidFill>
              <a:srgbClr val="F4A261"/>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WRITE THIS DOWN ✏</a:t>
            </a:r>
            <a:endParaRPr lang="en-US" sz="1100" dirty="0"/>
          </a:p>
        </p:txBody>
      </p:sp>
      <p:sp>
        <p:nvSpPr>
          <p:cNvPr id="7" name="Shape 5"/>
          <p:cNvSpPr/>
          <p:nvPr/>
        </p:nvSpPr>
        <p:spPr>
          <a:xfrm>
            <a:off x="256032" y="749808"/>
            <a:ext cx="8631936" cy="347472"/>
          </a:xfrm>
          <a:prstGeom prst="rect">
            <a:avLst/>
          </a:prstGeom>
          <a:solidFill>
            <a:srgbClr val="F4A261"/>
          </a:solidFill>
          <a:ln w="12700">
            <a:solidFill>
              <a:srgbClr val="E8873A"/>
            </a:solidFill>
            <a:prstDash val="solid"/>
          </a:ln>
        </p:spPr>
      </p:sp>
      <p:sp>
        <p:nvSpPr>
          <p:cNvPr id="8" name="Shape 6"/>
          <p:cNvSpPr/>
          <p:nvPr/>
        </p:nvSpPr>
        <p:spPr>
          <a:xfrm>
            <a:off x="256032" y="749808"/>
            <a:ext cx="109728" cy="347472"/>
          </a:xfrm>
          <a:prstGeom prst="rect">
            <a:avLst/>
          </a:prstGeom>
          <a:solidFill>
            <a:srgbClr val="E8873A"/>
          </a:solidFill>
          <a:ln w="12700">
            <a:solidFill>
              <a:srgbClr val="E8873A"/>
            </a:solidFill>
            <a:prstDash val="solid"/>
          </a:ln>
        </p:spPr>
      </p:sp>
      <p:sp>
        <p:nvSpPr>
          <p:cNvPr id="9" name="Text 7"/>
          <p:cNvSpPr/>
          <p:nvPr/>
        </p:nvSpPr>
        <p:spPr>
          <a:xfrm>
            <a:off x="420624" y="749808"/>
            <a:ext cx="8449056" cy="347472"/>
          </a:xfrm>
          <a:prstGeom prst="rect">
            <a:avLst/>
          </a:prstGeom>
          <a:noFill/>
          <a:ln/>
        </p:spPr>
        <p:txBody>
          <a:bodyPr wrap="square" lIns="0" tIns="0" rIns="0" bIns="0" rtlCol="0" anchor="ctr"/>
          <a:lstStyle/>
          <a:p>
            <a:pPr marL="0" indent="0">
              <a:buNone/>
            </a:pPr>
            <a:r>
              <a:rPr lang="en-US" sz="1200" b="1" dirty="0">
                <a:solidFill>
                  <a:srgbClr val="1B3A6B"/>
                </a:solidFill>
                <a:latin typeface="Trebuchet MS" pitchFamily="34" charset="0"/>
                <a:ea typeface="Trebuchet MS" pitchFamily="34" charset="-122"/>
                <a:cs typeface="Trebuchet MS" pitchFamily="34" charset="-120"/>
              </a:rPr>
              <a:t>✏  WRITE THIS DOWN</a:t>
            </a:r>
            <a:endParaRPr lang="en-US" sz="1200" dirty="0"/>
          </a:p>
        </p:txBody>
      </p:sp>
      <p:sp>
        <p:nvSpPr>
          <p:cNvPr id="10" name="Shape 8"/>
          <p:cNvSpPr/>
          <p:nvPr/>
        </p:nvSpPr>
        <p:spPr>
          <a:xfrm>
            <a:off x="256032" y="1170432"/>
            <a:ext cx="8631936" cy="621792"/>
          </a:xfrm>
          <a:prstGeom prst="rect">
            <a:avLst/>
          </a:prstGeom>
          <a:solidFill>
            <a:srgbClr val="1B3A6B"/>
          </a:solidFill>
          <a:ln w="12700">
            <a:solidFill>
              <a:srgbClr val="1B3A6B"/>
            </a:solidFill>
            <a:prstDash val="solid"/>
          </a:ln>
        </p:spPr>
      </p:sp>
      <p:sp>
        <p:nvSpPr>
          <p:cNvPr id="11" name="Shape 9"/>
          <p:cNvSpPr/>
          <p:nvPr/>
        </p:nvSpPr>
        <p:spPr>
          <a:xfrm>
            <a:off x="256032" y="1170432"/>
            <a:ext cx="137160" cy="621792"/>
          </a:xfrm>
          <a:prstGeom prst="rect">
            <a:avLst/>
          </a:prstGeom>
          <a:solidFill>
            <a:srgbClr val="F4A261"/>
          </a:solidFill>
          <a:ln w="12700">
            <a:solidFill>
              <a:srgbClr val="F4A261"/>
            </a:solidFill>
            <a:prstDash val="solid"/>
          </a:ln>
        </p:spPr>
      </p:sp>
      <p:sp>
        <p:nvSpPr>
          <p:cNvPr id="12" name="Text 10"/>
          <p:cNvSpPr/>
          <p:nvPr/>
        </p:nvSpPr>
        <p:spPr>
          <a:xfrm>
            <a:off x="457200" y="1170432"/>
            <a:ext cx="8321040" cy="621792"/>
          </a:xfrm>
          <a:prstGeom prst="rect">
            <a:avLst/>
          </a:prstGeom>
          <a:noFill/>
          <a:ln/>
        </p:spPr>
        <p:txBody>
          <a:bodyPr wrap="square" lIns="0" tIns="0" rIns="0" bIns="0" rtlCol="0" anchor="ctr"/>
          <a:lstStyle/>
          <a:p>
            <a:pPr marL="0" indent="0">
              <a:buNone/>
            </a:pPr>
            <a:r>
              <a:rPr lang="en-US" sz="1700" b="1" dirty="0">
                <a:solidFill>
                  <a:srgbClr val="F4A261"/>
                </a:solidFill>
                <a:latin typeface="Trebuchet MS" pitchFamily="34" charset="0"/>
                <a:ea typeface="Trebuchet MS" pitchFamily="34" charset="-122"/>
                <a:cs typeface="Trebuchet MS" pitchFamily="34" charset="-120"/>
              </a:rPr>
              <a:t>FORMULA:  </a:t>
            </a:r>
            <a:r>
              <a:rPr lang="en-US" sz="1700" dirty="0">
                <a:solidFill>
                  <a:srgbClr val="FFFFFF"/>
                </a:solidFill>
                <a:latin typeface="Trebuchet MS" pitchFamily="34" charset="0"/>
                <a:ea typeface="Trebuchet MS" pitchFamily="34" charset="-122"/>
                <a:cs typeface="Trebuchet MS" pitchFamily="34" charset="-120"/>
              </a:rPr>
              <a:t>Subject  +  verb  +  </a:t>
            </a:r>
            <a:r>
              <a:rPr lang="en-US" sz="1700" b="1" dirty="0">
                <a:solidFill>
                  <a:srgbClr val="F4A261"/>
                </a:solidFill>
                <a:latin typeface="Trebuchet MS" pitchFamily="34" charset="0"/>
                <a:ea typeface="Trebuchet MS" pitchFamily="34" charset="-122"/>
                <a:cs typeface="Trebuchet MS" pitchFamily="34" charset="-120"/>
              </a:rPr>
              <a:t>as</a:t>
            </a:r>
            <a:r>
              <a:rPr lang="en-US" sz="1700" dirty="0">
                <a:solidFill>
                  <a:srgbClr val="FFFFFF"/>
                </a:solidFill>
                <a:latin typeface="Trebuchet MS" pitchFamily="34" charset="0"/>
                <a:ea typeface="Trebuchet MS" pitchFamily="34" charset="-122"/>
                <a:cs typeface="Trebuchet MS" pitchFamily="34" charset="-120"/>
              </a:rPr>
              <a:t>  +  adjective  +  </a:t>
            </a:r>
            <a:r>
              <a:rPr lang="en-US" sz="1700" b="1" dirty="0">
                <a:solidFill>
                  <a:srgbClr val="F4A261"/>
                </a:solidFill>
                <a:latin typeface="Trebuchet MS" pitchFamily="34" charset="0"/>
                <a:ea typeface="Trebuchet MS" pitchFamily="34" charset="-122"/>
                <a:cs typeface="Trebuchet MS" pitchFamily="34" charset="-120"/>
              </a:rPr>
              <a:t>as</a:t>
            </a:r>
            <a:r>
              <a:rPr lang="en-US" sz="1700" dirty="0">
                <a:solidFill>
                  <a:srgbClr val="FFFFFF"/>
                </a:solidFill>
                <a:latin typeface="Trebuchet MS" pitchFamily="34" charset="0"/>
                <a:ea typeface="Trebuchet MS" pitchFamily="34" charset="-122"/>
                <a:cs typeface="Trebuchet MS" pitchFamily="34" charset="-120"/>
              </a:rPr>
              <a:t>  +  noun/pronoun</a:t>
            </a:r>
            <a:endParaRPr lang="en-US" sz="1700" dirty="0"/>
          </a:p>
        </p:txBody>
      </p:sp>
      <p:sp>
        <p:nvSpPr>
          <p:cNvPr id="13" name="Shape 11"/>
          <p:cNvSpPr/>
          <p:nvPr/>
        </p:nvSpPr>
        <p:spPr>
          <a:xfrm>
            <a:off x="256032" y="1883664"/>
            <a:ext cx="4169664" cy="1920240"/>
          </a:xfrm>
          <a:prstGeom prst="rect">
            <a:avLst/>
          </a:prstGeom>
          <a:solidFill>
            <a:srgbClr val="D5F5E3"/>
          </a:solidFill>
          <a:ln w="12700">
            <a:solidFill>
              <a:srgbClr val="27AE60"/>
            </a:solidFill>
            <a:prstDash val="solid"/>
          </a:ln>
        </p:spPr>
      </p:sp>
      <p:sp>
        <p:nvSpPr>
          <p:cNvPr id="14" name="Shape 12"/>
          <p:cNvSpPr/>
          <p:nvPr/>
        </p:nvSpPr>
        <p:spPr>
          <a:xfrm>
            <a:off x="256032" y="1883664"/>
            <a:ext cx="4169664" cy="438912"/>
          </a:xfrm>
          <a:prstGeom prst="rect">
            <a:avLst/>
          </a:prstGeom>
          <a:solidFill>
            <a:srgbClr val="27AE60"/>
          </a:solidFill>
          <a:ln w="12700">
            <a:solidFill>
              <a:srgbClr val="27AE60"/>
            </a:solidFill>
            <a:prstDash val="solid"/>
          </a:ln>
        </p:spPr>
      </p:sp>
      <p:sp>
        <p:nvSpPr>
          <p:cNvPr id="15" name="Text 13"/>
          <p:cNvSpPr/>
          <p:nvPr/>
        </p:nvSpPr>
        <p:spPr>
          <a:xfrm>
            <a:off x="256032" y="1883664"/>
            <a:ext cx="4169664"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  POSITIVE (Equal)</a:t>
            </a:r>
            <a:endParaRPr lang="en-US" sz="1300" dirty="0"/>
          </a:p>
        </p:txBody>
      </p:sp>
      <p:sp>
        <p:nvSpPr>
          <p:cNvPr id="16" name="Text 14"/>
          <p:cNvSpPr/>
          <p:nvPr/>
        </p:nvSpPr>
        <p:spPr>
          <a:xfrm>
            <a:off x="347472" y="2414016"/>
            <a:ext cx="3986784" cy="411480"/>
          </a:xfrm>
          <a:prstGeom prst="rect">
            <a:avLst/>
          </a:prstGeom>
          <a:noFill/>
          <a:ln/>
        </p:spPr>
        <p:txBody>
          <a:bodyPr wrap="square" rtlCol="0" anchor="ctr"/>
          <a:lstStyle/>
          <a:p>
            <a:pPr marL="0" indent="0">
              <a:buNone/>
            </a:pPr>
            <a:r>
              <a:rPr lang="en-US" sz="1400" b="1" i="1" dirty="0">
                <a:solidFill>
                  <a:srgbClr val="111827"/>
                </a:solidFill>
                <a:latin typeface="Calibri" pitchFamily="34" charset="0"/>
                <a:ea typeface="Calibri" pitchFamily="34" charset="-122"/>
                <a:cs typeface="Calibri" pitchFamily="34" charset="-120"/>
              </a:rPr>
              <a:t>The book is as interesting as the film.</a:t>
            </a:r>
            <a:endParaRPr lang="en-US" sz="1400" dirty="0"/>
          </a:p>
        </p:txBody>
      </p:sp>
      <p:sp>
        <p:nvSpPr>
          <p:cNvPr id="17" name="Text 15"/>
          <p:cNvSpPr/>
          <p:nvPr/>
        </p:nvSpPr>
        <p:spPr>
          <a:xfrm>
            <a:off x="347472" y="2834640"/>
            <a:ext cx="3986784" cy="320040"/>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This game is as fun as going out.</a:t>
            </a:r>
            <a:endParaRPr lang="en-US" sz="1300" dirty="0"/>
          </a:p>
        </p:txBody>
      </p:sp>
      <p:sp>
        <p:nvSpPr>
          <p:cNvPr id="18" name="Text 16"/>
          <p:cNvSpPr/>
          <p:nvPr/>
        </p:nvSpPr>
        <p:spPr>
          <a:xfrm>
            <a:off x="347472" y="3200400"/>
            <a:ext cx="3986784" cy="502920"/>
          </a:xfrm>
          <a:prstGeom prst="rect">
            <a:avLst/>
          </a:prstGeom>
          <a:noFill/>
          <a:ln/>
        </p:spPr>
        <p:txBody>
          <a:bodyPr wrap="square" rtlCol="0" anchor="ctr"/>
          <a:lstStyle/>
          <a:p>
            <a:pPr marL="0" indent="0">
              <a:buNone/>
            </a:pPr>
            <a:r>
              <a:rPr lang="en-US" sz="1200" b="1" dirty="0">
                <a:solidFill>
                  <a:srgbClr val="27AE60"/>
                </a:solidFill>
                <a:latin typeface="Calibri" pitchFamily="34" charset="0"/>
                <a:ea typeface="Calibri" pitchFamily="34" charset="-122"/>
                <a:cs typeface="Calibri" pitchFamily="34" charset="-120"/>
              </a:rPr>
              <a:t>Meaning: both things are EQUAL.</a:t>
            </a:r>
            <a:endParaRPr lang="en-US" sz="1200" dirty="0"/>
          </a:p>
        </p:txBody>
      </p:sp>
      <p:sp>
        <p:nvSpPr>
          <p:cNvPr id="19" name="Shape 17"/>
          <p:cNvSpPr/>
          <p:nvPr/>
        </p:nvSpPr>
        <p:spPr>
          <a:xfrm>
            <a:off x="4718304" y="1883664"/>
            <a:ext cx="4169664" cy="1920240"/>
          </a:xfrm>
          <a:prstGeom prst="rect">
            <a:avLst/>
          </a:prstGeom>
          <a:solidFill>
            <a:srgbClr val="FDE8E8"/>
          </a:solidFill>
          <a:ln w="12700">
            <a:solidFill>
              <a:srgbClr val="E53E3E"/>
            </a:solidFill>
            <a:prstDash val="solid"/>
          </a:ln>
        </p:spPr>
      </p:sp>
      <p:sp>
        <p:nvSpPr>
          <p:cNvPr id="20" name="Shape 18"/>
          <p:cNvSpPr/>
          <p:nvPr/>
        </p:nvSpPr>
        <p:spPr>
          <a:xfrm>
            <a:off x="4718304" y="1883664"/>
            <a:ext cx="4169664" cy="438912"/>
          </a:xfrm>
          <a:prstGeom prst="rect">
            <a:avLst/>
          </a:prstGeom>
          <a:solidFill>
            <a:srgbClr val="E53E3E"/>
          </a:solidFill>
          <a:ln w="12700">
            <a:solidFill>
              <a:srgbClr val="E53E3E"/>
            </a:solidFill>
            <a:prstDash val="solid"/>
          </a:ln>
        </p:spPr>
      </p:sp>
      <p:sp>
        <p:nvSpPr>
          <p:cNvPr id="21" name="Text 19"/>
          <p:cNvSpPr/>
          <p:nvPr/>
        </p:nvSpPr>
        <p:spPr>
          <a:xfrm>
            <a:off x="4718304" y="1883664"/>
            <a:ext cx="4169664"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  NEGATIVE (Not equal)</a:t>
            </a:r>
            <a:endParaRPr lang="en-US" sz="1300" dirty="0"/>
          </a:p>
        </p:txBody>
      </p:sp>
      <p:sp>
        <p:nvSpPr>
          <p:cNvPr id="22" name="Text 20"/>
          <p:cNvSpPr/>
          <p:nvPr/>
        </p:nvSpPr>
        <p:spPr>
          <a:xfrm>
            <a:off x="4809744" y="2414016"/>
            <a:ext cx="3986784" cy="411480"/>
          </a:xfrm>
          <a:prstGeom prst="rect">
            <a:avLst/>
          </a:prstGeom>
          <a:noFill/>
          <a:ln/>
        </p:spPr>
        <p:txBody>
          <a:bodyPr wrap="square" rtlCol="0" anchor="ctr"/>
          <a:lstStyle/>
          <a:p>
            <a:pPr marL="0" indent="0">
              <a:buNone/>
            </a:pPr>
            <a:r>
              <a:rPr lang="en-US" sz="1400" b="1" i="1" dirty="0">
                <a:solidFill>
                  <a:srgbClr val="111827"/>
                </a:solidFill>
                <a:latin typeface="Calibri" pitchFamily="34" charset="0"/>
                <a:ea typeface="Calibri" pitchFamily="34" charset="-122"/>
                <a:cs typeface="Calibri" pitchFamily="34" charset="-120"/>
              </a:rPr>
              <a:t>The film is not as long as the book.</a:t>
            </a:r>
            <a:endParaRPr lang="en-US" sz="1400" dirty="0"/>
          </a:p>
        </p:txBody>
      </p:sp>
      <p:sp>
        <p:nvSpPr>
          <p:cNvPr id="23" name="Text 21"/>
          <p:cNvSpPr/>
          <p:nvPr/>
        </p:nvSpPr>
        <p:spPr>
          <a:xfrm>
            <a:off x="4809744" y="2834640"/>
            <a:ext cx="3986784" cy="320040"/>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Game night is not as expensive as dinner.</a:t>
            </a:r>
            <a:endParaRPr lang="en-US" sz="1300" dirty="0"/>
          </a:p>
        </p:txBody>
      </p:sp>
      <p:sp>
        <p:nvSpPr>
          <p:cNvPr id="24" name="Text 22"/>
          <p:cNvSpPr/>
          <p:nvPr/>
        </p:nvSpPr>
        <p:spPr>
          <a:xfrm>
            <a:off x="4809744" y="3200400"/>
            <a:ext cx="3986784" cy="502920"/>
          </a:xfrm>
          <a:prstGeom prst="rect">
            <a:avLst/>
          </a:prstGeom>
          <a:noFill/>
          <a:ln/>
        </p:spPr>
        <p:txBody>
          <a:bodyPr wrap="square" rtlCol="0" anchor="ctr"/>
          <a:lstStyle/>
          <a:p>
            <a:pPr marL="0" indent="0">
              <a:buNone/>
            </a:pPr>
            <a:r>
              <a:rPr lang="en-US" sz="1200" b="1" dirty="0">
                <a:solidFill>
                  <a:srgbClr val="E53E3E"/>
                </a:solidFill>
                <a:latin typeface="Calibri" pitchFamily="34" charset="0"/>
                <a:ea typeface="Calibri" pitchFamily="34" charset="-122"/>
                <a:cs typeface="Calibri" pitchFamily="34" charset="-120"/>
              </a:rPr>
              <a:t>Meaning: one thing is LESS than the other.</a:t>
            </a:r>
            <a:endParaRPr lang="en-US" sz="1200" dirty="0"/>
          </a:p>
        </p:txBody>
      </p:sp>
      <p:sp>
        <p:nvSpPr>
          <p:cNvPr id="25" name="Shape 23"/>
          <p:cNvSpPr/>
          <p:nvPr/>
        </p:nvSpPr>
        <p:spPr>
          <a:xfrm>
            <a:off x="256032" y="3895344"/>
            <a:ext cx="8631936" cy="384048"/>
          </a:xfrm>
          <a:prstGeom prst="rect">
            <a:avLst/>
          </a:prstGeom>
          <a:solidFill>
            <a:srgbClr val="FEF9E7"/>
          </a:solidFill>
          <a:ln w="12700">
            <a:solidFill>
              <a:srgbClr val="F4A261"/>
            </a:solidFill>
            <a:prstDash val="solid"/>
          </a:ln>
        </p:spPr>
      </p:sp>
      <p:sp>
        <p:nvSpPr>
          <p:cNvPr id="26" name="Shape 24"/>
          <p:cNvSpPr/>
          <p:nvPr/>
        </p:nvSpPr>
        <p:spPr>
          <a:xfrm>
            <a:off x="256032" y="3895344"/>
            <a:ext cx="109728" cy="384048"/>
          </a:xfrm>
          <a:prstGeom prst="rect">
            <a:avLst/>
          </a:prstGeom>
          <a:solidFill>
            <a:srgbClr val="F4A261"/>
          </a:solidFill>
          <a:ln w="12700">
            <a:solidFill>
              <a:srgbClr val="F4A261"/>
            </a:solidFill>
            <a:prstDash val="solid"/>
          </a:ln>
        </p:spPr>
      </p:sp>
      <p:sp>
        <p:nvSpPr>
          <p:cNvPr id="27" name="Text 25"/>
          <p:cNvSpPr/>
          <p:nvPr/>
        </p:nvSpPr>
        <p:spPr>
          <a:xfrm>
            <a:off x="438912" y="3950208"/>
            <a:ext cx="8375904" cy="274320"/>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SCALE TIP: Positive as...as = both sides weigh the same (equal). Negative not as...as = one side is lighter (less).</a:t>
            </a:r>
            <a:endParaRPr lang="en-US" sz="1300" dirty="0"/>
          </a:p>
        </p:txBody>
      </p:sp>
      <p:sp>
        <p:nvSpPr>
          <p:cNvPr id="28" name="Shape 26"/>
          <p:cNvSpPr/>
          <p:nvPr/>
        </p:nvSpPr>
        <p:spPr>
          <a:xfrm>
            <a:off x="256032" y="4352544"/>
            <a:ext cx="8631936" cy="640080"/>
          </a:xfrm>
          <a:prstGeom prst="rect">
            <a:avLst/>
          </a:prstGeom>
          <a:solidFill>
            <a:srgbClr val="D1F2EB"/>
          </a:solidFill>
          <a:ln w="12700">
            <a:solidFill>
              <a:srgbClr val="0D7377"/>
            </a:solidFill>
            <a:prstDash val="solid"/>
          </a:ln>
        </p:spPr>
      </p:sp>
      <p:sp>
        <p:nvSpPr>
          <p:cNvPr id="29" name="Shape 27"/>
          <p:cNvSpPr/>
          <p:nvPr/>
        </p:nvSpPr>
        <p:spPr>
          <a:xfrm>
            <a:off x="256032" y="4352544"/>
            <a:ext cx="109728" cy="640080"/>
          </a:xfrm>
          <a:prstGeom prst="rect">
            <a:avLst/>
          </a:prstGeom>
          <a:solidFill>
            <a:srgbClr val="0D7377"/>
          </a:solidFill>
          <a:ln w="12700">
            <a:solidFill>
              <a:srgbClr val="0D7377"/>
            </a:solidFill>
            <a:prstDash val="solid"/>
          </a:ln>
        </p:spPr>
      </p:sp>
      <p:sp>
        <p:nvSpPr>
          <p:cNvPr id="30" name="Shape 28"/>
          <p:cNvSpPr/>
          <p:nvPr/>
        </p:nvSpPr>
        <p:spPr>
          <a:xfrm>
            <a:off x="438912" y="4425696"/>
            <a:ext cx="1828800" cy="292608"/>
          </a:xfrm>
          <a:prstGeom prst="rect">
            <a:avLst/>
          </a:prstGeom>
          <a:solidFill>
            <a:srgbClr val="0D7377"/>
          </a:solidFill>
          <a:ln w="12700">
            <a:solidFill>
              <a:srgbClr val="0D7377"/>
            </a:solidFill>
            <a:prstDash val="solid"/>
          </a:ln>
        </p:spPr>
      </p:sp>
      <p:sp>
        <p:nvSpPr>
          <p:cNvPr id="31" name="Text 29"/>
          <p:cNvSpPr/>
          <p:nvPr/>
        </p:nvSpPr>
        <p:spPr>
          <a:xfrm>
            <a:off x="438912" y="4425696"/>
            <a:ext cx="18288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PAIR / GROUP TASK</a:t>
            </a:r>
            <a:endParaRPr lang="en-US" sz="1100" dirty="0"/>
          </a:p>
        </p:txBody>
      </p:sp>
      <p:sp>
        <p:nvSpPr>
          <p:cNvPr id="32" name="Text 30"/>
          <p:cNvSpPr/>
          <p:nvPr/>
        </p:nvSpPr>
        <p:spPr>
          <a:xfrm>
            <a:off x="438912" y="4773168"/>
            <a:ext cx="8357616" cy="146304"/>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Say a sentence using as...as about tonight's plans. Example: 'Staying home is as relaxing as going to a spa!'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3 — Part D: Exercise 3 + Pair Task 4</a:t>
            </a:r>
            <a:endParaRPr lang="en-US" sz="2000" dirty="0"/>
          </a:p>
        </p:txBody>
      </p:sp>
      <p:sp>
        <p:nvSpPr>
          <p:cNvPr id="5" name="Shape 3"/>
          <p:cNvSpPr/>
          <p:nvPr/>
        </p:nvSpPr>
        <p:spPr>
          <a:xfrm>
            <a:off x="7315200" y="128016"/>
            <a:ext cx="1645920" cy="402336"/>
          </a:xfrm>
          <a:prstGeom prst="rect">
            <a:avLst/>
          </a:prstGeom>
          <a:solidFill>
            <a:srgbClr val="1B3A6B"/>
          </a:solidFill>
          <a:ln w="12700">
            <a:solidFill>
              <a:srgbClr val="1B3A6B"/>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PRACTICE</a:t>
            </a:r>
            <a:endParaRPr lang="en-US" sz="1100" dirty="0"/>
          </a:p>
        </p:txBody>
      </p:sp>
      <p:sp>
        <p:nvSpPr>
          <p:cNvPr id="7" name="Shape 5"/>
          <p:cNvSpPr/>
          <p:nvPr/>
        </p:nvSpPr>
        <p:spPr>
          <a:xfrm>
            <a:off x="256032" y="749808"/>
            <a:ext cx="8631936" cy="502920"/>
          </a:xfrm>
          <a:prstGeom prst="rect">
            <a:avLst/>
          </a:prstGeom>
          <a:solidFill>
            <a:srgbClr val="D6EAF8"/>
          </a:solidFill>
          <a:ln w="12700">
            <a:solidFill>
              <a:srgbClr val="1B3A6B"/>
            </a:solidFill>
            <a:prstDash val="solid"/>
          </a:ln>
        </p:spPr>
      </p:sp>
      <p:sp>
        <p:nvSpPr>
          <p:cNvPr id="8" name="Shape 6"/>
          <p:cNvSpPr/>
          <p:nvPr/>
        </p:nvSpPr>
        <p:spPr>
          <a:xfrm>
            <a:off x="256032" y="749808"/>
            <a:ext cx="109728" cy="502920"/>
          </a:xfrm>
          <a:prstGeom prst="rect">
            <a:avLst/>
          </a:prstGeom>
          <a:solidFill>
            <a:srgbClr val="1B3A6B"/>
          </a:solidFill>
          <a:ln w="12700">
            <a:solidFill>
              <a:srgbClr val="1B3A6B"/>
            </a:solidFill>
            <a:prstDash val="solid"/>
          </a:ln>
        </p:spPr>
      </p:sp>
      <p:sp>
        <p:nvSpPr>
          <p:cNvPr id="9" name="Text 7"/>
          <p:cNvSpPr/>
          <p:nvPr/>
        </p:nvSpPr>
        <p:spPr>
          <a:xfrm>
            <a:off x="420624" y="749808"/>
            <a:ext cx="8321040" cy="502920"/>
          </a:xfrm>
          <a:prstGeom prst="rect">
            <a:avLst/>
          </a:prstGeom>
          <a:noFill/>
          <a:ln/>
        </p:spPr>
        <p:txBody>
          <a:bodyPr wrap="square" lIns="0" tIns="0" rIns="0" bIns="0" rtlCol="0" anchor="ctr"/>
          <a:lstStyle/>
          <a:p>
            <a:pPr marL="0" indent="0">
              <a:buNone/>
            </a:pPr>
            <a:r>
              <a:rPr lang="en-US" sz="1300" dirty="0">
                <a:solidFill>
                  <a:srgbClr val="111827"/>
                </a:solidFill>
                <a:latin typeface="Calibri" pitchFamily="34" charset="0"/>
                <a:ea typeface="Calibri" pitchFamily="34" charset="-122"/>
                <a:cs typeface="Calibri" pitchFamily="34" charset="-120"/>
              </a:rPr>
              <a:t>Exercise 3: Rewrite each sentence using the word in brackets. Keep the SAME meaning. Follow the formulas.</a:t>
            </a:r>
            <a:endParaRPr lang="en-US" sz="1300" dirty="0"/>
          </a:p>
        </p:txBody>
      </p:sp>
      <p:sp>
        <p:nvSpPr>
          <p:cNvPr id="10" name="Shape 8"/>
          <p:cNvSpPr/>
          <p:nvPr/>
        </p:nvSpPr>
        <p:spPr>
          <a:xfrm>
            <a:off x="256032" y="1325880"/>
            <a:ext cx="8631936" cy="1600200"/>
          </a:xfrm>
          <a:prstGeom prst="rect">
            <a:avLst/>
          </a:prstGeom>
          <a:solidFill>
            <a:srgbClr val="F8F4FF"/>
          </a:solidFill>
          <a:ln w="12700">
            <a:solidFill>
              <a:srgbClr val="9B59B6"/>
            </a:solidFill>
            <a:prstDash val="solid"/>
          </a:ln>
        </p:spPr>
      </p:sp>
      <p:sp>
        <p:nvSpPr>
          <p:cNvPr id="11" name="Shape 9"/>
          <p:cNvSpPr/>
          <p:nvPr/>
        </p:nvSpPr>
        <p:spPr>
          <a:xfrm>
            <a:off x="256032" y="1325880"/>
            <a:ext cx="109728" cy="1600200"/>
          </a:xfrm>
          <a:prstGeom prst="rect">
            <a:avLst/>
          </a:prstGeom>
          <a:solidFill>
            <a:srgbClr val="9B59B6"/>
          </a:solidFill>
          <a:ln w="12700">
            <a:solidFill>
              <a:srgbClr val="9B59B6"/>
            </a:solidFill>
            <a:prstDash val="solid"/>
          </a:ln>
        </p:spPr>
      </p:sp>
      <p:sp>
        <p:nvSpPr>
          <p:cNvPr id="12" name="Text 10"/>
          <p:cNvSpPr/>
          <p:nvPr/>
        </p:nvSpPr>
        <p:spPr>
          <a:xfrm>
            <a:off x="420624" y="1362456"/>
            <a:ext cx="8321040" cy="292608"/>
          </a:xfrm>
          <a:prstGeom prst="rect">
            <a:avLst/>
          </a:prstGeom>
          <a:noFill/>
          <a:ln/>
        </p:spPr>
        <p:txBody>
          <a:bodyPr wrap="square" lIns="0" tIns="0" rIns="0" bIns="0" rtlCol="0" anchor="ctr"/>
          <a:lstStyle/>
          <a:p>
            <a:pPr marL="0" indent="0">
              <a:buNone/>
            </a:pPr>
            <a:r>
              <a:rPr lang="en-US" sz="1200" b="1" dirty="0">
                <a:solidFill>
                  <a:srgbClr val="1B3A6B"/>
                </a:solidFill>
                <a:latin typeface="Trebuchet MS" pitchFamily="34" charset="0"/>
                <a:ea typeface="Trebuchet MS" pitchFamily="34" charset="-122"/>
                <a:cs typeface="Trebuchet MS" pitchFamily="34" charset="-120"/>
              </a:rPr>
              <a:t>QUICK REFERENCE — Formulas (use while doing Exercise 3):</a:t>
            </a:r>
            <a:endParaRPr lang="en-US" sz="1200" dirty="0"/>
          </a:p>
        </p:txBody>
      </p:sp>
      <p:sp>
        <p:nvSpPr>
          <p:cNvPr id="13" name="Text 11"/>
          <p:cNvSpPr/>
          <p:nvPr/>
        </p:nvSpPr>
        <p:spPr>
          <a:xfrm>
            <a:off x="420624" y="1682496"/>
            <a:ext cx="8321040" cy="274320"/>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Would rather:  </a:t>
            </a:r>
            <a:r>
              <a:rPr lang="en-US" sz="1200" i="1" dirty="0">
                <a:solidFill>
                  <a:srgbClr val="111827"/>
                </a:solidFill>
                <a:latin typeface="Calibri" pitchFamily="34" charset="0"/>
                <a:ea typeface="Calibri" pitchFamily="34" charset="-122"/>
                <a:cs typeface="Calibri" pitchFamily="34" charset="-120"/>
              </a:rPr>
              <a:t>I'd rather WATCH than go out.  (base verb, no -ing)</a:t>
            </a:r>
            <a:endParaRPr lang="en-US" sz="1200" dirty="0"/>
          </a:p>
        </p:txBody>
      </p:sp>
      <p:sp>
        <p:nvSpPr>
          <p:cNvPr id="14" name="Text 12"/>
          <p:cNvSpPr/>
          <p:nvPr/>
        </p:nvSpPr>
        <p:spPr>
          <a:xfrm>
            <a:off x="420624" y="1975104"/>
            <a:ext cx="8321040" cy="274320"/>
          </a:xfrm>
          <a:prstGeom prst="rect">
            <a:avLst/>
          </a:prstGeom>
          <a:noFill/>
          <a:ln/>
        </p:spPr>
        <p:txBody>
          <a:bodyPr wrap="square" lIns="0" tIns="0" rIns="0" bIns="0" rtlCol="0" anchor="ctr"/>
          <a:lstStyle/>
          <a:p>
            <a:pPr marL="0" indent="0">
              <a:buNone/>
            </a:pPr>
            <a:r>
              <a:rPr lang="en-US" sz="1200" b="1" dirty="0">
                <a:solidFill>
                  <a:srgbClr val="0D7377"/>
                </a:solidFill>
                <a:latin typeface="Calibri" pitchFamily="34" charset="0"/>
                <a:ea typeface="Calibri" pitchFamily="34" charset="-122"/>
                <a:cs typeface="Calibri" pitchFamily="34" charset="-120"/>
              </a:rPr>
              <a:t>Prefer (general):  </a:t>
            </a:r>
            <a:r>
              <a:rPr lang="en-US" sz="1200" i="1" dirty="0">
                <a:solidFill>
                  <a:srgbClr val="111827"/>
                </a:solidFill>
                <a:latin typeface="Calibri" pitchFamily="34" charset="0"/>
                <a:ea typeface="Calibri" pitchFamily="34" charset="-122"/>
                <a:cs typeface="Calibri" pitchFamily="34" charset="-120"/>
              </a:rPr>
              <a:t>I prefer BOOKS to FILMS.  (noun or verb-ing + to)</a:t>
            </a:r>
            <a:endParaRPr lang="en-US" sz="1200" dirty="0"/>
          </a:p>
        </p:txBody>
      </p:sp>
      <p:sp>
        <p:nvSpPr>
          <p:cNvPr id="15" name="Text 13"/>
          <p:cNvSpPr/>
          <p:nvPr/>
        </p:nvSpPr>
        <p:spPr>
          <a:xfrm>
            <a:off x="420624" y="2267712"/>
            <a:ext cx="8321040" cy="274320"/>
          </a:xfrm>
          <a:prstGeom prst="rect">
            <a:avLst/>
          </a:prstGeom>
          <a:noFill/>
          <a:ln/>
        </p:spPr>
        <p:txBody>
          <a:bodyPr wrap="square" lIns="0" tIns="0" rIns="0" bIns="0" rtlCol="0" anchor="ctr"/>
          <a:lstStyle/>
          <a:p>
            <a:pPr marL="0" indent="0">
              <a:buNone/>
            </a:pPr>
            <a:r>
              <a:rPr lang="en-US" sz="1200" b="1" dirty="0">
                <a:solidFill>
                  <a:srgbClr val="0D7377"/>
                </a:solidFill>
                <a:latin typeface="Calibri" pitchFamily="34" charset="0"/>
                <a:ea typeface="Calibri" pitchFamily="34" charset="-122"/>
                <a:cs typeface="Calibri" pitchFamily="34" charset="-120"/>
              </a:rPr>
              <a:t>Would prefer (specific):  </a:t>
            </a:r>
            <a:r>
              <a:rPr lang="en-US" sz="1200" i="1" dirty="0">
                <a:solidFill>
                  <a:srgbClr val="111827"/>
                </a:solidFill>
                <a:latin typeface="Calibri" pitchFamily="34" charset="0"/>
                <a:ea typeface="Calibri" pitchFamily="34" charset="-122"/>
                <a:cs typeface="Calibri" pitchFamily="34" charset="-120"/>
              </a:rPr>
              <a:t>I'd prefer TO WATCH.  (to + base verb)</a:t>
            </a:r>
            <a:endParaRPr lang="en-US" sz="1200" dirty="0"/>
          </a:p>
        </p:txBody>
      </p:sp>
      <p:sp>
        <p:nvSpPr>
          <p:cNvPr id="16" name="Text 14"/>
          <p:cNvSpPr/>
          <p:nvPr/>
        </p:nvSpPr>
        <p:spPr>
          <a:xfrm>
            <a:off x="420624" y="2560320"/>
            <a:ext cx="8321040" cy="274320"/>
          </a:xfrm>
          <a:prstGeom prst="rect">
            <a:avLst/>
          </a:prstGeom>
          <a:noFill/>
          <a:ln/>
        </p:spPr>
        <p:txBody>
          <a:bodyPr wrap="square" lIns="0" tIns="0" rIns="0" bIns="0" rtlCol="0" anchor="ctr"/>
          <a:lstStyle/>
          <a:p>
            <a:pPr marL="0" indent="0">
              <a:buNone/>
            </a:pPr>
            <a:r>
              <a:rPr lang="en-US" sz="1200" b="1" dirty="0">
                <a:solidFill>
                  <a:srgbClr val="7D3C98"/>
                </a:solidFill>
                <a:latin typeface="Calibri" pitchFamily="34" charset="0"/>
                <a:ea typeface="Calibri" pitchFamily="34" charset="-122"/>
                <a:cs typeface="Calibri" pitchFamily="34" charset="-120"/>
              </a:rPr>
              <a:t>As...as:  </a:t>
            </a:r>
            <a:r>
              <a:rPr lang="en-US" sz="1200" i="1" dirty="0">
                <a:solidFill>
                  <a:srgbClr val="111827"/>
                </a:solidFill>
                <a:latin typeface="Calibri" pitchFamily="34" charset="0"/>
                <a:ea typeface="Calibri" pitchFamily="34" charset="-122"/>
                <a:cs typeface="Calibri" pitchFamily="34" charset="-120"/>
              </a:rPr>
              <a:t>The book is as INTERESTING as the film.  (not as...as = less)</a:t>
            </a:r>
            <a:endParaRPr lang="en-US" sz="1200" dirty="0"/>
          </a:p>
        </p:txBody>
      </p:sp>
      <p:sp>
        <p:nvSpPr>
          <p:cNvPr id="17" name="Shape 15"/>
          <p:cNvSpPr/>
          <p:nvPr/>
        </p:nvSpPr>
        <p:spPr>
          <a:xfrm>
            <a:off x="256032" y="2999232"/>
            <a:ext cx="8631936" cy="2029968"/>
          </a:xfrm>
          <a:prstGeom prst="rect">
            <a:avLst/>
          </a:prstGeom>
          <a:solidFill>
            <a:srgbClr val="D1F2EB"/>
          </a:solidFill>
          <a:ln w="12700">
            <a:solidFill>
              <a:srgbClr val="0D7377"/>
            </a:solidFill>
            <a:prstDash val="solid"/>
          </a:ln>
        </p:spPr>
      </p:sp>
      <p:sp>
        <p:nvSpPr>
          <p:cNvPr id="18" name="Shape 16"/>
          <p:cNvSpPr/>
          <p:nvPr/>
        </p:nvSpPr>
        <p:spPr>
          <a:xfrm>
            <a:off x="256032" y="2999232"/>
            <a:ext cx="109728" cy="2029968"/>
          </a:xfrm>
          <a:prstGeom prst="rect">
            <a:avLst/>
          </a:prstGeom>
          <a:solidFill>
            <a:srgbClr val="0D7377"/>
          </a:solidFill>
          <a:ln w="12700">
            <a:solidFill>
              <a:srgbClr val="0D7377"/>
            </a:solidFill>
            <a:prstDash val="solid"/>
          </a:ln>
        </p:spPr>
      </p:sp>
      <p:sp>
        <p:nvSpPr>
          <p:cNvPr id="19" name="Shape 17"/>
          <p:cNvSpPr/>
          <p:nvPr/>
        </p:nvSpPr>
        <p:spPr>
          <a:xfrm>
            <a:off x="438912" y="3072384"/>
            <a:ext cx="1828800" cy="292608"/>
          </a:xfrm>
          <a:prstGeom prst="rect">
            <a:avLst/>
          </a:prstGeom>
          <a:solidFill>
            <a:srgbClr val="0D7377"/>
          </a:solidFill>
          <a:ln w="12700">
            <a:solidFill>
              <a:srgbClr val="0D7377"/>
            </a:solidFill>
            <a:prstDash val="solid"/>
          </a:ln>
        </p:spPr>
      </p:sp>
      <p:sp>
        <p:nvSpPr>
          <p:cNvPr id="20" name="Text 18"/>
          <p:cNvSpPr/>
          <p:nvPr/>
        </p:nvSpPr>
        <p:spPr>
          <a:xfrm>
            <a:off x="438912" y="3072384"/>
            <a:ext cx="18288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PAIR / GROUP TASK</a:t>
            </a:r>
            <a:endParaRPr lang="en-US" sz="1100" dirty="0"/>
          </a:p>
        </p:txBody>
      </p:sp>
      <p:sp>
        <p:nvSpPr>
          <p:cNvPr id="21" name="Text 19"/>
          <p:cNvSpPr/>
          <p:nvPr/>
        </p:nvSpPr>
        <p:spPr>
          <a:xfrm>
            <a:off x="438912" y="3419856"/>
            <a:ext cx="8357616" cy="1536192"/>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PAIR TASK 4 — Speak with your partner:</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1. Do you prefer books or films? Give a reason. (prefer)</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2. What would you rather do tonight — cook dinner or order food? (would rather)</a:t>
            </a: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3. Is game night as fun as going to the cinema for you? (as...as)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6B"/>
          </a:solidFill>
          <a:ln w="12700">
            <a:solidFill>
              <a:srgbClr val="1B3A6B"/>
            </a:solidFill>
            <a:prstDash val="solid"/>
          </a:ln>
        </p:spPr>
      </p:sp>
      <p:sp>
        <p:nvSpPr>
          <p:cNvPr id="3" name="Shape 1"/>
          <p:cNvSpPr/>
          <p:nvPr/>
        </p:nvSpPr>
        <p:spPr>
          <a:xfrm>
            <a:off x="6217920" y="0"/>
            <a:ext cx="2926080" cy="5143500"/>
          </a:xfrm>
          <a:prstGeom prst="rect">
            <a:avLst/>
          </a:prstGeom>
          <a:solidFill>
            <a:srgbClr val="0D7377"/>
          </a:solidFill>
          <a:ln w="12700">
            <a:solidFill>
              <a:srgbClr val="0D7377"/>
            </a:solidFill>
            <a:prstDash val="solid"/>
          </a:ln>
        </p:spPr>
      </p:sp>
      <p:sp>
        <p:nvSpPr>
          <p:cNvPr id="4" name="Shape 2"/>
          <p:cNvSpPr/>
          <p:nvPr/>
        </p:nvSpPr>
        <p:spPr>
          <a:xfrm>
            <a:off x="6217920" y="0"/>
            <a:ext cx="73152" cy="5143500"/>
          </a:xfrm>
          <a:prstGeom prst="rect">
            <a:avLst/>
          </a:prstGeom>
          <a:solidFill>
            <a:srgbClr val="F4A261"/>
          </a:solidFill>
          <a:ln w="12700">
            <a:solidFill>
              <a:srgbClr val="F4A261"/>
            </a:solidFill>
            <a:prstDash val="solid"/>
          </a:ln>
        </p:spPr>
      </p:sp>
      <p:sp>
        <p:nvSpPr>
          <p:cNvPr id="5" name="Shape 3"/>
          <p:cNvSpPr/>
          <p:nvPr/>
        </p:nvSpPr>
        <p:spPr>
          <a:xfrm>
            <a:off x="411480" y="914400"/>
            <a:ext cx="2011680" cy="438912"/>
          </a:xfrm>
          <a:prstGeom prst="rect">
            <a:avLst/>
          </a:prstGeom>
          <a:solidFill>
            <a:srgbClr val="F4A261"/>
          </a:solidFill>
          <a:ln w="12700">
            <a:solidFill>
              <a:srgbClr val="F4A261"/>
            </a:solidFill>
            <a:prstDash val="solid"/>
          </a:ln>
        </p:spPr>
      </p:sp>
      <p:sp>
        <p:nvSpPr>
          <p:cNvPr id="6" name="Text 4"/>
          <p:cNvSpPr/>
          <p:nvPr/>
        </p:nvSpPr>
        <p:spPr>
          <a:xfrm>
            <a:off x="411480" y="914400"/>
            <a:ext cx="2011680" cy="438912"/>
          </a:xfrm>
          <a:prstGeom prst="rect">
            <a:avLst/>
          </a:prstGeom>
          <a:noFill/>
          <a:ln/>
        </p:spPr>
        <p:txBody>
          <a:bodyPr wrap="square" lIns="0" tIns="0" rIns="0" bIns="0" rtlCol="0" anchor="ctr"/>
          <a:lstStyle/>
          <a:p>
            <a:pPr marL="0" indent="0" algn="ctr">
              <a:buNone/>
            </a:pPr>
            <a:r>
              <a:rPr lang="en-US" sz="1100" b="1" dirty="0">
                <a:solidFill>
                  <a:srgbClr val="1B3A6B"/>
                </a:solidFill>
                <a:latin typeface="Trebuchet MS" pitchFamily="34" charset="0"/>
                <a:ea typeface="Trebuchet MS" pitchFamily="34" charset="-122"/>
                <a:cs typeface="Trebuchet MS" pitchFamily="34" charset="-120"/>
              </a:rPr>
              <a:t>MODULE 4</a:t>
            </a:r>
            <a:endParaRPr lang="en-US" sz="1100" dirty="0"/>
          </a:p>
        </p:txBody>
      </p:sp>
      <p:sp>
        <p:nvSpPr>
          <p:cNvPr id="7" name="Text 5"/>
          <p:cNvSpPr/>
          <p:nvPr/>
        </p:nvSpPr>
        <p:spPr>
          <a:xfrm>
            <a:off x="411480" y="1508760"/>
            <a:ext cx="5577840" cy="1280160"/>
          </a:xfrm>
          <a:prstGeom prst="rect">
            <a:avLst/>
          </a:prstGeom>
          <a:noFill/>
          <a:ln/>
        </p:spPr>
        <p:txBody>
          <a:bodyPr wrap="square"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Listening · Reading</a:t>
            </a:r>
            <a:endParaRPr lang="en-US" sz="3800" dirty="0"/>
          </a:p>
          <a:p>
            <a:pPr marL="0" indent="0">
              <a:buNone/>
            </a:pPr>
            <a:r>
              <a:rPr lang="en-US" sz="3800" b="1" dirty="0">
                <a:solidFill>
                  <a:srgbClr val="FFFFFF"/>
                </a:solidFill>
                <a:latin typeface="Trebuchet MS" pitchFamily="34" charset="0"/>
                <a:ea typeface="Trebuchet MS" pitchFamily="34" charset="-122"/>
                <a:cs typeface="Trebuchet MS" pitchFamily="34" charset="-120"/>
              </a:rPr>
              <a:t>Writing · Speaking</a:t>
            </a:r>
            <a:endParaRPr lang="en-US" sz="3800" dirty="0"/>
          </a:p>
        </p:txBody>
      </p:sp>
      <p:sp>
        <p:nvSpPr>
          <p:cNvPr id="8" name="Text 6"/>
          <p:cNvSpPr/>
          <p:nvPr/>
        </p:nvSpPr>
        <p:spPr>
          <a:xfrm>
            <a:off x="411480" y="2834640"/>
            <a:ext cx="5577840" cy="822960"/>
          </a:xfrm>
          <a:prstGeom prst="rect">
            <a:avLst/>
          </a:prstGeom>
          <a:noFill/>
          <a:ln/>
        </p:spPr>
        <p:txBody>
          <a:bodyPr wrap="square" rtlCol="0" anchor="ctr"/>
          <a:lstStyle/>
          <a:p>
            <a:pPr marL="0" indent="0">
              <a:buNone/>
            </a:pPr>
            <a:r>
              <a:rPr lang="en-US" sz="1600" i="1" dirty="0">
                <a:solidFill>
                  <a:srgbClr val="A8C4E0"/>
                </a:solidFill>
                <a:latin typeface="Calibri" pitchFamily="34" charset="0"/>
                <a:ea typeface="Calibri" pitchFamily="34" charset="-122"/>
                <a:cs typeface="Calibri" pitchFamily="34" charset="-120"/>
              </a:rPr>
              <a:t>Weekend plans conversation · Dinner party text · Opinion writing · Group task</a:t>
            </a:r>
            <a:endParaRPr lang="en-US" sz="1600" dirty="0"/>
          </a:p>
        </p:txBody>
      </p:sp>
      <p:sp>
        <p:nvSpPr>
          <p:cNvPr id="9" name="Text 7"/>
          <p:cNvSpPr/>
          <p:nvPr/>
        </p:nvSpPr>
        <p:spPr>
          <a:xfrm>
            <a:off x="6400800" y="1645920"/>
            <a:ext cx="2560320" cy="201168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Blueprint 4</a:t>
            </a:r>
            <a:endParaRPr lang="en-US" sz="1600" dirty="0"/>
          </a:p>
          <a:p>
            <a:pPr marL="0" indent="0" algn="ctr">
              <a:buNone/>
            </a:pPr>
            <a:r>
              <a:rPr lang="en-US" sz="1600" dirty="0">
                <a:solidFill>
                  <a:srgbClr val="FFFFFF"/>
                </a:solidFill>
                <a:latin typeface="Calibri" pitchFamily="34" charset="0"/>
                <a:ea typeface="Calibri" pitchFamily="34" charset="-122"/>
                <a:cs typeface="Calibri" pitchFamily="34" charset="-120"/>
              </a:rPr>
              <a:t>B1 Intermediate</a:t>
            </a:r>
            <a:endParaRPr lang="en-US" sz="1600" dirty="0"/>
          </a:p>
          <a:p>
            <a:pPr marL="0" indent="0" algn="ctr">
              <a:buNone/>
            </a:pPr>
            <a:r>
              <a:rPr lang="en-US" sz="1600" dirty="0">
                <a:solidFill>
                  <a:srgbClr val="FFFFFF"/>
                </a:solidFill>
                <a:latin typeface="Calibri" pitchFamily="34" charset="0"/>
                <a:ea typeface="Calibri" pitchFamily="34" charset="-122"/>
                <a:cs typeface="Calibri" pitchFamily="34" charset="-120"/>
              </a:rPr>
              <a:t>GEP 9</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4 — Part A: Listening — Before You Listen</a:t>
            </a:r>
            <a:endParaRPr lang="en-US" sz="2000" dirty="0"/>
          </a:p>
        </p:txBody>
      </p:sp>
      <p:sp>
        <p:nvSpPr>
          <p:cNvPr id="5" name="Shape 3"/>
          <p:cNvSpPr/>
          <p:nvPr/>
        </p:nvSpPr>
        <p:spPr>
          <a:xfrm>
            <a:off x="7315200" y="128016"/>
            <a:ext cx="1645920" cy="402336"/>
          </a:xfrm>
          <a:prstGeom prst="rect">
            <a:avLst/>
          </a:prstGeom>
          <a:solidFill>
            <a:srgbClr val="1B3A6B"/>
          </a:solidFill>
          <a:ln w="12700">
            <a:solidFill>
              <a:srgbClr val="1B3A6B"/>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LISTENING</a:t>
            </a:r>
            <a:endParaRPr lang="en-US" sz="1100" dirty="0"/>
          </a:p>
        </p:txBody>
      </p:sp>
      <p:sp>
        <p:nvSpPr>
          <p:cNvPr id="7" name="Text 5"/>
          <p:cNvSpPr/>
          <p:nvPr/>
        </p:nvSpPr>
        <p:spPr>
          <a:xfrm>
            <a:off x="256032" y="749808"/>
            <a:ext cx="8631936" cy="329184"/>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STEP 1: Learn these words BEFORE you listen. Your teacher will explain each one.</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56032" y="1133856"/>
          <a:ext cx="8631936" cy="3127248"/>
        </p:xfrm>
        <a:graphic>
          <a:graphicData uri="http://schemas.openxmlformats.org/drawingml/2006/table">
            <a:tbl>
              <a:tblPr/>
              <a:tblGrid>
                <a:gridCol w="19202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4151376">
                  <a:extLst>
                    <a:ext uri="{9D8B030D-6E8A-4147-A177-3AD203B41FA5}">
                      <a16:colId xmlns:a16="http://schemas.microsoft.com/office/drawing/2014/main" val="20002"/>
                    </a:ext>
                  </a:extLst>
                </a:gridCol>
              </a:tblGrid>
              <a:tr h="446750">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Word / Phrase</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Meaning</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Example</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44675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catch up</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meet someone after a long time</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i="1" dirty="0">
                          <a:solidFill>
                            <a:srgbClr val="000000"/>
                          </a:solidFill>
                          <a:latin typeface="Calibri" pitchFamily="34" charset="0"/>
                          <a:ea typeface="Calibri" pitchFamily="34" charset="-122"/>
                          <a:cs typeface="Calibri" pitchFamily="34" charset="-120"/>
                        </a:rPr>
                        <a:t>Let's catch up this weekend.</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extLst>
                  <a:ext uri="{0D108BD9-81ED-4DB2-BD59-A6C34878D82A}">
                    <a16:rowId xmlns:a16="http://schemas.microsoft.com/office/drawing/2014/main" val="10001"/>
                  </a:ext>
                </a:extLst>
              </a:tr>
              <a:tr h="44675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available</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free / not busy</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i="1" dirty="0">
                          <a:solidFill>
                            <a:srgbClr val="000000"/>
                          </a:solidFill>
                          <a:latin typeface="Calibri" pitchFamily="34" charset="0"/>
                          <a:ea typeface="Calibri" pitchFamily="34" charset="-122"/>
                          <a:cs typeface="Calibri" pitchFamily="34" charset="-120"/>
                        </a:rPr>
                        <a:t>Are you available on Friday?</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675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suggest</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give an idea / recommend</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i="1" dirty="0">
                          <a:solidFill>
                            <a:srgbClr val="000000"/>
                          </a:solidFill>
                          <a:latin typeface="Calibri" pitchFamily="34" charset="0"/>
                          <a:ea typeface="Calibri" pitchFamily="34" charset="-122"/>
                          <a:cs typeface="Calibri" pitchFamily="34" charset="-120"/>
                        </a:rPr>
                        <a:t>Can I suggest something?</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extLst>
                  <a:ext uri="{0D108BD9-81ED-4DB2-BD59-A6C34878D82A}">
                    <a16:rowId xmlns:a16="http://schemas.microsoft.com/office/drawing/2014/main" val="10003"/>
                  </a:ext>
                </a:extLst>
              </a:tr>
              <a:tr h="44675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last-minute</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arranged with very little time</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i="1" dirty="0">
                          <a:solidFill>
                            <a:srgbClr val="000000"/>
                          </a:solidFill>
                          <a:latin typeface="Calibri" pitchFamily="34" charset="0"/>
                          <a:ea typeface="Calibri" pitchFamily="34" charset="-122"/>
                          <a:cs typeface="Calibri" pitchFamily="34" charset="-120"/>
                        </a:rPr>
                        <a:t>It was a last-minute plan.</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675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make plans</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decide what to do</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300" i="1" dirty="0">
                          <a:solidFill>
                            <a:srgbClr val="000000"/>
                          </a:solidFill>
                          <a:latin typeface="Calibri" pitchFamily="34" charset="0"/>
                          <a:ea typeface="Calibri" pitchFamily="34" charset="-122"/>
                          <a:cs typeface="Calibri" pitchFamily="34" charset="-120"/>
                        </a:rPr>
                        <a:t>Let's make plans for Saturday.</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extLst>
                  <a:ext uri="{0D108BD9-81ED-4DB2-BD59-A6C34878D82A}">
                    <a16:rowId xmlns:a16="http://schemas.microsoft.com/office/drawing/2014/main" val="10005"/>
                  </a:ext>
                </a:extLst>
              </a:tr>
              <a:tr h="446750">
                <a:tc>
                  <a:txBody>
                    <a:bodyPr/>
                    <a:lstStyle/>
                    <a:p>
                      <a:pPr marL="0" indent="0">
                        <a:buNone/>
                      </a:pPr>
                      <a:r>
                        <a:rPr lang="en-US" sz="1300" b="1" dirty="0">
                          <a:solidFill>
                            <a:srgbClr val="000000"/>
                          </a:solidFill>
                          <a:latin typeface="Calibri" pitchFamily="34" charset="0"/>
                          <a:ea typeface="Calibri" pitchFamily="34" charset="-122"/>
                          <a:cs typeface="Calibri" pitchFamily="34" charset="-120"/>
                        </a:rPr>
                        <a:t>confirm</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say 'yes, this is decided'</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i="1" dirty="0">
                          <a:solidFill>
                            <a:srgbClr val="000000"/>
                          </a:solidFill>
                          <a:latin typeface="Calibri" pitchFamily="34" charset="0"/>
                          <a:ea typeface="Calibri" pitchFamily="34" charset="-122"/>
                          <a:cs typeface="Calibri" pitchFamily="34" charset="-120"/>
                        </a:rPr>
                        <a:t>Can you confirm the time?</a:t>
                      </a:r>
                      <a:endParaRPr lang="en-US" sz="13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Text 6"/>
          <p:cNvSpPr/>
          <p:nvPr/>
        </p:nvSpPr>
        <p:spPr>
          <a:xfrm>
            <a:off x="256032" y="4334256"/>
            <a:ext cx="8631936" cy="347472"/>
          </a:xfrm>
          <a:prstGeom prst="rect">
            <a:avLst/>
          </a:prstGeom>
          <a:noFill/>
          <a:ln/>
        </p:spPr>
        <p:txBody>
          <a:bodyPr wrap="square" rtlCol="0" anchor="ctr"/>
          <a:lstStyle/>
          <a:p>
            <a:pPr marL="0" indent="0">
              <a:buNone/>
            </a:pPr>
            <a:r>
              <a:rPr lang="en-US" sz="1200" b="1" i="1" dirty="0">
                <a:solidFill>
                  <a:srgbClr val="7D4E00"/>
                </a:solidFill>
                <a:latin typeface="Calibri" pitchFamily="34" charset="0"/>
                <a:ea typeface="Calibri" pitchFamily="34" charset="-122"/>
                <a:cs typeface="Calibri" pitchFamily="34" charset="-120"/>
              </a:rPr>
              <a:t>STEP 2: Read the questions in your worksheet BEFORE the audio plays. This helps you listen for the right information.</a:t>
            </a:r>
            <a:endParaRPr lang="en-US" sz="1200" dirty="0"/>
          </a:p>
        </p:txBody>
      </p:sp>
      <p:sp>
        <p:nvSpPr>
          <p:cNvPr id="10" name="Shape 7"/>
          <p:cNvSpPr/>
          <p:nvPr/>
        </p:nvSpPr>
        <p:spPr>
          <a:xfrm>
            <a:off x="256032" y="4736592"/>
            <a:ext cx="8631936" cy="347472"/>
          </a:xfrm>
          <a:prstGeom prst="rect">
            <a:avLst/>
          </a:prstGeom>
          <a:solidFill>
            <a:srgbClr val="FEF9E7"/>
          </a:solidFill>
          <a:ln w="12700">
            <a:solidFill>
              <a:srgbClr val="F4A261"/>
            </a:solidFill>
            <a:prstDash val="solid"/>
          </a:ln>
        </p:spPr>
      </p:sp>
      <p:sp>
        <p:nvSpPr>
          <p:cNvPr id="11" name="Shape 8"/>
          <p:cNvSpPr/>
          <p:nvPr/>
        </p:nvSpPr>
        <p:spPr>
          <a:xfrm>
            <a:off x="256032" y="4736592"/>
            <a:ext cx="109728" cy="347472"/>
          </a:xfrm>
          <a:prstGeom prst="rect">
            <a:avLst/>
          </a:prstGeom>
          <a:solidFill>
            <a:srgbClr val="F4A261"/>
          </a:solidFill>
          <a:ln w="12700">
            <a:solidFill>
              <a:srgbClr val="F4A261"/>
            </a:solidFill>
            <a:prstDash val="solid"/>
          </a:ln>
        </p:spPr>
      </p:sp>
      <p:sp>
        <p:nvSpPr>
          <p:cNvPr id="12" name="Text 9"/>
          <p:cNvSpPr/>
          <p:nvPr/>
        </p:nvSpPr>
        <p:spPr>
          <a:xfrm>
            <a:off x="438912" y="4791456"/>
            <a:ext cx="8375904" cy="237744"/>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LISTENING TIP: You don't need to understand every word. Focus on the KEY words from the questions. Listen for names, times, places.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4 — Part A: Listening — While You Listen</a:t>
            </a:r>
            <a:endParaRPr lang="en-US" sz="2000" dirty="0"/>
          </a:p>
        </p:txBody>
      </p:sp>
      <p:sp>
        <p:nvSpPr>
          <p:cNvPr id="5" name="Shape 3"/>
          <p:cNvSpPr/>
          <p:nvPr/>
        </p:nvSpPr>
        <p:spPr>
          <a:xfrm>
            <a:off x="7315200" y="128016"/>
            <a:ext cx="1645920" cy="402336"/>
          </a:xfrm>
          <a:prstGeom prst="rect">
            <a:avLst/>
          </a:prstGeom>
          <a:solidFill>
            <a:srgbClr val="1B3A6B"/>
          </a:solidFill>
          <a:ln w="12700">
            <a:solidFill>
              <a:srgbClr val="1B3A6B"/>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LISTENING</a:t>
            </a:r>
            <a:endParaRPr lang="en-US" sz="1100" dirty="0"/>
          </a:p>
        </p:txBody>
      </p:sp>
      <p:sp>
        <p:nvSpPr>
          <p:cNvPr id="7" name="Text 5"/>
          <p:cNvSpPr/>
          <p:nvPr/>
        </p:nvSpPr>
        <p:spPr>
          <a:xfrm>
            <a:off x="256032" y="749808"/>
            <a:ext cx="8631936" cy="329184"/>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Listen and write SHORT notes. You do NOT need full sentences while listening — notes are fine!</a:t>
            </a:r>
            <a:endParaRPr lang="en-US" sz="1300" dirty="0"/>
          </a:p>
        </p:txBody>
      </p:sp>
      <p:sp>
        <p:nvSpPr>
          <p:cNvPr id="8" name="Shape 6"/>
          <p:cNvSpPr/>
          <p:nvPr/>
        </p:nvSpPr>
        <p:spPr>
          <a:xfrm>
            <a:off x="256032" y="1152144"/>
            <a:ext cx="475488" cy="566928"/>
          </a:xfrm>
          <a:prstGeom prst="rect">
            <a:avLst/>
          </a:prstGeom>
          <a:solidFill>
            <a:srgbClr val="1B3A6B"/>
          </a:solidFill>
          <a:ln w="12700">
            <a:solidFill>
              <a:srgbClr val="1B3A6B"/>
            </a:solidFill>
            <a:prstDash val="solid"/>
          </a:ln>
        </p:spPr>
      </p:sp>
      <p:sp>
        <p:nvSpPr>
          <p:cNvPr id="9" name="Text 7"/>
          <p:cNvSpPr/>
          <p:nvPr/>
        </p:nvSpPr>
        <p:spPr>
          <a:xfrm>
            <a:off x="256032" y="1152144"/>
            <a:ext cx="47548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10" name="Shape 8"/>
          <p:cNvSpPr/>
          <p:nvPr/>
        </p:nvSpPr>
        <p:spPr>
          <a:xfrm>
            <a:off x="731520" y="1152144"/>
            <a:ext cx="8229600" cy="566928"/>
          </a:xfrm>
          <a:prstGeom prst="rect">
            <a:avLst/>
          </a:prstGeom>
          <a:solidFill>
            <a:srgbClr val="D6EAF8"/>
          </a:solidFill>
          <a:ln w="12700">
            <a:solidFill>
              <a:srgbClr val="CCCCCC"/>
            </a:solidFill>
            <a:prstDash val="solid"/>
          </a:ln>
        </p:spPr>
      </p:sp>
      <p:sp>
        <p:nvSpPr>
          <p:cNvPr id="11" name="Text 9"/>
          <p:cNvSpPr/>
          <p:nvPr/>
        </p:nvSpPr>
        <p:spPr>
          <a:xfrm>
            <a:off x="822960" y="1152144"/>
            <a:ext cx="5120640" cy="566928"/>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Where are the friends planning to meet?</a:t>
            </a:r>
            <a:endParaRPr lang="en-US" sz="1300" dirty="0"/>
          </a:p>
        </p:txBody>
      </p:sp>
      <p:sp>
        <p:nvSpPr>
          <p:cNvPr id="12" name="Text 10"/>
          <p:cNvSpPr/>
          <p:nvPr/>
        </p:nvSpPr>
        <p:spPr>
          <a:xfrm>
            <a:off x="5943600" y="1152144"/>
            <a:ext cx="2926080" cy="56692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Your answer: ___________________________</a:t>
            </a:r>
            <a:endParaRPr lang="en-US" sz="1200" dirty="0"/>
          </a:p>
        </p:txBody>
      </p:sp>
      <p:sp>
        <p:nvSpPr>
          <p:cNvPr id="13" name="Shape 11"/>
          <p:cNvSpPr/>
          <p:nvPr/>
        </p:nvSpPr>
        <p:spPr>
          <a:xfrm>
            <a:off x="256032" y="1810512"/>
            <a:ext cx="475488" cy="566928"/>
          </a:xfrm>
          <a:prstGeom prst="rect">
            <a:avLst/>
          </a:prstGeom>
          <a:solidFill>
            <a:srgbClr val="1B3A6B"/>
          </a:solidFill>
          <a:ln w="12700">
            <a:solidFill>
              <a:srgbClr val="1B3A6B"/>
            </a:solidFill>
            <a:prstDash val="solid"/>
          </a:ln>
        </p:spPr>
      </p:sp>
      <p:sp>
        <p:nvSpPr>
          <p:cNvPr id="14" name="Text 12"/>
          <p:cNvSpPr/>
          <p:nvPr/>
        </p:nvSpPr>
        <p:spPr>
          <a:xfrm>
            <a:off x="256032" y="1810512"/>
            <a:ext cx="47548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5" name="Shape 13"/>
          <p:cNvSpPr/>
          <p:nvPr/>
        </p:nvSpPr>
        <p:spPr>
          <a:xfrm>
            <a:off x="731520" y="1810512"/>
            <a:ext cx="8229600" cy="566928"/>
          </a:xfrm>
          <a:prstGeom prst="rect">
            <a:avLst/>
          </a:prstGeom>
          <a:solidFill>
            <a:srgbClr val="FFFFFF"/>
          </a:solidFill>
          <a:ln w="12700">
            <a:solidFill>
              <a:srgbClr val="CCCCCC"/>
            </a:solidFill>
            <a:prstDash val="solid"/>
          </a:ln>
        </p:spPr>
      </p:sp>
      <p:sp>
        <p:nvSpPr>
          <p:cNvPr id="16" name="Text 14"/>
          <p:cNvSpPr/>
          <p:nvPr/>
        </p:nvSpPr>
        <p:spPr>
          <a:xfrm>
            <a:off x="822960" y="1810512"/>
            <a:ext cx="5120640" cy="566928"/>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What time are they meeting?</a:t>
            </a:r>
            <a:endParaRPr lang="en-US" sz="1300" dirty="0"/>
          </a:p>
        </p:txBody>
      </p:sp>
      <p:sp>
        <p:nvSpPr>
          <p:cNvPr id="17" name="Text 15"/>
          <p:cNvSpPr/>
          <p:nvPr/>
        </p:nvSpPr>
        <p:spPr>
          <a:xfrm>
            <a:off x="5943600" y="1810512"/>
            <a:ext cx="2926080" cy="56692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Your answer: ___________________________</a:t>
            </a:r>
            <a:endParaRPr lang="en-US" sz="1200" dirty="0"/>
          </a:p>
        </p:txBody>
      </p:sp>
      <p:sp>
        <p:nvSpPr>
          <p:cNvPr id="18" name="Shape 16"/>
          <p:cNvSpPr/>
          <p:nvPr/>
        </p:nvSpPr>
        <p:spPr>
          <a:xfrm>
            <a:off x="256032" y="2468880"/>
            <a:ext cx="475488" cy="566928"/>
          </a:xfrm>
          <a:prstGeom prst="rect">
            <a:avLst/>
          </a:prstGeom>
          <a:solidFill>
            <a:srgbClr val="1B3A6B"/>
          </a:solidFill>
          <a:ln w="12700">
            <a:solidFill>
              <a:srgbClr val="1B3A6B"/>
            </a:solidFill>
            <a:prstDash val="solid"/>
          </a:ln>
        </p:spPr>
      </p:sp>
      <p:sp>
        <p:nvSpPr>
          <p:cNvPr id="19" name="Text 17"/>
          <p:cNvSpPr/>
          <p:nvPr/>
        </p:nvSpPr>
        <p:spPr>
          <a:xfrm>
            <a:off x="256032" y="2468880"/>
            <a:ext cx="47548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20" name="Shape 18"/>
          <p:cNvSpPr/>
          <p:nvPr/>
        </p:nvSpPr>
        <p:spPr>
          <a:xfrm>
            <a:off x="731520" y="2468880"/>
            <a:ext cx="8229600" cy="566928"/>
          </a:xfrm>
          <a:prstGeom prst="rect">
            <a:avLst/>
          </a:prstGeom>
          <a:solidFill>
            <a:srgbClr val="D6EAF8"/>
          </a:solidFill>
          <a:ln w="12700">
            <a:solidFill>
              <a:srgbClr val="CCCCCC"/>
            </a:solidFill>
            <a:prstDash val="solid"/>
          </a:ln>
        </p:spPr>
      </p:sp>
      <p:sp>
        <p:nvSpPr>
          <p:cNvPr id="21" name="Text 19"/>
          <p:cNvSpPr/>
          <p:nvPr/>
        </p:nvSpPr>
        <p:spPr>
          <a:xfrm>
            <a:off x="822960" y="2468880"/>
            <a:ext cx="5120640" cy="566928"/>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What does one person suggest for dinner?</a:t>
            </a:r>
            <a:endParaRPr lang="en-US" sz="1300" dirty="0"/>
          </a:p>
        </p:txBody>
      </p:sp>
      <p:sp>
        <p:nvSpPr>
          <p:cNvPr id="22" name="Text 20"/>
          <p:cNvSpPr/>
          <p:nvPr/>
        </p:nvSpPr>
        <p:spPr>
          <a:xfrm>
            <a:off x="5943600" y="2468880"/>
            <a:ext cx="2926080" cy="56692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Your answer: ___________________________</a:t>
            </a:r>
            <a:endParaRPr lang="en-US" sz="1200" dirty="0"/>
          </a:p>
        </p:txBody>
      </p:sp>
      <p:sp>
        <p:nvSpPr>
          <p:cNvPr id="23" name="Shape 21"/>
          <p:cNvSpPr/>
          <p:nvPr/>
        </p:nvSpPr>
        <p:spPr>
          <a:xfrm>
            <a:off x="256032" y="3127248"/>
            <a:ext cx="475488" cy="566928"/>
          </a:xfrm>
          <a:prstGeom prst="rect">
            <a:avLst/>
          </a:prstGeom>
          <a:solidFill>
            <a:srgbClr val="1B3A6B"/>
          </a:solidFill>
          <a:ln w="12700">
            <a:solidFill>
              <a:srgbClr val="1B3A6B"/>
            </a:solidFill>
            <a:prstDash val="solid"/>
          </a:ln>
        </p:spPr>
      </p:sp>
      <p:sp>
        <p:nvSpPr>
          <p:cNvPr id="24" name="Text 22"/>
          <p:cNvSpPr/>
          <p:nvPr/>
        </p:nvSpPr>
        <p:spPr>
          <a:xfrm>
            <a:off x="256032" y="3127248"/>
            <a:ext cx="47548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4</a:t>
            </a:r>
            <a:endParaRPr lang="en-US" sz="1800" dirty="0"/>
          </a:p>
        </p:txBody>
      </p:sp>
      <p:sp>
        <p:nvSpPr>
          <p:cNvPr id="25" name="Shape 23"/>
          <p:cNvSpPr/>
          <p:nvPr/>
        </p:nvSpPr>
        <p:spPr>
          <a:xfrm>
            <a:off x="731520" y="3127248"/>
            <a:ext cx="8229600" cy="566928"/>
          </a:xfrm>
          <a:prstGeom prst="rect">
            <a:avLst/>
          </a:prstGeom>
          <a:solidFill>
            <a:srgbClr val="FFFFFF"/>
          </a:solidFill>
          <a:ln w="12700">
            <a:solidFill>
              <a:srgbClr val="CCCCCC"/>
            </a:solidFill>
            <a:prstDash val="solid"/>
          </a:ln>
        </p:spPr>
      </p:sp>
      <p:sp>
        <p:nvSpPr>
          <p:cNvPr id="26" name="Text 24"/>
          <p:cNvSpPr/>
          <p:nvPr/>
        </p:nvSpPr>
        <p:spPr>
          <a:xfrm>
            <a:off x="822960" y="3127248"/>
            <a:ext cx="5120640" cy="566928"/>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What does the other person prefer? Why?</a:t>
            </a:r>
            <a:endParaRPr lang="en-US" sz="1300" dirty="0"/>
          </a:p>
        </p:txBody>
      </p:sp>
      <p:sp>
        <p:nvSpPr>
          <p:cNvPr id="27" name="Text 25"/>
          <p:cNvSpPr/>
          <p:nvPr/>
        </p:nvSpPr>
        <p:spPr>
          <a:xfrm>
            <a:off x="5943600" y="3127248"/>
            <a:ext cx="2926080" cy="56692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Your answer: ___________________________</a:t>
            </a:r>
            <a:endParaRPr lang="en-US" sz="1200" dirty="0"/>
          </a:p>
        </p:txBody>
      </p:sp>
      <p:sp>
        <p:nvSpPr>
          <p:cNvPr id="28" name="Shape 26"/>
          <p:cNvSpPr/>
          <p:nvPr/>
        </p:nvSpPr>
        <p:spPr>
          <a:xfrm>
            <a:off x="256032" y="3785616"/>
            <a:ext cx="475488" cy="566928"/>
          </a:xfrm>
          <a:prstGeom prst="rect">
            <a:avLst/>
          </a:prstGeom>
          <a:solidFill>
            <a:srgbClr val="1B3A6B"/>
          </a:solidFill>
          <a:ln w="12700">
            <a:solidFill>
              <a:srgbClr val="1B3A6B"/>
            </a:solidFill>
            <a:prstDash val="solid"/>
          </a:ln>
        </p:spPr>
      </p:sp>
      <p:sp>
        <p:nvSpPr>
          <p:cNvPr id="29" name="Text 27"/>
          <p:cNvSpPr/>
          <p:nvPr/>
        </p:nvSpPr>
        <p:spPr>
          <a:xfrm>
            <a:off x="256032" y="3785616"/>
            <a:ext cx="47548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5</a:t>
            </a:r>
            <a:endParaRPr lang="en-US" sz="1800" dirty="0"/>
          </a:p>
        </p:txBody>
      </p:sp>
      <p:sp>
        <p:nvSpPr>
          <p:cNvPr id="30" name="Shape 28"/>
          <p:cNvSpPr/>
          <p:nvPr/>
        </p:nvSpPr>
        <p:spPr>
          <a:xfrm>
            <a:off x="731520" y="3785616"/>
            <a:ext cx="8229600" cy="566928"/>
          </a:xfrm>
          <a:prstGeom prst="rect">
            <a:avLst/>
          </a:prstGeom>
          <a:solidFill>
            <a:srgbClr val="D6EAF8"/>
          </a:solidFill>
          <a:ln w="12700">
            <a:solidFill>
              <a:srgbClr val="CCCCCC"/>
            </a:solidFill>
            <a:prstDash val="solid"/>
          </a:ln>
        </p:spPr>
      </p:sp>
      <p:sp>
        <p:nvSpPr>
          <p:cNvPr id="31" name="Text 29"/>
          <p:cNvSpPr/>
          <p:nvPr/>
        </p:nvSpPr>
        <p:spPr>
          <a:xfrm>
            <a:off x="822960" y="3785616"/>
            <a:ext cx="5120640" cy="566928"/>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What do they finally decide to do?</a:t>
            </a:r>
            <a:endParaRPr lang="en-US" sz="1300" dirty="0"/>
          </a:p>
        </p:txBody>
      </p:sp>
      <p:sp>
        <p:nvSpPr>
          <p:cNvPr id="32" name="Text 30"/>
          <p:cNvSpPr/>
          <p:nvPr/>
        </p:nvSpPr>
        <p:spPr>
          <a:xfrm>
            <a:off x="5943600" y="3785616"/>
            <a:ext cx="2926080" cy="566928"/>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Your answer: ___________________________</a:t>
            </a:r>
            <a:endParaRPr lang="en-US" sz="1200" dirty="0"/>
          </a:p>
        </p:txBody>
      </p:sp>
      <p:sp>
        <p:nvSpPr>
          <p:cNvPr id="33" name="Shape 31"/>
          <p:cNvSpPr/>
          <p:nvPr/>
        </p:nvSpPr>
        <p:spPr>
          <a:xfrm>
            <a:off x="256032" y="4517136"/>
            <a:ext cx="8631936" cy="512064"/>
          </a:xfrm>
          <a:prstGeom prst="rect">
            <a:avLst/>
          </a:prstGeom>
          <a:solidFill>
            <a:srgbClr val="FEF9E7"/>
          </a:solidFill>
          <a:ln w="12700">
            <a:solidFill>
              <a:srgbClr val="F4A261"/>
            </a:solidFill>
            <a:prstDash val="solid"/>
          </a:ln>
        </p:spPr>
      </p:sp>
      <p:sp>
        <p:nvSpPr>
          <p:cNvPr id="34" name="Shape 32"/>
          <p:cNvSpPr/>
          <p:nvPr/>
        </p:nvSpPr>
        <p:spPr>
          <a:xfrm>
            <a:off x="256032" y="4517136"/>
            <a:ext cx="109728" cy="512064"/>
          </a:xfrm>
          <a:prstGeom prst="rect">
            <a:avLst/>
          </a:prstGeom>
          <a:solidFill>
            <a:srgbClr val="F4A261"/>
          </a:solidFill>
          <a:ln w="12700">
            <a:solidFill>
              <a:srgbClr val="F4A261"/>
            </a:solidFill>
            <a:prstDash val="solid"/>
          </a:ln>
        </p:spPr>
      </p:sp>
      <p:sp>
        <p:nvSpPr>
          <p:cNvPr id="35" name="Text 33"/>
          <p:cNvSpPr/>
          <p:nvPr/>
        </p:nvSpPr>
        <p:spPr>
          <a:xfrm>
            <a:off x="438912" y="4572000"/>
            <a:ext cx="8375904" cy="402336"/>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AFTER LISTENING: Compare answers with your partner. Are they the same? Then your teacher will give the correct answers and explain.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4 — Part B: Reading — Dinner at Ana's Place</a:t>
            </a:r>
            <a:endParaRPr lang="en-US" sz="2000" dirty="0"/>
          </a:p>
        </p:txBody>
      </p:sp>
      <p:sp>
        <p:nvSpPr>
          <p:cNvPr id="5" name="Shape 3"/>
          <p:cNvSpPr/>
          <p:nvPr/>
        </p:nvSpPr>
        <p:spPr>
          <a:xfrm>
            <a:off x="7315200" y="128016"/>
            <a:ext cx="1645920" cy="402336"/>
          </a:xfrm>
          <a:prstGeom prst="rect">
            <a:avLst/>
          </a:prstGeom>
          <a:solidFill>
            <a:srgbClr val="0D7377"/>
          </a:solidFill>
          <a:ln w="12700">
            <a:solidFill>
              <a:srgbClr val="0D7377"/>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READING</a:t>
            </a:r>
            <a:endParaRPr lang="en-US" sz="1100" dirty="0"/>
          </a:p>
        </p:txBody>
      </p:sp>
      <p:sp>
        <p:nvSpPr>
          <p:cNvPr id="7" name="Text 5"/>
          <p:cNvSpPr/>
          <p:nvPr/>
        </p:nvSpPr>
        <p:spPr>
          <a:xfrm>
            <a:off x="256032" y="749808"/>
            <a:ext cx="8631936" cy="329184"/>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Read the text carefully. Underline any grammar from Modules 1–3 that you recognise.</a:t>
            </a:r>
            <a:endParaRPr lang="en-US" sz="1300" dirty="0"/>
          </a:p>
        </p:txBody>
      </p:sp>
      <p:sp>
        <p:nvSpPr>
          <p:cNvPr id="8" name="Shape 6"/>
          <p:cNvSpPr/>
          <p:nvPr/>
        </p:nvSpPr>
        <p:spPr>
          <a:xfrm>
            <a:off x="256032" y="1133856"/>
            <a:ext cx="8631936" cy="3456432"/>
          </a:xfrm>
          <a:prstGeom prst="rect">
            <a:avLst/>
          </a:prstGeom>
          <a:solidFill>
            <a:srgbClr val="F0F4FF"/>
          </a:solidFill>
          <a:ln w="12700">
            <a:solidFill>
              <a:srgbClr val="1B3A6B"/>
            </a:solidFill>
            <a:prstDash val="solid"/>
          </a:ln>
        </p:spPr>
      </p:sp>
      <p:sp>
        <p:nvSpPr>
          <p:cNvPr id="9" name="Shape 7"/>
          <p:cNvSpPr/>
          <p:nvPr/>
        </p:nvSpPr>
        <p:spPr>
          <a:xfrm>
            <a:off x="256032" y="1133856"/>
            <a:ext cx="137160" cy="3456432"/>
          </a:xfrm>
          <a:prstGeom prst="rect">
            <a:avLst/>
          </a:prstGeom>
          <a:solidFill>
            <a:srgbClr val="0D7377"/>
          </a:solidFill>
          <a:ln w="12700">
            <a:solidFill>
              <a:srgbClr val="0D7377"/>
            </a:solidFill>
            <a:prstDash val="solid"/>
          </a:ln>
        </p:spPr>
      </p:sp>
      <p:sp>
        <p:nvSpPr>
          <p:cNvPr id="10" name="Text 8"/>
          <p:cNvSpPr/>
          <p:nvPr/>
        </p:nvSpPr>
        <p:spPr>
          <a:xfrm>
            <a:off x="475488" y="1170432"/>
            <a:ext cx="8321040" cy="365760"/>
          </a:xfrm>
          <a:prstGeom prst="rect">
            <a:avLst/>
          </a:prstGeom>
          <a:noFill/>
          <a:ln/>
        </p:spPr>
        <p:txBody>
          <a:bodyPr wrap="square" lIns="0" tIns="0" rIns="0" bIns="0" rtlCol="0" anchor="ctr"/>
          <a:lstStyle/>
          <a:p>
            <a:pPr marL="0" indent="0">
              <a:buNone/>
            </a:pPr>
            <a:r>
              <a:rPr lang="en-US" sz="1800" b="1" dirty="0">
                <a:solidFill>
                  <a:srgbClr val="1B3A6B"/>
                </a:solidFill>
                <a:latin typeface="Trebuchet MS" pitchFamily="34" charset="0"/>
                <a:ea typeface="Trebuchet MS" pitchFamily="34" charset="-122"/>
                <a:cs typeface="Trebuchet MS" pitchFamily="34" charset="-120"/>
              </a:rPr>
              <a:t>Dinner at Ana's Place</a:t>
            </a:r>
            <a:endParaRPr lang="en-US" sz="1800" dirty="0"/>
          </a:p>
        </p:txBody>
      </p:sp>
      <p:sp>
        <p:nvSpPr>
          <p:cNvPr id="11" name="Text 9"/>
          <p:cNvSpPr/>
          <p:nvPr/>
        </p:nvSpPr>
        <p:spPr>
          <a:xfrm>
            <a:off x="475488" y="1572768"/>
            <a:ext cx="8321040" cy="2944368"/>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Ana is hosting a dinner party for six friends this Friday evening. She is planning the menu right now. She prefers cooking Italian food to ordering takeaway because she thinks it is more personal. She is making pasta and salad, and she would rather prepare everything herself than ask guests to bring food.</a:t>
            </a:r>
            <a:endParaRPr lang="en-US" sz="1300" dirty="0"/>
          </a:p>
          <a:p>
            <a:pPr marL="0" indent="0">
              <a:buNone/>
            </a:pP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Her friend David is coming early to help. He is bringing wine and dessert. He would rather bring something sweet than help with cooking because he is not as confident in the kitchen as Ana.</a:t>
            </a:r>
            <a:endParaRPr lang="en-US" sz="1300" dirty="0"/>
          </a:p>
          <a:p>
            <a:pPr marL="0" indent="0">
              <a:buNone/>
            </a:pPr>
            <a:endParaRPr lang="en-US" sz="1300" dirty="0"/>
          </a:p>
          <a:p>
            <a:pPr marL="0" indent="0">
              <a:buNone/>
            </a:pPr>
            <a:r>
              <a:rPr lang="en-US" sz="1300" dirty="0">
                <a:solidFill>
                  <a:srgbClr val="111827"/>
                </a:solidFill>
                <a:latin typeface="Calibri" pitchFamily="34" charset="0"/>
                <a:ea typeface="Calibri" pitchFamily="34" charset="-122"/>
                <a:cs typeface="Calibri" pitchFamily="34" charset="-120"/>
              </a:rPr>
              <a:t>Ana is also thinking about entertainment. She prefers watching a film after dinner to playing a board game, but David would rather play a game. They are still deciding.</a:t>
            </a:r>
            <a:endParaRPr lang="en-US" sz="1300" dirty="0"/>
          </a:p>
        </p:txBody>
      </p:sp>
      <p:sp>
        <p:nvSpPr>
          <p:cNvPr id="12" name="Shape 10"/>
          <p:cNvSpPr/>
          <p:nvPr/>
        </p:nvSpPr>
        <p:spPr>
          <a:xfrm>
            <a:off x="256032" y="4663440"/>
            <a:ext cx="8631936" cy="384048"/>
          </a:xfrm>
          <a:prstGeom prst="rect">
            <a:avLst/>
          </a:prstGeom>
          <a:solidFill>
            <a:srgbClr val="FEF9E7"/>
          </a:solidFill>
          <a:ln w="12700">
            <a:solidFill>
              <a:srgbClr val="F4A261"/>
            </a:solidFill>
            <a:prstDash val="solid"/>
          </a:ln>
        </p:spPr>
      </p:sp>
      <p:sp>
        <p:nvSpPr>
          <p:cNvPr id="13" name="Shape 11"/>
          <p:cNvSpPr/>
          <p:nvPr/>
        </p:nvSpPr>
        <p:spPr>
          <a:xfrm>
            <a:off x="256032" y="4663440"/>
            <a:ext cx="109728" cy="384048"/>
          </a:xfrm>
          <a:prstGeom prst="rect">
            <a:avLst/>
          </a:prstGeom>
          <a:solidFill>
            <a:srgbClr val="F4A261"/>
          </a:solidFill>
          <a:ln w="12700">
            <a:solidFill>
              <a:srgbClr val="F4A261"/>
            </a:solidFill>
            <a:prstDash val="solid"/>
          </a:ln>
        </p:spPr>
      </p:sp>
      <p:sp>
        <p:nvSpPr>
          <p:cNvPr id="14" name="Text 12"/>
          <p:cNvSpPr/>
          <p:nvPr/>
        </p:nvSpPr>
        <p:spPr>
          <a:xfrm>
            <a:off x="438912" y="4718304"/>
            <a:ext cx="8375904" cy="274320"/>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READING TASK: Find examples in the text of: (1) Present continuous  (2) Prefer  (3) Would rather  (4) As...as — and mark them!</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4 — Part B: Reading Comprehension — Answers</a:t>
            </a:r>
            <a:endParaRPr lang="en-US" sz="2000" dirty="0"/>
          </a:p>
        </p:txBody>
      </p:sp>
      <p:sp>
        <p:nvSpPr>
          <p:cNvPr id="5" name="Shape 3"/>
          <p:cNvSpPr/>
          <p:nvPr/>
        </p:nvSpPr>
        <p:spPr>
          <a:xfrm>
            <a:off x="7315200" y="128016"/>
            <a:ext cx="1645920" cy="402336"/>
          </a:xfrm>
          <a:prstGeom prst="rect">
            <a:avLst/>
          </a:prstGeom>
          <a:solidFill>
            <a:srgbClr val="0D7377"/>
          </a:solidFill>
          <a:ln w="12700">
            <a:solidFill>
              <a:srgbClr val="0D7377"/>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ANSWERS</a:t>
            </a:r>
            <a:endParaRPr lang="en-US" sz="1100" dirty="0"/>
          </a:p>
        </p:txBody>
      </p:sp>
      <p:sp>
        <p:nvSpPr>
          <p:cNvPr id="7" name="Shape 5"/>
          <p:cNvSpPr/>
          <p:nvPr/>
        </p:nvSpPr>
        <p:spPr>
          <a:xfrm>
            <a:off x="256032" y="749808"/>
            <a:ext cx="8631936" cy="329184"/>
          </a:xfrm>
          <a:prstGeom prst="rect">
            <a:avLst/>
          </a:prstGeom>
          <a:solidFill>
            <a:srgbClr val="1B3A6B"/>
          </a:solidFill>
          <a:ln w="12700">
            <a:solidFill>
              <a:srgbClr val="1B3A6B"/>
            </a:solidFill>
            <a:prstDash val="solid"/>
          </a:ln>
        </p:spPr>
      </p:sp>
      <p:sp>
        <p:nvSpPr>
          <p:cNvPr id="8" name="Text 6"/>
          <p:cNvSpPr/>
          <p:nvPr/>
        </p:nvSpPr>
        <p:spPr>
          <a:xfrm>
            <a:off x="329184" y="749808"/>
            <a:ext cx="8485632" cy="329184"/>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1. What is Ana doing on Friday?</a:t>
            </a:r>
            <a:endParaRPr lang="en-US" sz="1200" dirty="0"/>
          </a:p>
        </p:txBody>
      </p:sp>
      <p:sp>
        <p:nvSpPr>
          <p:cNvPr id="9" name="Shape 7"/>
          <p:cNvSpPr/>
          <p:nvPr/>
        </p:nvSpPr>
        <p:spPr>
          <a:xfrm>
            <a:off x="256032" y="1078992"/>
            <a:ext cx="8631936" cy="402336"/>
          </a:xfrm>
          <a:prstGeom prst="rect">
            <a:avLst/>
          </a:prstGeom>
          <a:solidFill>
            <a:srgbClr val="D1F2EB"/>
          </a:solidFill>
          <a:ln w="12700">
            <a:solidFill>
              <a:srgbClr val="CCCCCC"/>
            </a:solidFill>
            <a:prstDash val="solid"/>
          </a:ln>
        </p:spPr>
      </p:sp>
      <p:sp>
        <p:nvSpPr>
          <p:cNvPr id="10" name="Shape 8"/>
          <p:cNvSpPr/>
          <p:nvPr/>
        </p:nvSpPr>
        <p:spPr>
          <a:xfrm>
            <a:off x="256032" y="1078992"/>
            <a:ext cx="109728" cy="402336"/>
          </a:xfrm>
          <a:prstGeom prst="rect">
            <a:avLst/>
          </a:prstGeom>
          <a:solidFill>
            <a:srgbClr val="0D7377"/>
          </a:solidFill>
          <a:ln w="12700">
            <a:solidFill>
              <a:srgbClr val="0D7377"/>
            </a:solidFill>
            <a:prstDash val="solid"/>
          </a:ln>
        </p:spPr>
      </p:sp>
      <p:sp>
        <p:nvSpPr>
          <p:cNvPr id="11" name="Text 9"/>
          <p:cNvSpPr/>
          <p:nvPr/>
        </p:nvSpPr>
        <p:spPr>
          <a:xfrm>
            <a:off x="402336" y="1097280"/>
            <a:ext cx="8375904" cy="365760"/>
          </a:xfrm>
          <a:prstGeom prst="rect">
            <a:avLst/>
          </a:prstGeom>
          <a:noFill/>
          <a:ln/>
        </p:spPr>
        <p:txBody>
          <a:bodyPr wrap="square" lIns="0" tIns="0" rIns="0" bIns="0"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Ana is hosting a dinner party for six friends on Friday evening.</a:t>
            </a:r>
            <a:endParaRPr lang="en-US" sz="1300" dirty="0"/>
          </a:p>
        </p:txBody>
      </p:sp>
      <p:sp>
        <p:nvSpPr>
          <p:cNvPr id="12" name="Shape 10"/>
          <p:cNvSpPr/>
          <p:nvPr/>
        </p:nvSpPr>
        <p:spPr>
          <a:xfrm>
            <a:off x="256032" y="1554480"/>
            <a:ext cx="8631936" cy="329184"/>
          </a:xfrm>
          <a:prstGeom prst="rect">
            <a:avLst/>
          </a:prstGeom>
          <a:solidFill>
            <a:srgbClr val="1B3A6B"/>
          </a:solidFill>
          <a:ln w="12700">
            <a:solidFill>
              <a:srgbClr val="1B3A6B"/>
            </a:solidFill>
            <a:prstDash val="solid"/>
          </a:ln>
        </p:spPr>
      </p:sp>
      <p:sp>
        <p:nvSpPr>
          <p:cNvPr id="13" name="Text 11"/>
          <p:cNvSpPr/>
          <p:nvPr/>
        </p:nvSpPr>
        <p:spPr>
          <a:xfrm>
            <a:off x="329184" y="1554480"/>
            <a:ext cx="8485632" cy="329184"/>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2. Why does she prefer cooking to ordering takeaway?</a:t>
            </a:r>
            <a:endParaRPr lang="en-US" sz="1200" dirty="0"/>
          </a:p>
        </p:txBody>
      </p:sp>
      <p:sp>
        <p:nvSpPr>
          <p:cNvPr id="14" name="Shape 12"/>
          <p:cNvSpPr/>
          <p:nvPr/>
        </p:nvSpPr>
        <p:spPr>
          <a:xfrm>
            <a:off x="256032" y="1883664"/>
            <a:ext cx="8631936" cy="402336"/>
          </a:xfrm>
          <a:prstGeom prst="rect">
            <a:avLst/>
          </a:prstGeom>
          <a:solidFill>
            <a:srgbClr val="D6EAF8"/>
          </a:solidFill>
          <a:ln w="12700">
            <a:solidFill>
              <a:srgbClr val="CCCCCC"/>
            </a:solidFill>
            <a:prstDash val="solid"/>
          </a:ln>
        </p:spPr>
      </p:sp>
      <p:sp>
        <p:nvSpPr>
          <p:cNvPr id="15" name="Shape 13"/>
          <p:cNvSpPr/>
          <p:nvPr/>
        </p:nvSpPr>
        <p:spPr>
          <a:xfrm>
            <a:off x="256032" y="1883664"/>
            <a:ext cx="109728" cy="402336"/>
          </a:xfrm>
          <a:prstGeom prst="rect">
            <a:avLst/>
          </a:prstGeom>
          <a:solidFill>
            <a:srgbClr val="0D7377"/>
          </a:solidFill>
          <a:ln w="12700">
            <a:solidFill>
              <a:srgbClr val="0D7377"/>
            </a:solidFill>
            <a:prstDash val="solid"/>
          </a:ln>
        </p:spPr>
      </p:sp>
      <p:sp>
        <p:nvSpPr>
          <p:cNvPr id="16" name="Text 14"/>
          <p:cNvSpPr/>
          <p:nvPr/>
        </p:nvSpPr>
        <p:spPr>
          <a:xfrm>
            <a:off x="402336" y="1901952"/>
            <a:ext cx="8375904" cy="365760"/>
          </a:xfrm>
          <a:prstGeom prst="rect">
            <a:avLst/>
          </a:prstGeom>
          <a:noFill/>
          <a:ln/>
        </p:spPr>
        <p:txBody>
          <a:bodyPr wrap="square" lIns="0" tIns="0" rIns="0" bIns="0"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She prefers cooking because she thinks it is more personal.</a:t>
            </a:r>
            <a:endParaRPr lang="en-US" sz="1300" dirty="0"/>
          </a:p>
        </p:txBody>
      </p:sp>
      <p:sp>
        <p:nvSpPr>
          <p:cNvPr id="17" name="Shape 15"/>
          <p:cNvSpPr/>
          <p:nvPr/>
        </p:nvSpPr>
        <p:spPr>
          <a:xfrm>
            <a:off x="256032" y="2359152"/>
            <a:ext cx="8631936" cy="329184"/>
          </a:xfrm>
          <a:prstGeom prst="rect">
            <a:avLst/>
          </a:prstGeom>
          <a:solidFill>
            <a:srgbClr val="1B3A6B"/>
          </a:solidFill>
          <a:ln w="12700">
            <a:solidFill>
              <a:srgbClr val="1B3A6B"/>
            </a:solidFill>
            <a:prstDash val="solid"/>
          </a:ln>
        </p:spPr>
      </p:sp>
      <p:sp>
        <p:nvSpPr>
          <p:cNvPr id="18" name="Text 16"/>
          <p:cNvSpPr/>
          <p:nvPr/>
        </p:nvSpPr>
        <p:spPr>
          <a:xfrm>
            <a:off x="329184" y="2359152"/>
            <a:ext cx="8485632" cy="329184"/>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3. What is David bringing, and why?</a:t>
            </a:r>
            <a:endParaRPr lang="en-US" sz="1200" dirty="0"/>
          </a:p>
        </p:txBody>
      </p:sp>
      <p:sp>
        <p:nvSpPr>
          <p:cNvPr id="19" name="Shape 17"/>
          <p:cNvSpPr/>
          <p:nvPr/>
        </p:nvSpPr>
        <p:spPr>
          <a:xfrm>
            <a:off x="256032" y="2688336"/>
            <a:ext cx="8631936" cy="402336"/>
          </a:xfrm>
          <a:prstGeom prst="rect">
            <a:avLst/>
          </a:prstGeom>
          <a:solidFill>
            <a:srgbClr val="D1F2EB"/>
          </a:solidFill>
          <a:ln w="12700">
            <a:solidFill>
              <a:srgbClr val="CCCCCC"/>
            </a:solidFill>
            <a:prstDash val="solid"/>
          </a:ln>
        </p:spPr>
      </p:sp>
      <p:sp>
        <p:nvSpPr>
          <p:cNvPr id="20" name="Shape 18"/>
          <p:cNvSpPr/>
          <p:nvPr/>
        </p:nvSpPr>
        <p:spPr>
          <a:xfrm>
            <a:off x="256032" y="2688336"/>
            <a:ext cx="109728" cy="402336"/>
          </a:xfrm>
          <a:prstGeom prst="rect">
            <a:avLst/>
          </a:prstGeom>
          <a:solidFill>
            <a:srgbClr val="0D7377"/>
          </a:solidFill>
          <a:ln w="12700">
            <a:solidFill>
              <a:srgbClr val="0D7377"/>
            </a:solidFill>
            <a:prstDash val="solid"/>
          </a:ln>
        </p:spPr>
      </p:sp>
      <p:sp>
        <p:nvSpPr>
          <p:cNvPr id="21" name="Text 19"/>
          <p:cNvSpPr/>
          <p:nvPr/>
        </p:nvSpPr>
        <p:spPr>
          <a:xfrm>
            <a:off x="402336" y="2706624"/>
            <a:ext cx="8375904" cy="365760"/>
          </a:xfrm>
          <a:prstGeom prst="rect">
            <a:avLst/>
          </a:prstGeom>
          <a:noFill/>
          <a:ln/>
        </p:spPr>
        <p:txBody>
          <a:bodyPr wrap="square" lIns="0" tIns="0" rIns="0" bIns="0"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David is bringing wine and dessert because he would rather bring something sweet than help with cooking.</a:t>
            </a:r>
            <a:endParaRPr lang="en-US" sz="1300" dirty="0"/>
          </a:p>
        </p:txBody>
      </p:sp>
      <p:sp>
        <p:nvSpPr>
          <p:cNvPr id="22" name="Shape 20"/>
          <p:cNvSpPr/>
          <p:nvPr/>
        </p:nvSpPr>
        <p:spPr>
          <a:xfrm>
            <a:off x="256032" y="3163824"/>
            <a:ext cx="8631936" cy="329184"/>
          </a:xfrm>
          <a:prstGeom prst="rect">
            <a:avLst/>
          </a:prstGeom>
          <a:solidFill>
            <a:srgbClr val="1B3A6B"/>
          </a:solidFill>
          <a:ln w="12700">
            <a:solidFill>
              <a:srgbClr val="1B3A6B"/>
            </a:solidFill>
            <a:prstDash val="solid"/>
          </a:ln>
        </p:spPr>
      </p:sp>
      <p:sp>
        <p:nvSpPr>
          <p:cNvPr id="23" name="Text 21"/>
          <p:cNvSpPr/>
          <p:nvPr/>
        </p:nvSpPr>
        <p:spPr>
          <a:xfrm>
            <a:off x="329184" y="3163824"/>
            <a:ext cx="8485632" cy="329184"/>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4. What does 'not as confident as Ana' tell us about David?</a:t>
            </a:r>
            <a:endParaRPr lang="en-US" sz="1200" dirty="0"/>
          </a:p>
        </p:txBody>
      </p:sp>
      <p:sp>
        <p:nvSpPr>
          <p:cNvPr id="24" name="Shape 22"/>
          <p:cNvSpPr/>
          <p:nvPr/>
        </p:nvSpPr>
        <p:spPr>
          <a:xfrm>
            <a:off x="256032" y="3493008"/>
            <a:ext cx="8631936" cy="402336"/>
          </a:xfrm>
          <a:prstGeom prst="rect">
            <a:avLst/>
          </a:prstGeom>
          <a:solidFill>
            <a:srgbClr val="D6EAF8"/>
          </a:solidFill>
          <a:ln w="12700">
            <a:solidFill>
              <a:srgbClr val="CCCCCC"/>
            </a:solidFill>
            <a:prstDash val="solid"/>
          </a:ln>
        </p:spPr>
      </p:sp>
      <p:sp>
        <p:nvSpPr>
          <p:cNvPr id="25" name="Shape 23"/>
          <p:cNvSpPr/>
          <p:nvPr/>
        </p:nvSpPr>
        <p:spPr>
          <a:xfrm>
            <a:off x="256032" y="3493008"/>
            <a:ext cx="109728" cy="402336"/>
          </a:xfrm>
          <a:prstGeom prst="rect">
            <a:avLst/>
          </a:prstGeom>
          <a:solidFill>
            <a:srgbClr val="0D7377"/>
          </a:solidFill>
          <a:ln w="12700">
            <a:solidFill>
              <a:srgbClr val="0D7377"/>
            </a:solidFill>
            <a:prstDash val="solid"/>
          </a:ln>
        </p:spPr>
      </p:sp>
      <p:sp>
        <p:nvSpPr>
          <p:cNvPr id="26" name="Text 24"/>
          <p:cNvSpPr/>
          <p:nvPr/>
        </p:nvSpPr>
        <p:spPr>
          <a:xfrm>
            <a:off x="402336" y="3511296"/>
            <a:ext cx="8375904" cy="365760"/>
          </a:xfrm>
          <a:prstGeom prst="rect">
            <a:avLst/>
          </a:prstGeom>
          <a:noFill/>
          <a:ln/>
        </p:spPr>
        <p:txBody>
          <a:bodyPr wrap="square" lIns="0" tIns="0" rIns="0" bIns="0"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It means David is LESS confident than Ana in the kitchen. They are not equal — Ana is more confident.</a:t>
            </a:r>
            <a:endParaRPr lang="en-US" sz="1300" dirty="0"/>
          </a:p>
        </p:txBody>
      </p:sp>
      <p:sp>
        <p:nvSpPr>
          <p:cNvPr id="27" name="Shape 25"/>
          <p:cNvSpPr/>
          <p:nvPr/>
        </p:nvSpPr>
        <p:spPr>
          <a:xfrm>
            <a:off x="256032" y="3968496"/>
            <a:ext cx="8631936" cy="329184"/>
          </a:xfrm>
          <a:prstGeom prst="rect">
            <a:avLst/>
          </a:prstGeom>
          <a:solidFill>
            <a:srgbClr val="1B3A6B"/>
          </a:solidFill>
          <a:ln w="12700">
            <a:solidFill>
              <a:srgbClr val="1B3A6B"/>
            </a:solidFill>
            <a:prstDash val="solid"/>
          </a:ln>
        </p:spPr>
      </p:sp>
      <p:sp>
        <p:nvSpPr>
          <p:cNvPr id="28" name="Text 26"/>
          <p:cNvSpPr/>
          <p:nvPr/>
        </p:nvSpPr>
        <p:spPr>
          <a:xfrm>
            <a:off x="329184" y="3968496"/>
            <a:ext cx="8485632" cy="329184"/>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5. What do Ana and David prefer to do after dinner?</a:t>
            </a:r>
            <a:endParaRPr lang="en-US" sz="1200" dirty="0"/>
          </a:p>
        </p:txBody>
      </p:sp>
      <p:sp>
        <p:nvSpPr>
          <p:cNvPr id="29" name="Shape 27"/>
          <p:cNvSpPr/>
          <p:nvPr/>
        </p:nvSpPr>
        <p:spPr>
          <a:xfrm>
            <a:off x="256032" y="4297680"/>
            <a:ext cx="8631936" cy="402336"/>
          </a:xfrm>
          <a:prstGeom prst="rect">
            <a:avLst/>
          </a:prstGeom>
          <a:solidFill>
            <a:srgbClr val="D1F2EB"/>
          </a:solidFill>
          <a:ln w="12700">
            <a:solidFill>
              <a:srgbClr val="CCCCCC"/>
            </a:solidFill>
            <a:prstDash val="solid"/>
          </a:ln>
        </p:spPr>
      </p:sp>
      <p:sp>
        <p:nvSpPr>
          <p:cNvPr id="30" name="Shape 28"/>
          <p:cNvSpPr/>
          <p:nvPr/>
        </p:nvSpPr>
        <p:spPr>
          <a:xfrm>
            <a:off x="256032" y="4297680"/>
            <a:ext cx="109728" cy="402336"/>
          </a:xfrm>
          <a:prstGeom prst="rect">
            <a:avLst/>
          </a:prstGeom>
          <a:solidFill>
            <a:srgbClr val="0D7377"/>
          </a:solidFill>
          <a:ln w="12700">
            <a:solidFill>
              <a:srgbClr val="0D7377"/>
            </a:solidFill>
            <a:prstDash val="solid"/>
          </a:ln>
        </p:spPr>
      </p:sp>
      <p:sp>
        <p:nvSpPr>
          <p:cNvPr id="31" name="Text 29"/>
          <p:cNvSpPr/>
          <p:nvPr/>
        </p:nvSpPr>
        <p:spPr>
          <a:xfrm>
            <a:off x="402336" y="4315968"/>
            <a:ext cx="8375904" cy="365760"/>
          </a:xfrm>
          <a:prstGeom prst="rect">
            <a:avLst/>
          </a:prstGeom>
          <a:noFill/>
          <a:ln/>
        </p:spPr>
        <p:txBody>
          <a:bodyPr wrap="square" lIns="0" tIns="0" rIns="0" bIns="0"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Ana prefers watching a film. David would rather play a board game. They are different / still deciding.</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4 — Part C: Writing — Opinions on Living Alone</a:t>
            </a:r>
            <a:endParaRPr lang="en-US" sz="2000" dirty="0"/>
          </a:p>
        </p:txBody>
      </p:sp>
      <p:sp>
        <p:nvSpPr>
          <p:cNvPr id="5" name="Shape 3"/>
          <p:cNvSpPr/>
          <p:nvPr/>
        </p:nvSpPr>
        <p:spPr>
          <a:xfrm>
            <a:off x="7315200" y="128016"/>
            <a:ext cx="1645920" cy="402336"/>
          </a:xfrm>
          <a:prstGeom prst="rect">
            <a:avLst/>
          </a:prstGeom>
          <a:solidFill>
            <a:srgbClr val="1B3A6B"/>
          </a:solidFill>
          <a:ln w="12700">
            <a:solidFill>
              <a:srgbClr val="1B3A6B"/>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WRITING</a:t>
            </a:r>
            <a:endParaRPr lang="en-US" sz="1100" dirty="0"/>
          </a:p>
        </p:txBody>
      </p:sp>
      <p:sp>
        <p:nvSpPr>
          <p:cNvPr id="7" name="Text 5"/>
          <p:cNvSpPr/>
          <p:nvPr/>
        </p:nvSpPr>
        <p:spPr>
          <a:xfrm>
            <a:off x="256032" y="749808"/>
            <a:ext cx="8631936" cy="329184"/>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Write 5–8 sentences about your opinion. Use the sentence starters below. Your worksheet has lines to write on.</a:t>
            </a:r>
            <a:endParaRPr lang="en-US" sz="1300" dirty="0"/>
          </a:p>
        </p:txBody>
      </p:sp>
      <p:sp>
        <p:nvSpPr>
          <p:cNvPr id="8" name="Shape 6"/>
          <p:cNvSpPr/>
          <p:nvPr/>
        </p:nvSpPr>
        <p:spPr>
          <a:xfrm>
            <a:off x="256032" y="1152144"/>
            <a:ext cx="8631936" cy="384048"/>
          </a:xfrm>
          <a:prstGeom prst="rect">
            <a:avLst/>
          </a:prstGeom>
          <a:solidFill>
            <a:srgbClr val="F4A261"/>
          </a:solidFill>
          <a:ln w="12700">
            <a:solidFill>
              <a:srgbClr val="E8873A"/>
            </a:solidFill>
            <a:prstDash val="solid"/>
          </a:ln>
        </p:spPr>
      </p:sp>
      <p:sp>
        <p:nvSpPr>
          <p:cNvPr id="9" name="Shape 7"/>
          <p:cNvSpPr/>
          <p:nvPr/>
        </p:nvSpPr>
        <p:spPr>
          <a:xfrm>
            <a:off x="256032" y="1152144"/>
            <a:ext cx="109728" cy="384048"/>
          </a:xfrm>
          <a:prstGeom prst="rect">
            <a:avLst/>
          </a:prstGeom>
          <a:solidFill>
            <a:srgbClr val="E8873A"/>
          </a:solidFill>
          <a:ln w="12700">
            <a:solidFill>
              <a:srgbClr val="E8873A"/>
            </a:solidFill>
            <a:prstDash val="solid"/>
          </a:ln>
        </p:spPr>
      </p:sp>
      <p:sp>
        <p:nvSpPr>
          <p:cNvPr id="10" name="Text 8"/>
          <p:cNvSpPr/>
          <p:nvPr/>
        </p:nvSpPr>
        <p:spPr>
          <a:xfrm>
            <a:off x="420624" y="1152144"/>
            <a:ext cx="8321040" cy="384048"/>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USE THESE SENTENCE STARTERS — copy them and complete them with YOUR ideas:</a:t>
            </a:r>
            <a:endParaRPr lang="en-US" sz="1300" dirty="0"/>
          </a:p>
        </p:txBody>
      </p:sp>
      <p:sp>
        <p:nvSpPr>
          <p:cNvPr id="11" name="Shape 9"/>
          <p:cNvSpPr/>
          <p:nvPr/>
        </p:nvSpPr>
        <p:spPr>
          <a:xfrm>
            <a:off x="256032" y="1609344"/>
            <a:ext cx="402336" cy="475488"/>
          </a:xfrm>
          <a:prstGeom prst="rect">
            <a:avLst/>
          </a:prstGeom>
          <a:solidFill>
            <a:srgbClr val="D6EAF8"/>
          </a:solidFill>
          <a:ln w="12700">
            <a:solidFill>
              <a:srgbClr val="BBBBBB"/>
            </a:solidFill>
            <a:prstDash val="solid"/>
          </a:ln>
        </p:spPr>
      </p:sp>
      <p:sp>
        <p:nvSpPr>
          <p:cNvPr id="12" name="Text 10"/>
          <p:cNvSpPr/>
          <p:nvPr/>
        </p:nvSpPr>
        <p:spPr>
          <a:xfrm>
            <a:off x="256032" y="1609344"/>
            <a:ext cx="402336" cy="475488"/>
          </a:xfrm>
          <a:prstGeom prst="rect">
            <a:avLst/>
          </a:prstGeom>
          <a:noFill/>
          <a:ln/>
        </p:spPr>
        <p:txBody>
          <a:bodyPr wrap="square" lIns="0" tIns="0" rIns="0" bIns="0" rtlCol="0" anchor="ctr"/>
          <a:lstStyle/>
          <a:p>
            <a:pPr marL="0" indent="0" algn="ctr">
              <a:buNone/>
            </a:pPr>
            <a:r>
              <a:rPr lang="en-US" sz="1600" b="1" dirty="0">
                <a:solidFill>
                  <a:srgbClr val="1B3A6B"/>
                </a:solidFill>
                <a:latin typeface="Trebuchet MS" pitchFamily="34" charset="0"/>
                <a:ea typeface="Trebuchet MS" pitchFamily="34" charset="-122"/>
                <a:cs typeface="Trebuchet MS" pitchFamily="34" charset="-120"/>
              </a:rPr>
              <a:t>1</a:t>
            </a:r>
            <a:endParaRPr lang="en-US" sz="1600" dirty="0"/>
          </a:p>
        </p:txBody>
      </p:sp>
      <p:sp>
        <p:nvSpPr>
          <p:cNvPr id="13" name="Shape 11"/>
          <p:cNvSpPr/>
          <p:nvPr/>
        </p:nvSpPr>
        <p:spPr>
          <a:xfrm>
            <a:off x="658368" y="1609344"/>
            <a:ext cx="8229600" cy="475488"/>
          </a:xfrm>
          <a:prstGeom prst="rect">
            <a:avLst/>
          </a:prstGeom>
          <a:solidFill>
            <a:srgbClr val="FFFFFF"/>
          </a:solidFill>
          <a:ln w="12700">
            <a:solidFill>
              <a:srgbClr val="BBBBBB"/>
            </a:solidFill>
            <a:prstDash val="solid"/>
          </a:ln>
        </p:spPr>
      </p:sp>
      <p:sp>
        <p:nvSpPr>
          <p:cNvPr id="14" name="Text 12"/>
          <p:cNvSpPr/>
          <p:nvPr/>
        </p:nvSpPr>
        <p:spPr>
          <a:xfrm>
            <a:off x="749808" y="1636776"/>
            <a:ext cx="5852160" cy="256032"/>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I think living alone is _______ because ...</a:t>
            </a:r>
            <a:endParaRPr lang="en-US" sz="1300" dirty="0"/>
          </a:p>
        </p:txBody>
      </p:sp>
      <p:sp>
        <p:nvSpPr>
          <p:cNvPr id="15" name="Text 13"/>
          <p:cNvSpPr/>
          <p:nvPr/>
        </p:nvSpPr>
        <p:spPr>
          <a:xfrm>
            <a:off x="749808" y="1865376"/>
            <a:ext cx="8046720" cy="201168"/>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(adjective: relaxing / difficult / expensive / peaceful)</a:t>
            </a:r>
            <a:endParaRPr lang="en-US" sz="1100" dirty="0"/>
          </a:p>
        </p:txBody>
      </p:sp>
      <p:sp>
        <p:nvSpPr>
          <p:cNvPr id="16" name="Shape 14"/>
          <p:cNvSpPr/>
          <p:nvPr/>
        </p:nvSpPr>
        <p:spPr>
          <a:xfrm>
            <a:off x="256032" y="2176272"/>
            <a:ext cx="402336" cy="475488"/>
          </a:xfrm>
          <a:prstGeom prst="rect">
            <a:avLst/>
          </a:prstGeom>
          <a:solidFill>
            <a:srgbClr val="D1F2EB"/>
          </a:solidFill>
          <a:ln w="12700">
            <a:solidFill>
              <a:srgbClr val="BBBBBB"/>
            </a:solidFill>
            <a:prstDash val="solid"/>
          </a:ln>
        </p:spPr>
      </p:sp>
      <p:sp>
        <p:nvSpPr>
          <p:cNvPr id="17" name="Text 15"/>
          <p:cNvSpPr/>
          <p:nvPr/>
        </p:nvSpPr>
        <p:spPr>
          <a:xfrm>
            <a:off x="256032" y="2176272"/>
            <a:ext cx="402336" cy="475488"/>
          </a:xfrm>
          <a:prstGeom prst="rect">
            <a:avLst/>
          </a:prstGeom>
          <a:noFill/>
          <a:ln/>
        </p:spPr>
        <p:txBody>
          <a:bodyPr wrap="square" lIns="0" tIns="0" rIns="0" bIns="0" rtlCol="0" anchor="ctr"/>
          <a:lstStyle/>
          <a:p>
            <a:pPr marL="0" indent="0" algn="ctr">
              <a:buNone/>
            </a:pPr>
            <a:r>
              <a:rPr lang="en-US" sz="1600" b="1" dirty="0">
                <a:solidFill>
                  <a:srgbClr val="1B3A6B"/>
                </a:solidFill>
                <a:latin typeface="Trebuchet MS" pitchFamily="34" charset="0"/>
                <a:ea typeface="Trebuchet MS" pitchFamily="34" charset="-122"/>
                <a:cs typeface="Trebuchet MS" pitchFamily="34" charset="-120"/>
              </a:rPr>
              <a:t>2</a:t>
            </a:r>
            <a:endParaRPr lang="en-US" sz="1600" dirty="0"/>
          </a:p>
        </p:txBody>
      </p:sp>
      <p:sp>
        <p:nvSpPr>
          <p:cNvPr id="18" name="Shape 16"/>
          <p:cNvSpPr/>
          <p:nvPr/>
        </p:nvSpPr>
        <p:spPr>
          <a:xfrm>
            <a:off x="658368" y="2176272"/>
            <a:ext cx="8229600" cy="475488"/>
          </a:xfrm>
          <a:prstGeom prst="rect">
            <a:avLst/>
          </a:prstGeom>
          <a:solidFill>
            <a:srgbClr val="FFFFFF"/>
          </a:solidFill>
          <a:ln w="12700">
            <a:solidFill>
              <a:srgbClr val="BBBBBB"/>
            </a:solidFill>
            <a:prstDash val="solid"/>
          </a:ln>
        </p:spPr>
      </p:sp>
      <p:sp>
        <p:nvSpPr>
          <p:cNvPr id="19" name="Text 17"/>
          <p:cNvSpPr/>
          <p:nvPr/>
        </p:nvSpPr>
        <p:spPr>
          <a:xfrm>
            <a:off x="749808" y="2203704"/>
            <a:ext cx="5852160" cy="256032"/>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I would rather _______ than _______ .</a:t>
            </a:r>
            <a:endParaRPr lang="en-US" sz="1300" dirty="0"/>
          </a:p>
        </p:txBody>
      </p:sp>
      <p:sp>
        <p:nvSpPr>
          <p:cNvPr id="20" name="Text 18"/>
          <p:cNvSpPr/>
          <p:nvPr/>
        </p:nvSpPr>
        <p:spPr>
          <a:xfrm>
            <a:off x="749808" y="2432304"/>
            <a:ext cx="8046720" cy="201168"/>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(would rather + base verb + than + base verb)</a:t>
            </a:r>
            <a:endParaRPr lang="en-US" sz="1100" dirty="0"/>
          </a:p>
        </p:txBody>
      </p:sp>
      <p:sp>
        <p:nvSpPr>
          <p:cNvPr id="21" name="Shape 19"/>
          <p:cNvSpPr/>
          <p:nvPr/>
        </p:nvSpPr>
        <p:spPr>
          <a:xfrm>
            <a:off x="256032" y="2743200"/>
            <a:ext cx="402336" cy="475488"/>
          </a:xfrm>
          <a:prstGeom prst="rect">
            <a:avLst/>
          </a:prstGeom>
          <a:solidFill>
            <a:srgbClr val="F5EEF8"/>
          </a:solidFill>
          <a:ln w="12700">
            <a:solidFill>
              <a:srgbClr val="BBBBBB"/>
            </a:solidFill>
            <a:prstDash val="solid"/>
          </a:ln>
        </p:spPr>
      </p:sp>
      <p:sp>
        <p:nvSpPr>
          <p:cNvPr id="22" name="Text 20"/>
          <p:cNvSpPr/>
          <p:nvPr/>
        </p:nvSpPr>
        <p:spPr>
          <a:xfrm>
            <a:off x="256032" y="2743200"/>
            <a:ext cx="402336" cy="475488"/>
          </a:xfrm>
          <a:prstGeom prst="rect">
            <a:avLst/>
          </a:prstGeom>
          <a:noFill/>
          <a:ln/>
        </p:spPr>
        <p:txBody>
          <a:bodyPr wrap="square" lIns="0" tIns="0" rIns="0" bIns="0" rtlCol="0" anchor="ctr"/>
          <a:lstStyle/>
          <a:p>
            <a:pPr marL="0" indent="0" algn="ctr">
              <a:buNone/>
            </a:pPr>
            <a:r>
              <a:rPr lang="en-US" sz="1600" b="1" dirty="0">
                <a:solidFill>
                  <a:srgbClr val="1B3A6B"/>
                </a:solidFill>
                <a:latin typeface="Trebuchet MS" pitchFamily="34" charset="0"/>
                <a:ea typeface="Trebuchet MS" pitchFamily="34" charset="-122"/>
                <a:cs typeface="Trebuchet MS" pitchFamily="34" charset="-120"/>
              </a:rPr>
              <a:t>3</a:t>
            </a:r>
            <a:endParaRPr lang="en-US" sz="1600" dirty="0"/>
          </a:p>
        </p:txBody>
      </p:sp>
      <p:sp>
        <p:nvSpPr>
          <p:cNvPr id="23" name="Shape 21"/>
          <p:cNvSpPr/>
          <p:nvPr/>
        </p:nvSpPr>
        <p:spPr>
          <a:xfrm>
            <a:off x="658368" y="2743200"/>
            <a:ext cx="8229600" cy="475488"/>
          </a:xfrm>
          <a:prstGeom prst="rect">
            <a:avLst/>
          </a:prstGeom>
          <a:solidFill>
            <a:srgbClr val="FFFFFF"/>
          </a:solidFill>
          <a:ln w="12700">
            <a:solidFill>
              <a:srgbClr val="BBBBBB"/>
            </a:solidFill>
            <a:prstDash val="solid"/>
          </a:ln>
        </p:spPr>
      </p:sp>
      <p:sp>
        <p:nvSpPr>
          <p:cNvPr id="24" name="Text 22"/>
          <p:cNvSpPr/>
          <p:nvPr/>
        </p:nvSpPr>
        <p:spPr>
          <a:xfrm>
            <a:off x="749808" y="2770632"/>
            <a:ext cx="5852160" cy="256032"/>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In my opinion, living with others is as _______ as _______ .</a:t>
            </a:r>
            <a:endParaRPr lang="en-US" sz="1300" dirty="0"/>
          </a:p>
        </p:txBody>
      </p:sp>
      <p:sp>
        <p:nvSpPr>
          <p:cNvPr id="25" name="Text 23"/>
          <p:cNvSpPr/>
          <p:nvPr/>
        </p:nvSpPr>
        <p:spPr>
          <a:xfrm>
            <a:off x="749808" y="2999232"/>
            <a:ext cx="8046720" cy="201168"/>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(as...as = equal comparison)</a:t>
            </a:r>
            <a:endParaRPr lang="en-US" sz="1100" dirty="0"/>
          </a:p>
        </p:txBody>
      </p:sp>
      <p:sp>
        <p:nvSpPr>
          <p:cNvPr id="26" name="Shape 24"/>
          <p:cNvSpPr/>
          <p:nvPr/>
        </p:nvSpPr>
        <p:spPr>
          <a:xfrm>
            <a:off x="256032" y="3310128"/>
            <a:ext cx="402336" cy="475488"/>
          </a:xfrm>
          <a:prstGeom prst="rect">
            <a:avLst/>
          </a:prstGeom>
          <a:solidFill>
            <a:srgbClr val="FDEBD0"/>
          </a:solidFill>
          <a:ln w="12700">
            <a:solidFill>
              <a:srgbClr val="BBBBBB"/>
            </a:solidFill>
            <a:prstDash val="solid"/>
          </a:ln>
        </p:spPr>
      </p:sp>
      <p:sp>
        <p:nvSpPr>
          <p:cNvPr id="27" name="Text 25"/>
          <p:cNvSpPr/>
          <p:nvPr/>
        </p:nvSpPr>
        <p:spPr>
          <a:xfrm>
            <a:off x="256032" y="3310128"/>
            <a:ext cx="402336" cy="475488"/>
          </a:xfrm>
          <a:prstGeom prst="rect">
            <a:avLst/>
          </a:prstGeom>
          <a:noFill/>
          <a:ln/>
        </p:spPr>
        <p:txBody>
          <a:bodyPr wrap="square" lIns="0" tIns="0" rIns="0" bIns="0" rtlCol="0" anchor="ctr"/>
          <a:lstStyle/>
          <a:p>
            <a:pPr marL="0" indent="0" algn="ctr">
              <a:buNone/>
            </a:pPr>
            <a:r>
              <a:rPr lang="en-US" sz="1600" b="1" dirty="0">
                <a:solidFill>
                  <a:srgbClr val="1B3A6B"/>
                </a:solidFill>
                <a:latin typeface="Trebuchet MS" pitchFamily="34" charset="0"/>
                <a:ea typeface="Trebuchet MS" pitchFamily="34" charset="-122"/>
                <a:cs typeface="Trebuchet MS" pitchFamily="34" charset="-120"/>
              </a:rPr>
              <a:t>4</a:t>
            </a:r>
            <a:endParaRPr lang="en-US" sz="1600" dirty="0"/>
          </a:p>
        </p:txBody>
      </p:sp>
      <p:sp>
        <p:nvSpPr>
          <p:cNvPr id="28" name="Shape 26"/>
          <p:cNvSpPr/>
          <p:nvPr/>
        </p:nvSpPr>
        <p:spPr>
          <a:xfrm>
            <a:off x="658368" y="3310128"/>
            <a:ext cx="8229600" cy="475488"/>
          </a:xfrm>
          <a:prstGeom prst="rect">
            <a:avLst/>
          </a:prstGeom>
          <a:solidFill>
            <a:srgbClr val="FFFFFF"/>
          </a:solidFill>
          <a:ln w="12700">
            <a:solidFill>
              <a:srgbClr val="BBBBBB"/>
            </a:solidFill>
            <a:prstDash val="solid"/>
          </a:ln>
        </p:spPr>
      </p:sp>
      <p:sp>
        <p:nvSpPr>
          <p:cNvPr id="29" name="Text 27"/>
          <p:cNvSpPr/>
          <p:nvPr/>
        </p:nvSpPr>
        <p:spPr>
          <a:xfrm>
            <a:off x="749808" y="3337560"/>
            <a:ext cx="5852160" cy="256032"/>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I prefer _______ to _______ because ...</a:t>
            </a:r>
            <a:endParaRPr lang="en-US" sz="1300" dirty="0"/>
          </a:p>
        </p:txBody>
      </p:sp>
      <p:sp>
        <p:nvSpPr>
          <p:cNvPr id="30" name="Text 28"/>
          <p:cNvSpPr/>
          <p:nvPr/>
        </p:nvSpPr>
        <p:spPr>
          <a:xfrm>
            <a:off x="749808" y="3566160"/>
            <a:ext cx="8046720" cy="201168"/>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(prefer + noun/verb-ing + to + noun/verb-ing)</a:t>
            </a:r>
            <a:endParaRPr lang="en-US" sz="1100" dirty="0"/>
          </a:p>
        </p:txBody>
      </p:sp>
      <p:sp>
        <p:nvSpPr>
          <p:cNvPr id="31" name="Shape 29"/>
          <p:cNvSpPr/>
          <p:nvPr/>
        </p:nvSpPr>
        <p:spPr>
          <a:xfrm>
            <a:off x="256032" y="3877056"/>
            <a:ext cx="402336" cy="475488"/>
          </a:xfrm>
          <a:prstGeom prst="rect">
            <a:avLst/>
          </a:prstGeom>
          <a:solidFill>
            <a:srgbClr val="FEF9E7"/>
          </a:solidFill>
          <a:ln w="12700">
            <a:solidFill>
              <a:srgbClr val="BBBBBB"/>
            </a:solidFill>
            <a:prstDash val="solid"/>
          </a:ln>
        </p:spPr>
      </p:sp>
      <p:sp>
        <p:nvSpPr>
          <p:cNvPr id="32" name="Text 30"/>
          <p:cNvSpPr/>
          <p:nvPr/>
        </p:nvSpPr>
        <p:spPr>
          <a:xfrm>
            <a:off x="256032" y="3877056"/>
            <a:ext cx="402336" cy="475488"/>
          </a:xfrm>
          <a:prstGeom prst="rect">
            <a:avLst/>
          </a:prstGeom>
          <a:noFill/>
          <a:ln/>
        </p:spPr>
        <p:txBody>
          <a:bodyPr wrap="square" lIns="0" tIns="0" rIns="0" bIns="0" rtlCol="0" anchor="ctr"/>
          <a:lstStyle/>
          <a:p>
            <a:pPr marL="0" indent="0" algn="ctr">
              <a:buNone/>
            </a:pPr>
            <a:r>
              <a:rPr lang="en-US" sz="1600" b="1" dirty="0">
                <a:solidFill>
                  <a:srgbClr val="1B3A6B"/>
                </a:solidFill>
                <a:latin typeface="Trebuchet MS" pitchFamily="34" charset="0"/>
                <a:ea typeface="Trebuchet MS" pitchFamily="34" charset="-122"/>
                <a:cs typeface="Trebuchet MS" pitchFamily="34" charset="-120"/>
              </a:rPr>
              <a:t>5</a:t>
            </a:r>
            <a:endParaRPr lang="en-US" sz="1600" dirty="0"/>
          </a:p>
        </p:txBody>
      </p:sp>
      <p:sp>
        <p:nvSpPr>
          <p:cNvPr id="33" name="Shape 31"/>
          <p:cNvSpPr/>
          <p:nvPr/>
        </p:nvSpPr>
        <p:spPr>
          <a:xfrm>
            <a:off x="658368" y="3877056"/>
            <a:ext cx="8229600" cy="475488"/>
          </a:xfrm>
          <a:prstGeom prst="rect">
            <a:avLst/>
          </a:prstGeom>
          <a:solidFill>
            <a:srgbClr val="FFFFFF"/>
          </a:solidFill>
          <a:ln w="12700">
            <a:solidFill>
              <a:srgbClr val="BBBBBB"/>
            </a:solidFill>
            <a:prstDash val="solid"/>
          </a:ln>
        </p:spPr>
      </p:sp>
      <p:sp>
        <p:nvSpPr>
          <p:cNvPr id="34" name="Text 32"/>
          <p:cNvSpPr/>
          <p:nvPr/>
        </p:nvSpPr>
        <p:spPr>
          <a:xfrm>
            <a:off x="749808" y="3904488"/>
            <a:ext cx="5852160" cy="256032"/>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Right now, I am _______ .</a:t>
            </a:r>
            <a:endParaRPr lang="en-US" sz="1300" dirty="0"/>
          </a:p>
        </p:txBody>
      </p:sp>
      <p:sp>
        <p:nvSpPr>
          <p:cNvPr id="35" name="Text 33"/>
          <p:cNvSpPr/>
          <p:nvPr/>
        </p:nvSpPr>
        <p:spPr>
          <a:xfrm>
            <a:off x="749808" y="4133088"/>
            <a:ext cx="8046720" cy="201168"/>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(present continuous — describe your current living situation)</a:t>
            </a:r>
            <a:endParaRPr lang="en-US" sz="1100" dirty="0"/>
          </a:p>
        </p:txBody>
      </p:sp>
      <p:sp>
        <p:nvSpPr>
          <p:cNvPr id="36" name="Shape 34"/>
          <p:cNvSpPr/>
          <p:nvPr/>
        </p:nvSpPr>
        <p:spPr>
          <a:xfrm>
            <a:off x="256032" y="4535424"/>
            <a:ext cx="8631936" cy="502920"/>
          </a:xfrm>
          <a:prstGeom prst="rect">
            <a:avLst/>
          </a:prstGeom>
          <a:solidFill>
            <a:srgbClr val="FEF9E7"/>
          </a:solidFill>
          <a:ln w="12700">
            <a:solidFill>
              <a:srgbClr val="F4A261"/>
            </a:solidFill>
            <a:prstDash val="solid"/>
          </a:ln>
        </p:spPr>
      </p:sp>
      <p:sp>
        <p:nvSpPr>
          <p:cNvPr id="37" name="Shape 35"/>
          <p:cNvSpPr/>
          <p:nvPr/>
        </p:nvSpPr>
        <p:spPr>
          <a:xfrm>
            <a:off x="256032" y="4535424"/>
            <a:ext cx="109728" cy="502920"/>
          </a:xfrm>
          <a:prstGeom prst="rect">
            <a:avLst/>
          </a:prstGeom>
          <a:solidFill>
            <a:srgbClr val="F4A261"/>
          </a:solidFill>
          <a:ln w="12700">
            <a:solidFill>
              <a:srgbClr val="F4A261"/>
            </a:solidFill>
            <a:prstDash val="solid"/>
          </a:ln>
        </p:spPr>
      </p:sp>
      <p:sp>
        <p:nvSpPr>
          <p:cNvPr id="38" name="Text 36"/>
          <p:cNvSpPr/>
          <p:nvPr/>
        </p:nvSpPr>
        <p:spPr>
          <a:xfrm>
            <a:off x="438912" y="4590288"/>
            <a:ext cx="8375904" cy="393192"/>
          </a:xfrm>
          <a:prstGeom prst="rect">
            <a:avLst/>
          </a:prstGeom>
          <a:noFill/>
          <a:ln/>
        </p:spPr>
        <p:txBody>
          <a:bodyPr wrap="square" lIns="0" tIns="0" rIns="0" bIns="0" rtlCol="0" anchor="t"/>
          <a:lstStyle/>
          <a:p>
            <a:pPr marL="0" indent="0">
              <a:buNone/>
            </a:pPr>
            <a:r>
              <a:rPr lang="en-US" sz="1300" dirty="0">
                <a:solidFill>
                  <a:srgbClr val="7D4E00"/>
                </a:solidFill>
                <a:latin typeface="Calibri" pitchFamily="34" charset="0"/>
                <a:ea typeface="Calibri" pitchFamily="34" charset="-122"/>
                <a:cs typeface="Calibri" pitchFamily="34" charset="-120"/>
              </a:rPr>
              <a:t>💡  WRITING TIP: Use AT LEAST one would rather, one prefer, and one as...as in your writing. This shows the examiner you know the grammar!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Module 4 — Part D: Group Speaking — What Are You Up To This Week?</a:t>
            </a:r>
            <a:endParaRPr lang="en-US" sz="2000" dirty="0"/>
          </a:p>
        </p:txBody>
      </p:sp>
      <p:sp>
        <p:nvSpPr>
          <p:cNvPr id="5" name="Shape 3"/>
          <p:cNvSpPr/>
          <p:nvPr/>
        </p:nvSpPr>
        <p:spPr>
          <a:xfrm>
            <a:off x="7315200" y="128016"/>
            <a:ext cx="1645920" cy="402336"/>
          </a:xfrm>
          <a:prstGeom prst="rect">
            <a:avLst/>
          </a:prstGeom>
          <a:solidFill>
            <a:srgbClr val="0D7377"/>
          </a:solidFill>
          <a:ln w="12700">
            <a:solidFill>
              <a:srgbClr val="0D7377"/>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SPEAKING</a:t>
            </a:r>
            <a:endParaRPr lang="en-US" sz="1100" dirty="0"/>
          </a:p>
        </p:txBody>
      </p:sp>
      <p:sp>
        <p:nvSpPr>
          <p:cNvPr id="7" name="Text 5"/>
          <p:cNvSpPr/>
          <p:nvPr/>
        </p:nvSpPr>
        <p:spPr>
          <a:xfrm>
            <a:off x="256032" y="749808"/>
            <a:ext cx="8631936" cy="329184"/>
          </a:xfrm>
          <a:prstGeom prst="rect">
            <a:avLst/>
          </a:prstGeom>
          <a:noFill/>
          <a:ln/>
        </p:spPr>
        <p:txBody>
          <a:bodyPr wrap="square" rtlCol="0" anchor="ctr"/>
          <a:lstStyle/>
          <a:p>
            <a:pPr marL="0" indent="0">
              <a:buNone/>
            </a:pPr>
            <a:r>
              <a:rPr lang="en-US" sz="1300" i="1" dirty="0">
                <a:solidFill>
                  <a:srgbClr val="111827"/>
                </a:solidFill>
                <a:latin typeface="Calibri" pitchFamily="34" charset="0"/>
                <a:ea typeface="Calibri" pitchFamily="34" charset="-122"/>
                <a:cs typeface="Calibri" pitchFamily="34" charset="-120"/>
              </a:rPr>
              <a:t>Groups of 3. Each person must say ALL FOUR things below. Speak — don't read!</a:t>
            </a:r>
            <a:endParaRPr lang="en-US" sz="1300" dirty="0"/>
          </a:p>
        </p:txBody>
      </p:sp>
      <p:sp>
        <p:nvSpPr>
          <p:cNvPr id="8" name="Shape 6"/>
          <p:cNvSpPr/>
          <p:nvPr/>
        </p:nvSpPr>
        <p:spPr>
          <a:xfrm>
            <a:off x="256032" y="1152144"/>
            <a:ext cx="4096512" cy="1536192"/>
          </a:xfrm>
          <a:prstGeom prst="rect">
            <a:avLst/>
          </a:prstGeom>
          <a:solidFill>
            <a:srgbClr val="D6EAF8"/>
          </a:solidFill>
          <a:ln w="12700">
            <a:solidFill>
              <a:srgbClr val="CCCCCC"/>
            </a:solidFill>
            <a:prstDash val="solid"/>
          </a:ln>
        </p:spPr>
      </p:sp>
      <p:sp>
        <p:nvSpPr>
          <p:cNvPr id="9" name="Shape 7"/>
          <p:cNvSpPr/>
          <p:nvPr/>
        </p:nvSpPr>
        <p:spPr>
          <a:xfrm>
            <a:off x="256032" y="1152144"/>
            <a:ext cx="4096512" cy="438912"/>
          </a:xfrm>
          <a:prstGeom prst="rect">
            <a:avLst/>
          </a:prstGeom>
          <a:solidFill>
            <a:srgbClr val="1B3A6B"/>
          </a:solidFill>
          <a:ln w="12700">
            <a:solidFill>
              <a:srgbClr val="1B3A6B"/>
            </a:solidFill>
            <a:prstDash val="solid"/>
          </a:ln>
        </p:spPr>
      </p:sp>
      <p:sp>
        <p:nvSpPr>
          <p:cNvPr id="10" name="Text 8"/>
          <p:cNvSpPr/>
          <p:nvPr/>
        </p:nvSpPr>
        <p:spPr>
          <a:xfrm>
            <a:off x="256032" y="1152144"/>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11" name="Text 9"/>
          <p:cNvSpPr/>
          <p:nvPr/>
        </p:nvSpPr>
        <p:spPr>
          <a:xfrm>
            <a:off x="731520" y="1152144"/>
            <a:ext cx="3547872" cy="43891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Share 2 PLANS for this week.</a:t>
            </a:r>
            <a:endParaRPr lang="en-US" sz="1300" dirty="0"/>
          </a:p>
        </p:txBody>
      </p:sp>
      <p:sp>
        <p:nvSpPr>
          <p:cNvPr id="12" name="Text 10"/>
          <p:cNvSpPr/>
          <p:nvPr/>
        </p:nvSpPr>
        <p:spPr>
          <a:xfrm>
            <a:off x="347472" y="1664208"/>
            <a:ext cx="3913632" cy="365760"/>
          </a:xfrm>
          <a:prstGeom prst="rect">
            <a:avLst/>
          </a:prstGeom>
          <a:noFill/>
          <a:ln/>
        </p:spPr>
        <p:txBody>
          <a:bodyPr wrap="square" rtlCol="0" anchor="ctr"/>
          <a:lstStyle/>
          <a:p>
            <a:pPr marL="0" indent="0">
              <a:buNone/>
            </a:pPr>
            <a:r>
              <a:rPr lang="en-US" sz="1500" b="1" dirty="0">
                <a:solidFill>
                  <a:srgbClr val="1B3A6B"/>
                </a:solidFill>
                <a:latin typeface="Trebuchet MS" pitchFamily="34" charset="0"/>
                <a:ea typeface="Trebuchet MS" pitchFamily="34" charset="-122"/>
                <a:cs typeface="Trebuchet MS" pitchFamily="34" charset="-120"/>
              </a:rPr>
              <a:t>Use present continuous!</a:t>
            </a:r>
            <a:endParaRPr lang="en-US" sz="1500" dirty="0"/>
          </a:p>
        </p:txBody>
      </p:sp>
      <p:sp>
        <p:nvSpPr>
          <p:cNvPr id="13" name="Text 11"/>
          <p:cNvSpPr/>
          <p:nvPr/>
        </p:nvSpPr>
        <p:spPr>
          <a:xfrm>
            <a:off x="347472" y="2048256"/>
            <a:ext cx="3913632" cy="548640"/>
          </a:xfrm>
          <a:prstGeom prst="rect">
            <a:avLst/>
          </a:prstGeom>
          <a:noFill/>
          <a:ln/>
        </p:spPr>
        <p:txBody>
          <a:bodyPr wrap="square" rtlCol="0" anchor="ctr"/>
          <a:lstStyle/>
          <a:p>
            <a:pPr marL="0" indent="0">
              <a:buNone/>
            </a:pPr>
            <a:r>
              <a:rPr lang="en-US" sz="1200" i="1" dirty="0">
                <a:solidFill>
                  <a:srgbClr val="111827"/>
                </a:solidFill>
                <a:latin typeface="Calibri" pitchFamily="34" charset="0"/>
                <a:ea typeface="Calibri" pitchFamily="34" charset="-122"/>
                <a:cs typeface="Calibri" pitchFamily="34" charset="-120"/>
              </a:rPr>
              <a:t>"I am meeting my friends on Saturday."</a:t>
            </a:r>
            <a:endParaRPr lang="en-US" sz="1200" dirty="0"/>
          </a:p>
        </p:txBody>
      </p:sp>
      <p:sp>
        <p:nvSpPr>
          <p:cNvPr id="14" name="Shape 12"/>
          <p:cNvSpPr/>
          <p:nvPr/>
        </p:nvSpPr>
        <p:spPr>
          <a:xfrm>
            <a:off x="4626864" y="1152144"/>
            <a:ext cx="4096512" cy="1536192"/>
          </a:xfrm>
          <a:prstGeom prst="rect">
            <a:avLst/>
          </a:prstGeom>
          <a:solidFill>
            <a:srgbClr val="D1F2EB"/>
          </a:solidFill>
          <a:ln w="12700">
            <a:solidFill>
              <a:srgbClr val="CCCCCC"/>
            </a:solidFill>
            <a:prstDash val="solid"/>
          </a:ln>
        </p:spPr>
      </p:sp>
      <p:sp>
        <p:nvSpPr>
          <p:cNvPr id="15" name="Shape 13"/>
          <p:cNvSpPr/>
          <p:nvPr/>
        </p:nvSpPr>
        <p:spPr>
          <a:xfrm>
            <a:off x="4626864" y="1152144"/>
            <a:ext cx="4096512" cy="438912"/>
          </a:xfrm>
          <a:prstGeom prst="rect">
            <a:avLst/>
          </a:prstGeom>
          <a:solidFill>
            <a:srgbClr val="0D7377"/>
          </a:solidFill>
          <a:ln w="12700">
            <a:solidFill>
              <a:srgbClr val="0D7377"/>
            </a:solidFill>
            <a:prstDash val="solid"/>
          </a:ln>
        </p:spPr>
      </p:sp>
      <p:sp>
        <p:nvSpPr>
          <p:cNvPr id="16" name="Text 14"/>
          <p:cNvSpPr/>
          <p:nvPr/>
        </p:nvSpPr>
        <p:spPr>
          <a:xfrm>
            <a:off x="4626864" y="1152144"/>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7" name="Text 15"/>
          <p:cNvSpPr/>
          <p:nvPr/>
        </p:nvSpPr>
        <p:spPr>
          <a:xfrm>
            <a:off x="5102352" y="1152144"/>
            <a:ext cx="3547872" cy="43891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Share 1 HABIT you have.</a:t>
            </a:r>
            <a:endParaRPr lang="en-US" sz="1300" dirty="0"/>
          </a:p>
        </p:txBody>
      </p:sp>
      <p:sp>
        <p:nvSpPr>
          <p:cNvPr id="18" name="Text 16"/>
          <p:cNvSpPr/>
          <p:nvPr/>
        </p:nvSpPr>
        <p:spPr>
          <a:xfrm>
            <a:off x="4718304" y="1664208"/>
            <a:ext cx="3913632" cy="365760"/>
          </a:xfrm>
          <a:prstGeom prst="rect">
            <a:avLst/>
          </a:prstGeom>
          <a:noFill/>
          <a:ln/>
        </p:spPr>
        <p:txBody>
          <a:bodyPr wrap="square" rtlCol="0" anchor="ctr"/>
          <a:lstStyle/>
          <a:p>
            <a:pPr marL="0" indent="0">
              <a:buNone/>
            </a:pPr>
            <a:r>
              <a:rPr lang="en-US" sz="1500" b="1" dirty="0">
                <a:solidFill>
                  <a:srgbClr val="0D7377"/>
                </a:solidFill>
                <a:latin typeface="Trebuchet MS" pitchFamily="34" charset="0"/>
                <a:ea typeface="Trebuchet MS" pitchFamily="34" charset="-122"/>
                <a:cs typeface="Trebuchet MS" pitchFamily="34" charset="-120"/>
              </a:rPr>
              <a:t>Use simple present!</a:t>
            </a:r>
            <a:endParaRPr lang="en-US" sz="1500" dirty="0"/>
          </a:p>
        </p:txBody>
      </p:sp>
      <p:sp>
        <p:nvSpPr>
          <p:cNvPr id="19" name="Text 17"/>
          <p:cNvSpPr/>
          <p:nvPr/>
        </p:nvSpPr>
        <p:spPr>
          <a:xfrm>
            <a:off x="4718304" y="2048256"/>
            <a:ext cx="3913632" cy="548640"/>
          </a:xfrm>
          <a:prstGeom prst="rect">
            <a:avLst/>
          </a:prstGeom>
          <a:noFill/>
          <a:ln/>
        </p:spPr>
        <p:txBody>
          <a:bodyPr wrap="square" rtlCol="0" anchor="ctr"/>
          <a:lstStyle/>
          <a:p>
            <a:pPr marL="0" indent="0">
              <a:buNone/>
            </a:pPr>
            <a:r>
              <a:rPr lang="en-US" sz="1200" i="1" dirty="0">
                <a:solidFill>
                  <a:srgbClr val="111827"/>
                </a:solidFill>
                <a:latin typeface="Calibri" pitchFamily="34" charset="0"/>
                <a:ea typeface="Calibri" pitchFamily="34" charset="-122"/>
                <a:cs typeface="Calibri" pitchFamily="34" charset="-120"/>
              </a:rPr>
              <a:t>"I usually watch TV after dinner."</a:t>
            </a:r>
            <a:endParaRPr lang="en-US" sz="1200" dirty="0"/>
          </a:p>
        </p:txBody>
      </p:sp>
      <p:sp>
        <p:nvSpPr>
          <p:cNvPr id="20" name="Shape 18"/>
          <p:cNvSpPr/>
          <p:nvPr/>
        </p:nvSpPr>
        <p:spPr>
          <a:xfrm>
            <a:off x="256032" y="2798064"/>
            <a:ext cx="4096512" cy="1536192"/>
          </a:xfrm>
          <a:prstGeom prst="rect">
            <a:avLst/>
          </a:prstGeom>
          <a:solidFill>
            <a:srgbClr val="F5EEF8"/>
          </a:solidFill>
          <a:ln w="12700">
            <a:solidFill>
              <a:srgbClr val="CCCCCC"/>
            </a:solidFill>
            <a:prstDash val="solid"/>
          </a:ln>
        </p:spPr>
      </p:sp>
      <p:sp>
        <p:nvSpPr>
          <p:cNvPr id="21" name="Shape 19"/>
          <p:cNvSpPr/>
          <p:nvPr/>
        </p:nvSpPr>
        <p:spPr>
          <a:xfrm>
            <a:off x="256032" y="2798064"/>
            <a:ext cx="4096512" cy="438912"/>
          </a:xfrm>
          <a:prstGeom prst="rect">
            <a:avLst/>
          </a:prstGeom>
          <a:solidFill>
            <a:srgbClr val="7D3C98"/>
          </a:solidFill>
          <a:ln w="12700">
            <a:solidFill>
              <a:srgbClr val="7D3C98"/>
            </a:solidFill>
            <a:prstDash val="solid"/>
          </a:ln>
        </p:spPr>
      </p:sp>
      <p:sp>
        <p:nvSpPr>
          <p:cNvPr id="22" name="Text 20"/>
          <p:cNvSpPr/>
          <p:nvPr/>
        </p:nvSpPr>
        <p:spPr>
          <a:xfrm>
            <a:off x="256032" y="2798064"/>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23" name="Text 21"/>
          <p:cNvSpPr/>
          <p:nvPr/>
        </p:nvSpPr>
        <p:spPr>
          <a:xfrm>
            <a:off x="731520" y="2798064"/>
            <a:ext cx="3547872" cy="43891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Express 1 PREFERENCE.</a:t>
            </a:r>
            <a:endParaRPr lang="en-US" sz="1300" dirty="0"/>
          </a:p>
        </p:txBody>
      </p:sp>
      <p:sp>
        <p:nvSpPr>
          <p:cNvPr id="24" name="Text 22"/>
          <p:cNvSpPr/>
          <p:nvPr/>
        </p:nvSpPr>
        <p:spPr>
          <a:xfrm>
            <a:off x="347472" y="3310128"/>
            <a:ext cx="3913632" cy="365760"/>
          </a:xfrm>
          <a:prstGeom prst="rect">
            <a:avLst/>
          </a:prstGeom>
          <a:noFill/>
          <a:ln/>
        </p:spPr>
        <p:txBody>
          <a:bodyPr wrap="square" rtlCol="0" anchor="ctr"/>
          <a:lstStyle/>
          <a:p>
            <a:pPr marL="0" indent="0">
              <a:buNone/>
            </a:pPr>
            <a:r>
              <a:rPr lang="en-US" sz="1500" b="1" dirty="0">
                <a:solidFill>
                  <a:srgbClr val="7D3C98"/>
                </a:solidFill>
                <a:latin typeface="Trebuchet MS" pitchFamily="34" charset="0"/>
                <a:ea typeface="Trebuchet MS" pitchFamily="34" charset="-122"/>
                <a:cs typeface="Trebuchet MS" pitchFamily="34" charset="-120"/>
              </a:rPr>
              <a:t>Use would rather OR prefer!</a:t>
            </a:r>
            <a:endParaRPr lang="en-US" sz="1500" dirty="0"/>
          </a:p>
        </p:txBody>
      </p:sp>
      <p:sp>
        <p:nvSpPr>
          <p:cNvPr id="25" name="Text 23"/>
          <p:cNvSpPr/>
          <p:nvPr/>
        </p:nvSpPr>
        <p:spPr>
          <a:xfrm>
            <a:off x="347472" y="3694176"/>
            <a:ext cx="3913632" cy="548640"/>
          </a:xfrm>
          <a:prstGeom prst="rect">
            <a:avLst/>
          </a:prstGeom>
          <a:noFill/>
          <a:ln/>
        </p:spPr>
        <p:txBody>
          <a:bodyPr wrap="square" rtlCol="0" anchor="ctr"/>
          <a:lstStyle/>
          <a:p>
            <a:pPr marL="0" indent="0">
              <a:buNone/>
            </a:pPr>
            <a:r>
              <a:rPr lang="en-US" sz="1200" i="1" dirty="0">
                <a:solidFill>
                  <a:srgbClr val="111827"/>
                </a:solidFill>
                <a:latin typeface="Calibri" pitchFamily="34" charset="0"/>
                <a:ea typeface="Calibri" pitchFamily="34" charset="-122"/>
                <a:cs typeface="Calibri" pitchFamily="34" charset="-120"/>
              </a:rPr>
              <a:t>"I'd rather eat pizza than cook tonight."</a:t>
            </a:r>
            <a:endParaRPr lang="en-US" sz="1200" dirty="0"/>
          </a:p>
        </p:txBody>
      </p:sp>
      <p:sp>
        <p:nvSpPr>
          <p:cNvPr id="26" name="Shape 24"/>
          <p:cNvSpPr/>
          <p:nvPr/>
        </p:nvSpPr>
        <p:spPr>
          <a:xfrm>
            <a:off x="4626864" y="2798064"/>
            <a:ext cx="4096512" cy="1536192"/>
          </a:xfrm>
          <a:prstGeom prst="rect">
            <a:avLst/>
          </a:prstGeom>
          <a:solidFill>
            <a:srgbClr val="FDEBD0"/>
          </a:solidFill>
          <a:ln w="12700">
            <a:solidFill>
              <a:srgbClr val="CCCCCC"/>
            </a:solidFill>
            <a:prstDash val="solid"/>
          </a:ln>
        </p:spPr>
      </p:sp>
      <p:sp>
        <p:nvSpPr>
          <p:cNvPr id="27" name="Shape 25"/>
          <p:cNvSpPr/>
          <p:nvPr/>
        </p:nvSpPr>
        <p:spPr>
          <a:xfrm>
            <a:off x="4626864" y="2798064"/>
            <a:ext cx="4096512" cy="438912"/>
          </a:xfrm>
          <a:prstGeom prst="rect">
            <a:avLst/>
          </a:prstGeom>
          <a:solidFill>
            <a:srgbClr val="F4A261"/>
          </a:solidFill>
          <a:ln w="12700">
            <a:solidFill>
              <a:srgbClr val="F4A261"/>
            </a:solidFill>
            <a:prstDash val="solid"/>
          </a:ln>
        </p:spPr>
      </p:sp>
      <p:sp>
        <p:nvSpPr>
          <p:cNvPr id="28" name="Text 26"/>
          <p:cNvSpPr/>
          <p:nvPr/>
        </p:nvSpPr>
        <p:spPr>
          <a:xfrm>
            <a:off x="4626864" y="2798064"/>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4</a:t>
            </a:r>
            <a:endParaRPr lang="en-US" sz="1800" dirty="0"/>
          </a:p>
        </p:txBody>
      </p:sp>
      <p:sp>
        <p:nvSpPr>
          <p:cNvPr id="29" name="Text 27"/>
          <p:cNvSpPr/>
          <p:nvPr/>
        </p:nvSpPr>
        <p:spPr>
          <a:xfrm>
            <a:off x="5102352" y="2798064"/>
            <a:ext cx="3547872" cy="43891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Make 1 COMPARISON.</a:t>
            </a:r>
            <a:endParaRPr lang="en-US" sz="1300" dirty="0"/>
          </a:p>
        </p:txBody>
      </p:sp>
      <p:sp>
        <p:nvSpPr>
          <p:cNvPr id="30" name="Text 28"/>
          <p:cNvSpPr/>
          <p:nvPr/>
        </p:nvSpPr>
        <p:spPr>
          <a:xfrm>
            <a:off x="4718304" y="3310128"/>
            <a:ext cx="3913632" cy="365760"/>
          </a:xfrm>
          <a:prstGeom prst="rect">
            <a:avLst/>
          </a:prstGeom>
          <a:noFill/>
          <a:ln/>
        </p:spPr>
        <p:txBody>
          <a:bodyPr wrap="square" rtlCol="0" anchor="ctr"/>
          <a:lstStyle/>
          <a:p>
            <a:pPr marL="0" indent="0">
              <a:buNone/>
            </a:pPr>
            <a:r>
              <a:rPr lang="en-US" sz="1500" b="1" dirty="0">
                <a:solidFill>
                  <a:srgbClr val="F4A261"/>
                </a:solidFill>
                <a:latin typeface="Trebuchet MS" pitchFamily="34" charset="0"/>
                <a:ea typeface="Trebuchet MS" pitchFamily="34" charset="-122"/>
                <a:cs typeface="Trebuchet MS" pitchFamily="34" charset="-120"/>
              </a:rPr>
              <a:t>Use as...as!</a:t>
            </a:r>
            <a:endParaRPr lang="en-US" sz="1500" dirty="0"/>
          </a:p>
        </p:txBody>
      </p:sp>
      <p:sp>
        <p:nvSpPr>
          <p:cNvPr id="31" name="Text 29"/>
          <p:cNvSpPr/>
          <p:nvPr/>
        </p:nvSpPr>
        <p:spPr>
          <a:xfrm>
            <a:off x="4718304" y="3694176"/>
            <a:ext cx="3913632" cy="548640"/>
          </a:xfrm>
          <a:prstGeom prst="rect">
            <a:avLst/>
          </a:prstGeom>
          <a:noFill/>
          <a:ln/>
        </p:spPr>
        <p:txBody>
          <a:bodyPr wrap="square" rtlCol="0" anchor="ctr"/>
          <a:lstStyle/>
          <a:p>
            <a:pPr marL="0" indent="0">
              <a:buNone/>
            </a:pPr>
            <a:r>
              <a:rPr lang="en-US" sz="1200" i="1" dirty="0">
                <a:solidFill>
                  <a:srgbClr val="111827"/>
                </a:solidFill>
                <a:latin typeface="Calibri" pitchFamily="34" charset="0"/>
                <a:ea typeface="Calibri" pitchFamily="34" charset="-122"/>
                <a:cs typeface="Calibri" pitchFamily="34" charset="-120"/>
              </a:rPr>
              <a:t>"Game night is as fun as the cinema."</a:t>
            </a:r>
            <a:endParaRPr lang="en-US" sz="1200" dirty="0"/>
          </a:p>
        </p:txBody>
      </p:sp>
      <p:sp>
        <p:nvSpPr>
          <p:cNvPr id="32" name="Shape 30"/>
          <p:cNvSpPr/>
          <p:nvPr/>
        </p:nvSpPr>
        <p:spPr>
          <a:xfrm>
            <a:off x="256032" y="4526280"/>
            <a:ext cx="8631936" cy="502920"/>
          </a:xfrm>
          <a:prstGeom prst="rect">
            <a:avLst/>
          </a:prstGeom>
          <a:solidFill>
            <a:srgbClr val="D1F2EB"/>
          </a:solidFill>
          <a:ln w="12700">
            <a:solidFill>
              <a:srgbClr val="0D7377"/>
            </a:solidFill>
            <a:prstDash val="solid"/>
          </a:ln>
        </p:spPr>
      </p:sp>
      <p:sp>
        <p:nvSpPr>
          <p:cNvPr id="33" name="Shape 31"/>
          <p:cNvSpPr/>
          <p:nvPr/>
        </p:nvSpPr>
        <p:spPr>
          <a:xfrm>
            <a:off x="256032" y="4526280"/>
            <a:ext cx="109728" cy="502920"/>
          </a:xfrm>
          <a:prstGeom prst="rect">
            <a:avLst/>
          </a:prstGeom>
          <a:solidFill>
            <a:srgbClr val="0D7377"/>
          </a:solidFill>
          <a:ln w="12700">
            <a:solidFill>
              <a:srgbClr val="0D7377"/>
            </a:solidFill>
            <a:prstDash val="solid"/>
          </a:ln>
        </p:spPr>
      </p:sp>
      <p:sp>
        <p:nvSpPr>
          <p:cNvPr id="34" name="Shape 32"/>
          <p:cNvSpPr/>
          <p:nvPr/>
        </p:nvSpPr>
        <p:spPr>
          <a:xfrm>
            <a:off x="438912" y="4599432"/>
            <a:ext cx="1828800" cy="292608"/>
          </a:xfrm>
          <a:prstGeom prst="rect">
            <a:avLst/>
          </a:prstGeom>
          <a:solidFill>
            <a:srgbClr val="0D7377"/>
          </a:solidFill>
          <a:ln w="12700">
            <a:solidFill>
              <a:srgbClr val="0D7377"/>
            </a:solidFill>
            <a:prstDash val="solid"/>
          </a:ln>
        </p:spPr>
      </p:sp>
      <p:sp>
        <p:nvSpPr>
          <p:cNvPr id="35" name="Text 33"/>
          <p:cNvSpPr/>
          <p:nvPr/>
        </p:nvSpPr>
        <p:spPr>
          <a:xfrm>
            <a:off x="438912" y="4599432"/>
            <a:ext cx="182880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PAIR / GROUP TASK</a:t>
            </a:r>
            <a:endParaRPr lang="en-US" sz="1100" dirty="0"/>
          </a:p>
        </p:txBody>
      </p:sp>
      <p:sp>
        <p:nvSpPr>
          <p:cNvPr id="36" name="Text 34"/>
          <p:cNvSpPr/>
          <p:nvPr/>
        </p:nvSpPr>
        <p:spPr>
          <a:xfrm>
            <a:off x="438912" y="4946904"/>
            <a:ext cx="8357616" cy="9144"/>
          </a:xfrm>
          <a:prstGeom prst="rect">
            <a:avLst/>
          </a:prstGeom>
          <a:noFill/>
          <a:ln/>
        </p:spPr>
        <p:txBody>
          <a:bodyPr wrap="square" lIns="0" tIns="0" rIns="0" bIns="0" rtlCol="0" anchor="t"/>
          <a:lstStyle/>
          <a:p>
            <a:pPr marL="0" indent="0">
              <a:buNone/>
            </a:pPr>
            <a:r>
              <a:rPr lang="en-US" sz="1300" dirty="0">
                <a:solidFill>
                  <a:srgbClr val="111827"/>
                </a:solidFill>
                <a:latin typeface="Calibri" pitchFamily="34" charset="0"/>
                <a:ea typeface="Calibri" pitchFamily="34" charset="-122"/>
                <a:cs typeface="Calibri" pitchFamily="34" charset="-120"/>
              </a:rPr>
              <a:t>LISTEN to your group members. If they make a grammar mistake — politely correct them. Say: 'I think it should be...'  We learn from each other!</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Full Lesson Summary — Copy Into Your Revision Notes</a:t>
            </a:r>
            <a:endParaRPr lang="en-US" sz="2000" dirty="0"/>
          </a:p>
        </p:txBody>
      </p:sp>
      <p:sp>
        <p:nvSpPr>
          <p:cNvPr id="5" name="Shape 3"/>
          <p:cNvSpPr/>
          <p:nvPr/>
        </p:nvSpPr>
        <p:spPr>
          <a:xfrm>
            <a:off x="7315200" y="128016"/>
            <a:ext cx="1645920" cy="402336"/>
          </a:xfrm>
          <a:prstGeom prst="rect">
            <a:avLst/>
          </a:prstGeom>
          <a:solidFill>
            <a:srgbClr val="F4A261"/>
          </a:solidFill>
          <a:ln w="12700">
            <a:solidFill>
              <a:srgbClr val="F4A261"/>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WRITE THIS DOWN ✏</a:t>
            </a:r>
            <a:endParaRPr lang="en-US" sz="1100" dirty="0"/>
          </a:p>
        </p:txBody>
      </p:sp>
      <p:sp>
        <p:nvSpPr>
          <p:cNvPr id="7" name="Shape 5"/>
          <p:cNvSpPr/>
          <p:nvPr/>
        </p:nvSpPr>
        <p:spPr>
          <a:xfrm>
            <a:off x="256032" y="749808"/>
            <a:ext cx="8631936" cy="402336"/>
          </a:xfrm>
          <a:prstGeom prst="rect">
            <a:avLst/>
          </a:prstGeom>
          <a:solidFill>
            <a:srgbClr val="F4A261"/>
          </a:solidFill>
          <a:ln w="12700">
            <a:solidFill>
              <a:srgbClr val="E8873A"/>
            </a:solidFill>
            <a:prstDash val="solid"/>
          </a:ln>
        </p:spPr>
      </p:sp>
      <p:sp>
        <p:nvSpPr>
          <p:cNvPr id="8" name="Text 6"/>
          <p:cNvSpPr/>
          <p:nvPr/>
        </p:nvSpPr>
        <p:spPr>
          <a:xfrm>
            <a:off x="347472" y="749808"/>
            <a:ext cx="8412480" cy="402336"/>
          </a:xfrm>
          <a:prstGeom prst="rect">
            <a:avLst/>
          </a:prstGeom>
          <a:noFill/>
          <a:ln/>
        </p:spPr>
        <p:txBody>
          <a:bodyPr wrap="square" lIns="0" tIns="0" rIns="0" bIns="0" rtlCol="0" anchor="ctr"/>
          <a:lstStyle/>
          <a:p>
            <a:pPr marL="0" indent="0">
              <a:buNone/>
            </a:pPr>
            <a:r>
              <a:rPr lang="en-US" sz="1300" b="1" dirty="0">
                <a:solidFill>
                  <a:srgbClr val="1B3A6B"/>
                </a:solidFill>
                <a:latin typeface="Trebuchet MS" pitchFamily="34" charset="0"/>
                <a:ea typeface="Trebuchet MS" pitchFamily="34" charset="-122"/>
                <a:cs typeface="Trebuchet MS" pitchFamily="34" charset="-120"/>
              </a:rPr>
              <a:t>📝  This is your revision cheat sheet. If you copy this, you have everything you need for the exam.</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256032" y="1207008"/>
          <a:ext cx="8631936" cy="3584448"/>
        </p:xfrm>
        <a:graphic>
          <a:graphicData uri="http://schemas.openxmlformats.org/drawingml/2006/table">
            <a:tbl>
              <a:tblPr/>
              <a:tblGrid>
                <a:gridCol w="15544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882896">
                  <a:extLst>
                    <a:ext uri="{9D8B030D-6E8A-4147-A177-3AD203B41FA5}">
                      <a16:colId xmlns:a16="http://schemas.microsoft.com/office/drawing/2014/main" val="20002"/>
                    </a:ext>
                  </a:extLst>
                </a:gridCol>
              </a:tblGrid>
              <a:tr h="597408">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Present Continuous</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am/is/are + verb-ing</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tc>
                  <a:txBody>
                    <a:bodyPr/>
                    <a:lstStyle/>
                    <a:p>
                      <a:pPr marL="0" indent="0">
                        <a:buNone/>
                      </a:pPr>
                      <a:r>
                        <a:rPr lang="en-US" sz="1200" i="1" dirty="0">
                          <a:solidFill>
                            <a:srgbClr val="F4A261"/>
                          </a:solidFill>
                          <a:latin typeface="Calibri" pitchFamily="34" charset="0"/>
                          <a:ea typeface="Calibri" pitchFamily="34" charset="-122"/>
                          <a:cs typeface="Calibri" pitchFamily="34" charset="-120"/>
                        </a:rPr>
                        <a:t>NOW: I am eating.   FUTURE: I am going tonight.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597408">
                <a:tc>
                  <a:txBody>
                    <a:bodyPr/>
                    <a:lstStyle/>
                    <a:p>
                      <a:pPr marL="0" indent="0">
                        <a:buNone/>
                      </a:pPr>
                      <a:r>
                        <a:rPr lang="en-US" sz="1200" b="1" dirty="0">
                          <a:solidFill>
                            <a:srgbClr val="000000"/>
                          </a:solidFill>
                          <a:latin typeface="Trebuchet MS" pitchFamily="34" charset="0"/>
                          <a:ea typeface="Trebuchet MS" pitchFamily="34" charset="-122"/>
                          <a:cs typeface="Trebuchet MS" pitchFamily="34" charset="-120"/>
                        </a:rPr>
                        <a:t>Simple Present</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verb / verb+s (he/she/it)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tc>
                  <a:txBody>
                    <a:bodyPr/>
                    <a:lstStyle/>
                    <a:p>
                      <a:pPr marL="0" indent="0">
                        <a:buNone/>
                      </a:pPr>
                      <a:r>
                        <a:rPr lang="en-US" sz="1200" i="1" dirty="0">
                          <a:solidFill>
                            <a:srgbClr val="000000"/>
                          </a:solidFill>
                          <a:latin typeface="Calibri" pitchFamily="34" charset="0"/>
                          <a:ea typeface="Calibri" pitchFamily="34" charset="-122"/>
                          <a:cs typeface="Calibri" pitchFamily="34" charset="-120"/>
                        </a:rPr>
                        <a:t>HABIT: I watch TV every evening.</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6EAF8"/>
                    </a:solidFill>
                  </a:tcPr>
                </a:tc>
                <a:extLst>
                  <a:ext uri="{0D108BD9-81ED-4DB2-BD59-A6C34878D82A}">
                    <a16:rowId xmlns:a16="http://schemas.microsoft.com/office/drawing/2014/main" val="10001"/>
                  </a:ext>
                </a:extLst>
              </a:tr>
              <a:tr h="597408">
                <a:tc>
                  <a:txBody>
                    <a:bodyPr/>
                    <a:lstStyle/>
                    <a:p>
                      <a:pPr marL="0" indent="0">
                        <a:buNone/>
                      </a:pPr>
                      <a:r>
                        <a:rPr lang="en-US" sz="1200" b="1" dirty="0">
                          <a:solidFill>
                            <a:srgbClr val="E53E3E"/>
                          </a:solidFill>
                          <a:latin typeface="Trebuchet MS" pitchFamily="34" charset="0"/>
                          <a:ea typeface="Trebuchet MS" pitchFamily="34" charset="-122"/>
                          <a:cs typeface="Trebuchet MS" pitchFamily="34" charset="-120"/>
                        </a:rPr>
                        <a:t>Stative Verbs</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EE2E2"/>
                    </a:solidFill>
                  </a:tcPr>
                </a:tc>
                <a:tc>
                  <a:txBody>
                    <a:bodyPr/>
                    <a:lstStyle/>
                    <a:p>
                      <a:pPr marL="0" indent="0">
                        <a:buNone/>
                      </a:pPr>
                      <a:r>
                        <a:rPr lang="en-US" sz="1200" b="1" dirty="0">
                          <a:solidFill>
                            <a:srgbClr val="E53E3E"/>
                          </a:solidFill>
                          <a:latin typeface="Trebuchet MS" pitchFamily="34" charset="0"/>
                          <a:ea typeface="Trebuchet MS" pitchFamily="34" charset="-122"/>
                          <a:cs typeface="Trebuchet MS" pitchFamily="34" charset="-120"/>
                        </a:rPr>
                        <a:t>NEVER use -ing</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EE2E2"/>
                    </a:solidFill>
                  </a:tcPr>
                </a:tc>
                <a:tc>
                  <a:txBody>
                    <a:bodyPr/>
                    <a:lstStyle/>
                    <a:p>
                      <a:pPr marL="0" indent="0">
                        <a:buNone/>
                      </a:pPr>
                      <a:r>
                        <a:rPr lang="en-US" sz="1100" i="1" dirty="0">
                          <a:solidFill>
                            <a:srgbClr val="E53E3E"/>
                          </a:solidFill>
                          <a:latin typeface="Calibri" pitchFamily="34" charset="0"/>
                          <a:ea typeface="Calibri" pitchFamily="34" charset="-122"/>
                          <a:cs typeface="Calibri" pitchFamily="34" charset="-120"/>
                        </a:rPr>
                        <a:t>know / like / want / need / prefer / understand / love / believe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EE2E2"/>
                    </a:solidFill>
                  </a:tcPr>
                </a:tc>
                <a:extLst>
                  <a:ext uri="{0D108BD9-81ED-4DB2-BD59-A6C34878D82A}">
                    <a16:rowId xmlns:a16="http://schemas.microsoft.com/office/drawing/2014/main" val="10002"/>
                  </a:ext>
                </a:extLst>
              </a:tr>
              <a:tr h="597408">
                <a:tc>
                  <a:txBody>
                    <a:bodyPr/>
                    <a:lstStyle/>
                    <a:p>
                      <a:pPr marL="0" indent="0">
                        <a:buNone/>
                      </a:pPr>
                      <a:r>
                        <a:rPr lang="en-US" sz="1200" b="1" dirty="0">
                          <a:solidFill>
                            <a:srgbClr val="000000"/>
                          </a:solidFill>
                          <a:latin typeface="Trebuchet MS" pitchFamily="34" charset="0"/>
                          <a:ea typeface="Trebuchet MS" pitchFamily="34" charset="-122"/>
                          <a:cs typeface="Trebuchet MS" pitchFamily="34" charset="-120"/>
                        </a:rPr>
                        <a:t>Would Rather</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1F2EB"/>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BASE VERB (no -ing)</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1F2EB"/>
                    </a:solidFill>
                  </a:tcPr>
                </a:tc>
                <a:tc>
                  <a:txBody>
                    <a:bodyPr/>
                    <a:lstStyle/>
                    <a:p>
                      <a:pPr marL="0" indent="0">
                        <a:buNone/>
                      </a:pPr>
                      <a:r>
                        <a:rPr lang="en-US" sz="1200" i="1" dirty="0">
                          <a:solidFill>
                            <a:srgbClr val="000000"/>
                          </a:solidFill>
                          <a:latin typeface="Calibri" pitchFamily="34" charset="0"/>
                          <a:ea typeface="Calibri" pitchFamily="34" charset="-122"/>
                          <a:cs typeface="Calibri" pitchFamily="34" charset="-120"/>
                        </a:rPr>
                        <a:t>I'd rather watch a film than go out.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D1F2EB"/>
                    </a:solidFill>
                  </a:tcPr>
                </a:tc>
                <a:extLst>
                  <a:ext uri="{0D108BD9-81ED-4DB2-BD59-A6C34878D82A}">
                    <a16:rowId xmlns:a16="http://schemas.microsoft.com/office/drawing/2014/main" val="10003"/>
                  </a:ext>
                </a:extLst>
              </a:tr>
              <a:tr h="597408">
                <a:tc>
                  <a:txBody>
                    <a:bodyPr/>
                    <a:lstStyle/>
                    <a:p>
                      <a:pPr marL="0" indent="0">
                        <a:buNone/>
                      </a:pPr>
                      <a:r>
                        <a:rPr lang="en-US" sz="1200" b="1" dirty="0">
                          <a:solidFill>
                            <a:srgbClr val="000000"/>
                          </a:solidFill>
                          <a:latin typeface="Trebuchet MS" pitchFamily="34" charset="0"/>
                          <a:ea typeface="Trebuchet MS" pitchFamily="34" charset="-122"/>
                          <a:cs typeface="Trebuchet MS" pitchFamily="34" charset="-120"/>
                        </a:rPr>
                        <a:t>Prefer</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EE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 noun/verb-ing + TO</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EEF8"/>
                    </a:solidFill>
                  </a:tcPr>
                </a:tc>
                <a:tc>
                  <a:txBody>
                    <a:bodyPr/>
                    <a:lstStyle/>
                    <a:p>
                      <a:pPr marL="0" indent="0">
                        <a:buNone/>
                      </a:pPr>
                      <a:r>
                        <a:rPr lang="en-US" sz="1200" i="1" dirty="0">
                          <a:solidFill>
                            <a:srgbClr val="000000"/>
                          </a:solidFill>
                          <a:latin typeface="Calibri" pitchFamily="34" charset="0"/>
                          <a:ea typeface="Calibri" pitchFamily="34" charset="-122"/>
                          <a:cs typeface="Calibri" pitchFamily="34" charset="-120"/>
                        </a:rPr>
                        <a:t>I prefer books to films. / I'd prefer to stay home.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EEF8"/>
                    </a:solidFill>
                  </a:tcPr>
                </a:tc>
                <a:extLst>
                  <a:ext uri="{0D108BD9-81ED-4DB2-BD59-A6C34878D82A}">
                    <a16:rowId xmlns:a16="http://schemas.microsoft.com/office/drawing/2014/main" val="10004"/>
                  </a:ext>
                </a:extLst>
              </a:tr>
              <a:tr h="597408">
                <a:tc>
                  <a:txBody>
                    <a:bodyPr/>
                    <a:lstStyle/>
                    <a:p>
                      <a:pPr marL="0" indent="0">
                        <a:buNone/>
                      </a:pPr>
                      <a:r>
                        <a:rPr lang="en-US" sz="1200" b="1" dirty="0">
                          <a:solidFill>
                            <a:srgbClr val="000000"/>
                          </a:solidFill>
                          <a:latin typeface="Trebuchet MS" pitchFamily="34" charset="0"/>
                          <a:ea typeface="Trebuchet MS" pitchFamily="34" charset="-122"/>
                          <a:cs typeface="Trebuchet MS" pitchFamily="34" charset="-120"/>
                        </a:rPr>
                        <a:t>As...As</a:t>
                      </a:r>
                      <a:endParaRPr lang="en-US" sz="1200" dirty="0">
                        <a:latin typeface="Trebuchet MS" charset="0"/>
                        <a:ea typeface="Trebuchet MS" charset="0"/>
                        <a:cs typeface="Trebuchet MS"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DEBD0"/>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as + adjective + as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DEBD0"/>
                    </a:solidFill>
                  </a:tcPr>
                </a:tc>
                <a:tc>
                  <a:txBody>
                    <a:bodyPr/>
                    <a:lstStyle/>
                    <a:p>
                      <a:pPr marL="0" indent="0">
                        <a:buNone/>
                      </a:pPr>
                      <a:r>
                        <a:rPr lang="en-US" sz="1200" i="1" dirty="0">
                          <a:solidFill>
                            <a:srgbClr val="000000"/>
                          </a:solidFill>
                          <a:latin typeface="Calibri" pitchFamily="34" charset="0"/>
                          <a:ea typeface="Calibri" pitchFamily="34" charset="-122"/>
                          <a:cs typeface="Calibri" pitchFamily="34" charset="-120"/>
                        </a:rPr>
                        <a:t>The book is as good as the film. / NOT as long as...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DEBD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F4A261"/>
          </a:solidFill>
          <a:ln w="12700">
            <a:solidFill>
              <a:srgbClr val="F4A261"/>
            </a:solidFill>
            <a:prstDash val="solid"/>
          </a:ln>
        </p:spPr>
      </p:sp>
      <p:sp>
        <p:nvSpPr>
          <p:cNvPr id="4" name="Text 2"/>
          <p:cNvSpPr/>
          <p:nvPr/>
        </p:nvSpPr>
        <p:spPr>
          <a:xfrm>
            <a:off x="320040" y="0"/>
            <a:ext cx="6858000" cy="658368"/>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Mini Exam Practice — 5 Quick Questions</a:t>
            </a:r>
            <a:endParaRPr lang="en-US" sz="2000" dirty="0"/>
          </a:p>
        </p:txBody>
      </p:sp>
      <p:sp>
        <p:nvSpPr>
          <p:cNvPr id="5" name="Shape 3"/>
          <p:cNvSpPr/>
          <p:nvPr/>
        </p:nvSpPr>
        <p:spPr>
          <a:xfrm>
            <a:off x="7315200" y="128016"/>
            <a:ext cx="1645920" cy="402336"/>
          </a:xfrm>
          <a:prstGeom prst="rect">
            <a:avLst/>
          </a:prstGeom>
          <a:solidFill>
            <a:srgbClr val="E53E3E"/>
          </a:solidFill>
          <a:ln w="12700">
            <a:solidFill>
              <a:srgbClr val="E53E3E"/>
            </a:solidFill>
            <a:prstDash val="solid"/>
          </a:ln>
        </p:spPr>
      </p:sp>
      <p:sp>
        <p:nvSpPr>
          <p:cNvPr id="6" name="Text 4"/>
          <p:cNvSpPr/>
          <p:nvPr/>
        </p:nvSpPr>
        <p:spPr>
          <a:xfrm>
            <a:off x="7315200" y="128016"/>
            <a:ext cx="164592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EXAM PREP</a:t>
            </a:r>
            <a:endParaRPr lang="en-US" sz="1100" dirty="0"/>
          </a:p>
        </p:txBody>
      </p:sp>
      <p:sp>
        <p:nvSpPr>
          <p:cNvPr id="7" name="Shape 5"/>
          <p:cNvSpPr/>
          <p:nvPr/>
        </p:nvSpPr>
        <p:spPr>
          <a:xfrm>
            <a:off x="256032" y="749808"/>
            <a:ext cx="8631936" cy="402336"/>
          </a:xfrm>
          <a:prstGeom prst="rect">
            <a:avLst/>
          </a:prstGeom>
          <a:solidFill>
            <a:srgbClr val="FEE2E2"/>
          </a:solidFill>
          <a:ln w="12700">
            <a:solidFill>
              <a:srgbClr val="E53E3E"/>
            </a:solidFill>
            <a:prstDash val="solid"/>
          </a:ln>
        </p:spPr>
      </p:sp>
      <p:sp>
        <p:nvSpPr>
          <p:cNvPr id="8" name="Text 6"/>
          <p:cNvSpPr/>
          <p:nvPr/>
        </p:nvSpPr>
        <p:spPr>
          <a:xfrm>
            <a:off x="347472" y="749808"/>
            <a:ext cx="8449056" cy="402336"/>
          </a:xfrm>
          <a:prstGeom prst="rect">
            <a:avLst/>
          </a:prstGeom>
          <a:noFill/>
          <a:ln/>
        </p:spPr>
        <p:txBody>
          <a:bodyPr wrap="square" lIns="0" tIns="0" rIns="0" bIns="0" rtlCol="0" anchor="ctr"/>
          <a:lstStyle/>
          <a:p>
            <a:pPr marL="0" indent="0">
              <a:buNone/>
            </a:pPr>
            <a:r>
              <a:rPr lang="en-US" sz="1300" b="1" dirty="0">
                <a:solidFill>
                  <a:srgbClr val="E53E3E"/>
                </a:solidFill>
                <a:latin typeface="Trebuchet MS" pitchFamily="34" charset="0"/>
                <a:ea typeface="Trebuchet MS" pitchFamily="34" charset="-122"/>
                <a:cs typeface="Trebuchet MS" pitchFamily="34" charset="-120"/>
              </a:rPr>
              <a:t>You can use your NOTES. 5 minutes. Write your answers in your notebook.</a:t>
            </a:r>
            <a:endParaRPr lang="en-US" sz="1300" dirty="0"/>
          </a:p>
        </p:txBody>
      </p:sp>
      <p:sp>
        <p:nvSpPr>
          <p:cNvPr id="9" name="Shape 7"/>
          <p:cNvSpPr/>
          <p:nvPr/>
        </p:nvSpPr>
        <p:spPr>
          <a:xfrm>
            <a:off x="256032" y="1225296"/>
            <a:ext cx="658368" cy="566928"/>
          </a:xfrm>
          <a:prstGeom prst="rect">
            <a:avLst/>
          </a:prstGeom>
          <a:solidFill>
            <a:srgbClr val="D6EAF8"/>
          </a:solidFill>
          <a:ln w="12700">
            <a:solidFill>
              <a:srgbClr val="BBBBBB"/>
            </a:solidFill>
            <a:prstDash val="solid"/>
          </a:ln>
        </p:spPr>
      </p:sp>
      <p:sp>
        <p:nvSpPr>
          <p:cNvPr id="10" name="Text 8"/>
          <p:cNvSpPr/>
          <p:nvPr/>
        </p:nvSpPr>
        <p:spPr>
          <a:xfrm>
            <a:off x="256032" y="1225296"/>
            <a:ext cx="658368" cy="566928"/>
          </a:xfrm>
          <a:prstGeom prst="rect">
            <a:avLst/>
          </a:prstGeom>
          <a:noFill/>
          <a:ln/>
        </p:spPr>
        <p:txBody>
          <a:bodyPr wrap="square" lIns="0" tIns="0" rIns="0" bIns="0" rtlCol="0" anchor="ctr"/>
          <a:lstStyle/>
          <a:p>
            <a:pPr marL="0" indent="0" algn="ctr">
              <a:buNone/>
            </a:pPr>
            <a:r>
              <a:rPr lang="en-US" sz="1400" b="1" dirty="0">
                <a:solidFill>
                  <a:srgbClr val="1B3A6B"/>
                </a:solidFill>
                <a:latin typeface="Trebuchet MS" pitchFamily="34" charset="0"/>
                <a:ea typeface="Trebuchet MS" pitchFamily="34" charset="-122"/>
                <a:cs typeface="Trebuchet MS" pitchFamily="34" charset="-120"/>
              </a:rPr>
              <a:t>Q1</a:t>
            </a:r>
            <a:endParaRPr lang="en-US" sz="1400" dirty="0"/>
          </a:p>
        </p:txBody>
      </p:sp>
      <p:sp>
        <p:nvSpPr>
          <p:cNvPr id="11" name="Shape 9"/>
          <p:cNvSpPr/>
          <p:nvPr/>
        </p:nvSpPr>
        <p:spPr>
          <a:xfrm>
            <a:off x="914400" y="1225296"/>
            <a:ext cx="7973568" cy="566928"/>
          </a:xfrm>
          <a:prstGeom prst="rect">
            <a:avLst/>
          </a:prstGeom>
          <a:solidFill>
            <a:srgbClr val="FFFFFF"/>
          </a:solidFill>
          <a:ln w="12700">
            <a:solidFill>
              <a:srgbClr val="BBBBBB"/>
            </a:solidFill>
            <a:prstDash val="solid"/>
          </a:ln>
        </p:spPr>
      </p:sp>
      <p:sp>
        <p:nvSpPr>
          <p:cNvPr id="12" name="Text 10"/>
          <p:cNvSpPr/>
          <p:nvPr/>
        </p:nvSpPr>
        <p:spPr>
          <a:xfrm>
            <a:off x="1005840" y="1252728"/>
            <a:ext cx="6583680" cy="274320"/>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Complete: She _______ (not / go) to the cinema tonight.</a:t>
            </a:r>
            <a:endParaRPr lang="en-US" sz="1300" dirty="0"/>
          </a:p>
        </p:txBody>
      </p:sp>
      <p:sp>
        <p:nvSpPr>
          <p:cNvPr id="13" name="Text 11"/>
          <p:cNvSpPr/>
          <p:nvPr/>
        </p:nvSpPr>
        <p:spPr>
          <a:xfrm>
            <a:off x="1005840" y="1536192"/>
            <a:ext cx="65836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(present continuous + negative)</a:t>
            </a:r>
            <a:endParaRPr lang="en-US" sz="1100" dirty="0"/>
          </a:p>
        </p:txBody>
      </p:sp>
      <p:sp>
        <p:nvSpPr>
          <p:cNvPr id="14" name="Shape 12"/>
          <p:cNvSpPr/>
          <p:nvPr/>
        </p:nvSpPr>
        <p:spPr>
          <a:xfrm>
            <a:off x="7516368" y="1261872"/>
            <a:ext cx="658368" cy="493776"/>
          </a:xfrm>
          <a:prstGeom prst="rect">
            <a:avLst/>
          </a:prstGeom>
          <a:solidFill>
            <a:srgbClr val="F8F9FA"/>
          </a:solidFill>
          <a:ln w="12700">
            <a:solidFill>
              <a:srgbClr val="DDDDDD"/>
            </a:solidFill>
            <a:prstDash val="solid"/>
          </a:ln>
        </p:spPr>
      </p:sp>
      <p:sp>
        <p:nvSpPr>
          <p:cNvPr id="15" name="Text 13"/>
          <p:cNvSpPr/>
          <p:nvPr/>
        </p:nvSpPr>
        <p:spPr>
          <a:xfrm>
            <a:off x="7607808" y="1307592"/>
            <a:ext cx="475488" cy="256032"/>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Answer:</a:t>
            </a:r>
            <a:endParaRPr lang="en-US" sz="1100" dirty="0"/>
          </a:p>
        </p:txBody>
      </p:sp>
      <p:sp>
        <p:nvSpPr>
          <p:cNvPr id="16" name="Shape 14"/>
          <p:cNvSpPr/>
          <p:nvPr/>
        </p:nvSpPr>
        <p:spPr>
          <a:xfrm>
            <a:off x="256032" y="1901952"/>
            <a:ext cx="658368" cy="566928"/>
          </a:xfrm>
          <a:prstGeom prst="rect">
            <a:avLst/>
          </a:prstGeom>
          <a:solidFill>
            <a:srgbClr val="D1F2EB"/>
          </a:solidFill>
          <a:ln w="12700">
            <a:solidFill>
              <a:srgbClr val="BBBBBB"/>
            </a:solidFill>
            <a:prstDash val="solid"/>
          </a:ln>
        </p:spPr>
      </p:sp>
      <p:sp>
        <p:nvSpPr>
          <p:cNvPr id="17" name="Text 15"/>
          <p:cNvSpPr/>
          <p:nvPr/>
        </p:nvSpPr>
        <p:spPr>
          <a:xfrm>
            <a:off x="256032" y="1901952"/>
            <a:ext cx="658368" cy="566928"/>
          </a:xfrm>
          <a:prstGeom prst="rect">
            <a:avLst/>
          </a:prstGeom>
          <a:noFill/>
          <a:ln/>
        </p:spPr>
        <p:txBody>
          <a:bodyPr wrap="square" lIns="0" tIns="0" rIns="0" bIns="0" rtlCol="0" anchor="ctr"/>
          <a:lstStyle/>
          <a:p>
            <a:pPr marL="0" indent="0" algn="ctr">
              <a:buNone/>
            </a:pPr>
            <a:r>
              <a:rPr lang="en-US" sz="1400" b="1" dirty="0">
                <a:solidFill>
                  <a:srgbClr val="1B3A6B"/>
                </a:solidFill>
                <a:latin typeface="Trebuchet MS" pitchFamily="34" charset="0"/>
                <a:ea typeface="Trebuchet MS" pitchFamily="34" charset="-122"/>
                <a:cs typeface="Trebuchet MS" pitchFamily="34" charset="-120"/>
              </a:rPr>
              <a:t>Q2</a:t>
            </a:r>
            <a:endParaRPr lang="en-US" sz="1400" dirty="0"/>
          </a:p>
        </p:txBody>
      </p:sp>
      <p:sp>
        <p:nvSpPr>
          <p:cNvPr id="18" name="Shape 16"/>
          <p:cNvSpPr/>
          <p:nvPr/>
        </p:nvSpPr>
        <p:spPr>
          <a:xfrm>
            <a:off x="914400" y="1901952"/>
            <a:ext cx="7973568" cy="566928"/>
          </a:xfrm>
          <a:prstGeom prst="rect">
            <a:avLst/>
          </a:prstGeom>
          <a:solidFill>
            <a:srgbClr val="FFFFFF"/>
          </a:solidFill>
          <a:ln w="12700">
            <a:solidFill>
              <a:srgbClr val="BBBBBB"/>
            </a:solidFill>
            <a:prstDash val="solid"/>
          </a:ln>
        </p:spPr>
      </p:sp>
      <p:sp>
        <p:nvSpPr>
          <p:cNvPr id="19" name="Text 17"/>
          <p:cNvSpPr/>
          <p:nvPr/>
        </p:nvSpPr>
        <p:spPr>
          <a:xfrm>
            <a:off x="1005840" y="1929384"/>
            <a:ext cx="6583680" cy="274320"/>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Which is correct? A: I am wanting coffee.   B: I want coffee.</a:t>
            </a:r>
            <a:endParaRPr lang="en-US" sz="1300" dirty="0"/>
          </a:p>
        </p:txBody>
      </p:sp>
      <p:sp>
        <p:nvSpPr>
          <p:cNvPr id="20" name="Text 18"/>
          <p:cNvSpPr/>
          <p:nvPr/>
        </p:nvSpPr>
        <p:spPr>
          <a:xfrm>
            <a:off x="1005840" y="2212848"/>
            <a:ext cx="65836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(stative verb rule)</a:t>
            </a:r>
            <a:endParaRPr lang="en-US" sz="1100" dirty="0"/>
          </a:p>
        </p:txBody>
      </p:sp>
      <p:sp>
        <p:nvSpPr>
          <p:cNvPr id="21" name="Shape 19"/>
          <p:cNvSpPr/>
          <p:nvPr/>
        </p:nvSpPr>
        <p:spPr>
          <a:xfrm>
            <a:off x="7516368" y="1938528"/>
            <a:ext cx="658368" cy="493776"/>
          </a:xfrm>
          <a:prstGeom prst="rect">
            <a:avLst/>
          </a:prstGeom>
          <a:solidFill>
            <a:srgbClr val="F8F9FA"/>
          </a:solidFill>
          <a:ln w="12700">
            <a:solidFill>
              <a:srgbClr val="DDDDDD"/>
            </a:solidFill>
            <a:prstDash val="solid"/>
          </a:ln>
        </p:spPr>
      </p:sp>
      <p:sp>
        <p:nvSpPr>
          <p:cNvPr id="22" name="Text 20"/>
          <p:cNvSpPr/>
          <p:nvPr/>
        </p:nvSpPr>
        <p:spPr>
          <a:xfrm>
            <a:off x="7607808" y="1984248"/>
            <a:ext cx="475488" cy="256032"/>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Answer:</a:t>
            </a:r>
            <a:endParaRPr lang="en-US" sz="1100" dirty="0"/>
          </a:p>
        </p:txBody>
      </p:sp>
      <p:sp>
        <p:nvSpPr>
          <p:cNvPr id="23" name="Shape 21"/>
          <p:cNvSpPr/>
          <p:nvPr/>
        </p:nvSpPr>
        <p:spPr>
          <a:xfrm>
            <a:off x="256032" y="2578608"/>
            <a:ext cx="658368" cy="566928"/>
          </a:xfrm>
          <a:prstGeom prst="rect">
            <a:avLst/>
          </a:prstGeom>
          <a:solidFill>
            <a:srgbClr val="F5EEF8"/>
          </a:solidFill>
          <a:ln w="12700">
            <a:solidFill>
              <a:srgbClr val="BBBBBB"/>
            </a:solidFill>
            <a:prstDash val="solid"/>
          </a:ln>
        </p:spPr>
      </p:sp>
      <p:sp>
        <p:nvSpPr>
          <p:cNvPr id="24" name="Text 22"/>
          <p:cNvSpPr/>
          <p:nvPr/>
        </p:nvSpPr>
        <p:spPr>
          <a:xfrm>
            <a:off x="256032" y="2578608"/>
            <a:ext cx="658368" cy="566928"/>
          </a:xfrm>
          <a:prstGeom prst="rect">
            <a:avLst/>
          </a:prstGeom>
          <a:noFill/>
          <a:ln/>
        </p:spPr>
        <p:txBody>
          <a:bodyPr wrap="square" lIns="0" tIns="0" rIns="0" bIns="0" rtlCol="0" anchor="ctr"/>
          <a:lstStyle/>
          <a:p>
            <a:pPr marL="0" indent="0" algn="ctr">
              <a:buNone/>
            </a:pPr>
            <a:r>
              <a:rPr lang="en-US" sz="1400" b="1" dirty="0">
                <a:solidFill>
                  <a:srgbClr val="1B3A6B"/>
                </a:solidFill>
                <a:latin typeface="Trebuchet MS" pitchFamily="34" charset="0"/>
                <a:ea typeface="Trebuchet MS" pitchFamily="34" charset="-122"/>
                <a:cs typeface="Trebuchet MS" pitchFamily="34" charset="-120"/>
              </a:rPr>
              <a:t>Q3</a:t>
            </a:r>
            <a:endParaRPr lang="en-US" sz="1400" dirty="0"/>
          </a:p>
        </p:txBody>
      </p:sp>
      <p:sp>
        <p:nvSpPr>
          <p:cNvPr id="25" name="Shape 23"/>
          <p:cNvSpPr/>
          <p:nvPr/>
        </p:nvSpPr>
        <p:spPr>
          <a:xfrm>
            <a:off x="914400" y="2578608"/>
            <a:ext cx="7973568" cy="566928"/>
          </a:xfrm>
          <a:prstGeom prst="rect">
            <a:avLst/>
          </a:prstGeom>
          <a:solidFill>
            <a:srgbClr val="FFFFFF"/>
          </a:solidFill>
          <a:ln w="12700">
            <a:solidFill>
              <a:srgbClr val="BBBBBB"/>
            </a:solidFill>
            <a:prstDash val="solid"/>
          </a:ln>
        </p:spPr>
      </p:sp>
      <p:sp>
        <p:nvSpPr>
          <p:cNvPr id="26" name="Text 24"/>
          <p:cNvSpPr/>
          <p:nvPr/>
        </p:nvSpPr>
        <p:spPr>
          <a:xfrm>
            <a:off x="1005840" y="2606040"/>
            <a:ext cx="6583680" cy="274320"/>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Rewrite: I prefer staying in to going out.  → I'd rather ...</a:t>
            </a:r>
            <a:endParaRPr lang="en-US" sz="1300" dirty="0"/>
          </a:p>
        </p:txBody>
      </p:sp>
      <p:sp>
        <p:nvSpPr>
          <p:cNvPr id="27" name="Text 25"/>
          <p:cNvSpPr/>
          <p:nvPr/>
        </p:nvSpPr>
        <p:spPr>
          <a:xfrm>
            <a:off x="1005840" y="2889504"/>
            <a:ext cx="65836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(would rather + base verb)</a:t>
            </a:r>
            <a:endParaRPr lang="en-US" sz="1100" dirty="0"/>
          </a:p>
        </p:txBody>
      </p:sp>
      <p:sp>
        <p:nvSpPr>
          <p:cNvPr id="28" name="Shape 26"/>
          <p:cNvSpPr/>
          <p:nvPr/>
        </p:nvSpPr>
        <p:spPr>
          <a:xfrm>
            <a:off x="7516368" y="2615184"/>
            <a:ext cx="658368" cy="493776"/>
          </a:xfrm>
          <a:prstGeom prst="rect">
            <a:avLst/>
          </a:prstGeom>
          <a:solidFill>
            <a:srgbClr val="F8F9FA"/>
          </a:solidFill>
          <a:ln w="12700">
            <a:solidFill>
              <a:srgbClr val="DDDDDD"/>
            </a:solidFill>
            <a:prstDash val="solid"/>
          </a:ln>
        </p:spPr>
      </p:sp>
      <p:sp>
        <p:nvSpPr>
          <p:cNvPr id="29" name="Text 27"/>
          <p:cNvSpPr/>
          <p:nvPr/>
        </p:nvSpPr>
        <p:spPr>
          <a:xfrm>
            <a:off x="7607808" y="2660904"/>
            <a:ext cx="475488" cy="256032"/>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Answer:</a:t>
            </a:r>
            <a:endParaRPr lang="en-US" sz="1100" dirty="0"/>
          </a:p>
        </p:txBody>
      </p:sp>
      <p:sp>
        <p:nvSpPr>
          <p:cNvPr id="30" name="Shape 28"/>
          <p:cNvSpPr/>
          <p:nvPr/>
        </p:nvSpPr>
        <p:spPr>
          <a:xfrm>
            <a:off x="256032" y="3255264"/>
            <a:ext cx="658368" cy="566928"/>
          </a:xfrm>
          <a:prstGeom prst="rect">
            <a:avLst/>
          </a:prstGeom>
          <a:solidFill>
            <a:srgbClr val="FDEBD0"/>
          </a:solidFill>
          <a:ln w="12700">
            <a:solidFill>
              <a:srgbClr val="BBBBBB"/>
            </a:solidFill>
            <a:prstDash val="solid"/>
          </a:ln>
        </p:spPr>
      </p:sp>
      <p:sp>
        <p:nvSpPr>
          <p:cNvPr id="31" name="Text 29"/>
          <p:cNvSpPr/>
          <p:nvPr/>
        </p:nvSpPr>
        <p:spPr>
          <a:xfrm>
            <a:off x="256032" y="3255264"/>
            <a:ext cx="658368" cy="566928"/>
          </a:xfrm>
          <a:prstGeom prst="rect">
            <a:avLst/>
          </a:prstGeom>
          <a:noFill/>
          <a:ln/>
        </p:spPr>
        <p:txBody>
          <a:bodyPr wrap="square" lIns="0" tIns="0" rIns="0" bIns="0" rtlCol="0" anchor="ctr"/>
          <a:lstStyle/>
          <a:p>
            <a:pPr marL="0" indent="0" algn="ctr">
              <a:buNone/>
            </a:pPr>
            <a:r>
              <a:rPr lang="en-US" sz="1400" b="1" dirty="0">
                <a:solidFill>
                  <a:srgbClr val="1B3A6B"/>
                </a:solidFill>
                <a:latin typeface="Trebuchet MS" pitchFamily="34" charset="0"/>
                <a:ea typeface="Trebuchet MS" pitchFamily="34" charset="-122"/>
                <a:cs typeface="Trebuchet MS" pitchFamily="34" charset="-120"/>
              </a:rPr>
              <a:t>Q4</a:t>
            </a:r>
            <a:endParaRPr lang="en-US" sz="1400" dirty="0"/>
          </a:p>
        </p:txBody>
      </p:sp>
      <p:sp>
        <p:nvSpPr>
          <p:cNvPr id="32" name="Shape 30"/>
          <p:cNvSpPr/>
          <p:nvPr/>
        </p:nvSpPr>
        <p:spPr>
          <a:xfrm>
            <a:off x="914400" y="3255264"/>
            <a:ext cx="7973568" cy="566928"/>
          </a:xfrm>
          <a:prstGeom prst="rect">
            <a:avLst/>
          </a:prstGeom>
          <a:solidFill>
            <a:srgbClr val="FFFFFF"/>
          </a:solidFill>
          <a:ln w="12700">
            <a:solidFill>
              <a:srgbClr val="BBBBBB"/>
            </a:solidFill>
            <a:prstDash val="solid"/>
          </a:ln>
        </p:spPr>
      </p:sp>
      <p:sp>
        <p:nvSpPr>
          <p:cNvPr id="33" name="Text 31"/>
          <p:cNvSpPr/>
          <p:nvPr/>
        </p:nvSpPr>
        <p:spPr>
          <a:xfrm>
            <a:off x="1005840" y="3282696"/>
            <a:ext cx="6583680" cy="274320"/>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Complete: This game is not _______ exciting _______ that film.</a:t>
            </a:r>
            <a:endParaRPr lang="en-US" sz="1300" dirty="0"/>
          </a:p>
        </p:txBody>
      </p:sp>
      <p:sp>
        <p:nvSpPr>
          <p:cNvPr id="34" name="Text 32"/>
          <p:cNvSpPr/>
          <p:nvPr/>
        </p:nvSpPr>
        <p:spPr>
          <a:xfrm>
            <a:off x="1005840" y="3566160"/>
            <a:ext cx="65836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(as...as — negative)</a:t>
            </a:r>
            <a:endParaRPr lang="en-US" sz="1100" dirty="0"/>
          </a:p>
        </p:txBody>
      </p:sp>
      <p:sp>
        <p:nvSpPr>
          <p:cNvPr id="35" name="Shape 33"/>
          <p:cNvSpPr/>
          <p:nvPr/>
        </p:nvSpPr>
        <p:spPr>
          <a:xfrm>
            <a:off x="7516368" y="3291840"/>
            <a:ext cx="658368" cy="493776"/>
          </a:xfrm>
          <a:prstGeom prst="rect">
            <a:avLst/>
          </a:prstGeom>
          <a:solidFill>
            <a:srgbClr val="F8F9FA"/>
          </a:solidFill>
          <a:ln w="12700">
            <a:solidFill>
              <a:srgbClr val="DDDDDD"/>
            </a:solidFill>
            <a:prstDash val="solid"/>
          </a:ln>
        </p:spPr>
      </p:sp>
      <p:sp>
        <p:nvSpPr>
          <p:cNvPr id="36" name="Text 34"/>
          <p:cNvSpPr/>
          <p:nvPr/>
        </p:nvSpPr>
        <p:spPr>
          <a:xfrm>
            <a:off x="7607808" y="3337560"/>
            <a:ext cx="475488" cy="256032"/>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Answer:</a:t>
            </a:r>
            <a:endParaRPr lang="en-US" sz="1100" dirty="0"/>
          </a:p>
        </p:txBody>
      </p:sp>
      <p:sp>
        <p:nvSpPr>
          <p:cNvPr id="37" name="Shape 35"/>
          <p:cNvSpPr/>
          <p:nvPr/>
        </p:nvSpPr>
        <p:spPr>
          <a:xfrm>
            <a:off x="256032" y="3931920"/>
            <a:ext cx="658368" cy="566928"/>
          </a:xfrm>
          <a:prstGeom prst="rect">
            <a:avLst/>
          </a:prstGeom>
          <a:solidFill>
            <a:srgbClr val="FEF9E7"/>
          </a:solidFill>
          <a:ln w="12700">
            <a:solidFill>
              <a:srgbClr val="BBBBBB"/>
            </a:solidFill>
            <a:prstDash val="solid"/>
          </a:ln>
        </p:spPr>
      </p:sp>
      <p:sp>
        <p:nvSpPr>
          <p:cNvPr id="38" name="Text 36"/>
          <p:cNvSpPr/>
          <p:nvPr/>
        </p:nvSpPr>
        <p:spPr>
          <a:xfrm>
            <a:off x="256032" y="3931920"/>
            <a:ext cx="658368" cy="566928"/>
          </a:xfrm>
          <a:prstGeom prst="rect">
            <a:avLst/>
          </a:prstGeom>
          <a:noFill/>
          <a:ln/>
        </p:spPr>
        <p:txBody>
          <a:bodyPr wrap="square" lIns="0" tIns="0" rIns="0" bIns="0" rtlCol="0" anchor="ctr"/>
          <a:lstStyle/>
          <a:p>
            <a:pPr marL="0" indent="0" algn="ctr">
              <a:buNone/>
            </a:pPr>
            <a:r>
              <a:rPr lang="en-US" sz="1400" b="1" dirty="0">
                <a:solidFill>
                  <a:srgbClr val="1B3A6B"/>
                </a:solidFill>
                <a:latin typeface="Trebuchet MS" pitchFamily="34" charset="0"/>
                <a:ea typeface="Trebuchet MS" pitchFamily="34" charset="-122"/>
                <a:cs typeface="Trebuchet MS" pitchFamily="34" charset="-120"/>
              </a:rPr>
              <a:t>Q5</a:t>
            </a:r>
            <a:endParaRPr lang="en-US" sz="1400" dirty="0"/>
          </a:p>
        </p:txBody>
      </p:sp>
      <p:sp>
        <p:nvSpPr>
          <p:cNvPr id="39" name="Shape 37"/>
          <p:cNvSpPr/>
          <p:nvPr/>
        </p:nvSpPr>
        <p:spPr>
          <a:xfrm>
            <a:off x="914400" y="3931920"/>
            <a:ext cx="7973568" cy="566928"/>
          </a:xfrm>
          <a:prstGeom prst="rect">
            <a:avLst/>
          </a:prstGeom>
          <a:solidFill>
            <a:srgbClr val="FFFFFF"/>
          </a:solidFill>
          <a:ln w="12700">
            <a:solidFill>
              <a:srgbClr val="BBBBBB"/>
            </a:solidFill>
            <a:prstDash val="solid"/>
          </a:ln>
        </p:spPr>
      </p:sp>
      <p:sp>
        <p:nvSpPr>
          <p:cNvPr id="40" name="Text 38"/>
          <p:cNvSpPr/>
          <p:nvPr/>
        </p:nvSpPr>
        <p:spPr>
          <a:xfrm>
            <a:off x="1005840" y="3959352"/>
            <a:ext cx="6583680" cy="274320"/>
          </a:xfrm>
          <a:prstGeom prst="rect">
            <a:avLst/>
          </a:prstGeom>
          <a:noFill/>
          <a:ln/>
        </p:spPr>
        <p:txBody>
          <a:bodyPr wrap="square" lIns="0" tIns="0" rIns="0" bIns="0" rtlCol="0" anchor="ctr"/>
          <a:lstStyle/>
          <a:p>
            <a:pPr marL="0" indent="0">
              <a:buNone/>
            </a:pPr>
            <a:r>
              <a:rPr lang="en-US" sz="1300" b="1" dirty="0">
                <a:solidFill>
                  <a:srgbClr val="111827"/>
                </a:solidFill>
                <a:latin typeface="Calibri" pitchFamily="34" charset="0"/>
                <a:ea typeface="Calibri" pitchFamily="34" charset="-122"/>
                <a:cs typeface="Calibri" pitchFamily="34" charset="-120"/>
              </a:rPr>
              <a:t>Make a sentence using PREFER about your free time. (1 sentence)</a:t>
            </a:r>
            <a:endParaRPr lang="en-US" sz="1300" dirty="0"/>
          </a:p>
        </p:txBody>
      </p:sp>
      <p:sp>
        <p:nvSpPr>
          <p:cNvPr id="41" name="Text 39"/>
          <p:cNvSpPr/>
          <p:nvPr/>
        </p:nvSpPr>
        <p:spPr>
          <a:xfrm>
            <a:off x="1005840" y="4242816"/>
            <a:ext cx="65836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(your own sentence — general preference)</a:t>
            </a:r>
            <a:endParaRPr lang="en-US" sz="1100" dirty="0"/>
          </a:p>
        </p:txBody>
      </p:sp>
      <p:sp>
        <p:nvSpPr>
          <p:cNvPr id="42" name="Shape 40"/>
          <p:cNvSpPr/>
          <p:nvPr/>
        </p:nvSpPr>
        <p:spPr>
          <a:xfrm>
            <a:off x="7516368" y="3968496"/>
            <a:ext cx="658368" cy="493776"/>
          </a:xfrm>
          <a:prstGeom prst="rect">
            <a:avLst/>
          </a:prstGeom>
          <a:solidFill>
            <a:srgbClr val="F8F9FA"/>
          </a:solidFill>
          <a:ln w="12700">
            <a:solidFill>
              <a:srgbClr val="DDDDDD"/>
            </a:solidFill>
            <a:prstDash val="solid"/>
          </a:ln>
        </p:spPr>
      </p:sp>
      <p:sp>
        <p:nvSpPr>
          <p:cNvPr id="43" name="Text 41"/>
          <p:cNvSpPr/>
          <p:nvPr/>
        </p:nvSpPr>
        <p:spPr>
          <a:xfrm>
            <a:off x="7607808" y="4014216"/>
            <a:ext cx="475488" cy="256032"/>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Answer:</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6B"/>
          </a:solidFill>
          <a:ln w="12700">
            <a:solidFill>
              <a:srgbClr val="1B3A6B"/>
            </a:solidFill>
            <a:prstDash val="solid"/>
          </a:ln>
        </p:spPr>
      </p:sp>
      <p:sp>
        <p:nvSpPr>
          <p:cNvPr id="3" name="Shape 1"/>
          <p:cNvSpPr/>
          <p:nvPr/>
        </p:nvSpPr>
        <p:spPr>
          <a:xfrm>
            <a:off x="0" y="0"/>
            <a:ext cx="320040" cy="5143500"/>
          </a:xfrm>
          <a:prstGeom prst="rect">
            <a:avLst/>
          </a:prstGeom>
          <a:solidFill>
            <a:srgbClr val="F4A261"/>
          </a:solidFill>
          <a:ln w="12700">
            <a:solidFill>
              <a:srgbClr val="F4A261"/>
            </a:solidFill>
            <a:prstDash val="solid"/>
          </a:ln>
        </p:spPr>
      </p:sp>
      <p:sp>
        <p:nvSpPr>
          <p:cNvPr id="4" name="Shape 2"/>
          <p:cNvSpPr/>
          <p:nvPr/>
        </p:nvSpPr>
        <p:spPr>
          <a:xfrm>
            <a:off x="0" y="3474720"/>
            <a:ext cx="9144000" cy="1668780"/>
          </a:xfrm>
          <a:prstGeom prst="rect">
            <a:avLst/>
          </a:prstGeom>
          <a:solidFill>
            <a:srgbClr val="0D7377"/>
          </a:solidFill>
          <a:ln w="12700">
            <a:solidFill>
              <a:srgbClr val="0D7377"/>
            </a:solidFill>
            <a:prstDash val="solid"/>
          </a:ln>
        </p:spPr>
      </p:sp>
      <p:sp>
        <p:nvSpPr>
          <p:cNvPr id="5" name="Shape 3"/>
          <p:cNvSpPr/>
          <p:nvPr/>
        </p:nvSpPr>
        <p:spPr>
          <a:xfrm>
            <a:off x="502920" y="256032"/>
            <a:ext cx="3200400" cy="402336"/>
          </a:xfrm>
          <a:prstGeom prst="rect">
            <a:avLst/>
          </a:prstGeom>
          <a:solidFill>
            <a:srgbClr val="F4A261"/>
          </a:solidFill>
          <a:ln w="12700">
            <a:solidFill>
              <a:srgbClr val="F4A261"/>
            </a:solidFill>
            <a:prstDash val="solid"/>
          </a:ln>
        </p:spPr>
      </p:sp>
      <p:sp>
        <p:nvSpPr>
          <p:cNvPr id="6" name="Text 4"/>
          <p:cNvSpPr/>
          <p:nvPr/>
        </p:nvSpPr>
        <p:spPr>
          <a:xfrm>
            <a:off x="502920" y="256032"/>
            <a:ext cx="3200400" cy="402336"/>
          </a:xfrm>
          <a:prstGeom prst="rect">
            <a:avLst/>
          </a:prstGeom>
          <a:noFill/>
          <a:ln/>
        </p:spPr>
        <p:txBody>
          <a:bodyPr wrap="square" lIns="0" tIns="0" rIns="0" bIns="0" rtlCol="0" anchor="ctr"/>
          <a:lstStyle/>
          <a:p>
            <a:pPr marL="0" indent="0" algn="ctr">
              <a:buNone/>
            </a:pPr>
            <a:r>
              <a:rPr lang="en-US" sz="1100" b="1" dirty="0">
                <a:solidFill>
                  <a:srgbClr val="1B3A6B"/>
                </a:solidFill>
                <a:latin typeface="Trebuchet MS" pitchFamily="34" charset="0"/>
                <a:ea typeface="Trebuchet MS" pitchFamily="34" charset="-122"/>
                <a:cs typeface="Trebuchet MS" pitchFamily="34" charset="-120"/>
              </a:rPr>
              <a:t>GEP 9  |  Blueprint 4  |  Term 5</a:t>
            </a:r>
            <a:endParaRPr lang="en-US" sz="1100" dirty="0"/>
          </a:p>
        </p:txBody>
      </p:sp>
      <p:sp>
        <p:nvSpPr>
          <p:cNvPr id="7" name="Text 5"/>
          <p:cNvSpPr/>
          <p:nvPr/>
        </p:nvSpPr>
        <p:spPr>
          <a:xfrm>
            <a:off x="502920" y="822960"/>
            <a:ext cx="8321040" cy="777240"/>
          </a:xfrm>
          <a:prstGeom prst="rect">
            <a:avLst/>
          </a:prstGeom>
          <a:noFill/>
          <a:ln/>
        </p:spPr>
        <p:txBody>
          <a:bodyPr wrap="square"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Well done today!</a:t>
            </a:r>
            <a:endParaRPr lang="en-US" sz="4400" dirty="0"/>
          </a:p>
        </p:txBody>
      </p:sp>
      <p:sp>
        <p:nvSpPr>
          <p:cNvPr id="8" name="Text 6"/>
          <p:cNvSpPr/>
          <p:nvPr/>
        </p:nvSpPr>
        <p:spPr>
          <a:xfrm>
            <a:off x="502920" y="1664208"/>
            <a:ext cx="8321040" cy="347472"/>
          </a:xfrm>
          <a:prstGeom prst="rect">
            <a:avLst/>
          </a:prstGeom>
          <a:noFill/>
          <a:ln/>
        </p:spPr>
        <p:txBody>
          <a:bodyPr wrap="square" rtlCol="0" anchor="ctr"/>
          <a:lstStyle/>
          <a:p>
            <a:pPr marL="0" indent="0">
              <a:buNone/>
            </a:pPr>
            <a:r>
              <a:rPr lang="en-US" sz="1800" i="1" dirty="0">
                <a:solidFill>
                  <a:srgbClr val="A8C4E0"/>
                </a:solidFill>
                <a:latin typeface="Calibri" pitchFamily="34" charset="0"/>
                <a:ea typeface="Calibri" pitchFamily="34" charset="-122"/>
                <a:cs typeface="Calibri" pitchFamily="34" charset="-120"/>
              </a:rPr>
              <a:t>You have covered:</a:t>
            </a:r>
            <a:endParaRPr lang="en-US" sz="1800" dirty="0"/>
          </a:p>
        </p:txBody>
      </p:sp>
      <p:sp>
        <p:nvSpPr>
          <p:cNvPr id="9" name="Shape 7"/>
          <p:cNvSpPr/>
          <p:nvPr/>
        </p:nvSpPr>
        <p:spPr>
          <a:xfrm>
            <a:off x="502920" y="2057400"/>
            <a:ext cx="4754880" cy="228600"/>
          </a:xfrm>
          <a:prstGeom prst="rect">
            <a:avLst/>
          </a:prstGeom>
          <a:solidFill>
            <a:srgbClr val="163255"/>
          </a:solidFill>
          <a:ln w="12700">
            <a:solidFill>
              <a:srgbClr val="163255"/>
            </a:solidFill>
            <a:prstDash val="solid"/>
          </a:ln>
        </p:spPr>
      </p:sp>
      <p:sp>
        <p:nvSpPr>
          <p:cNvPr id="10" name="Text 8"/>
          <p:cNvSpPr/>
          <p:nvPr/>
        </p:nvSpPr>
        <p:spPr>
          <a:xfrm>
            <a:off x="502920" y="2057400"/>
            <a:ext cx="4754880" cy="22860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  Present Continuous (now + future)</a:t>
            </a:r>
            <a:endParaRPr lang="en-US" sz="1100" dirty="0"/>
          </a:p>
        </p:txBody>
      </p:sp>
      <p:sp>
        <p:nvSpPr>
          <p:cNvPr id="11" name="Shape 9"/>
          <p:cNvSpPr/>
          <p:nvPr/>
        </p:nvSpPr>
        <p:spPr>
          <a:xfrm>
            <a:off x="502920" y="2313432"/>
            <a:ext cx="4754880" cy="228600"/>
          </a:xfrm>
          <a:prstGeom prst="rect">
            <a:avLst/>
          </a:prstGeom>
          <a:solidFill>
            <a:srgbClr val="163255"/>
          </a:solidFill>
          <a:ln w="12700">
            <a:solidFill>
              <a:srgbClr val="163255"/>
            </a:solidFill>
            <a:prstDash val="solid"/>
          </a:ln>
        </p:spPr>
      </p:sp>
      <p:sp>
        <p:nvSpPr>
          <p:cNvPr id="12" name="Text 10"/>
          <p:cNvSpPr/>
          <p:nvPr/>
        </p:nvSpPr>
        <p:spPr>
          <a:xfrm>
            <a:off x="502920" y="2313432"/>
            <a:ext cx="4754880" cy="22860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  Simple Present vs Continuous</a:t>
            </a:r>
            <a:endParaRPr lang="en-US" sz="1100" dirty="0"/>
          </a:p>
        </p:txBody>
      </p:sp>
      <p:sp>
        <p:nvSpPr>
          <p:cNvPr id="13" name="Shape 11"/>
          <p:cNvSpPr/>
          <p:nvPr/>
        </p:nvSpPr>
        <p:spPr>
          <a:xfrm>
            <a:off x="502920" y="2569464"/>
            <a:ext cx="4754880" cy="228600"/>
          </a:xfrm>
          <a:prstGeom prst="rect">
            <a:avLst/>
          </a:prstGeom>
          <a:solidFill>
            <a:srgbClr val="163255"/>
          </a:solidFill>
          <a:ln w="12700">
            <a:solidFill>
              <a:srgbClr val="163255"/>
            </a:solidFill>
            <a:prstDash val="solid"/>
          </a:ln>
        </p:spPr>
      </p:sp>
      <p:sp>
        <p:nvSpPr>
          <p:cNvPr id="14" name="Text 12"/>
          <p:cNvSpPr/>
          <p:nvPr/>
        </p:nvSpPr>
        <p:spPr>
          <a:xfrm>
            <a:off x="502920" y="2569464"/>
            <a:ext cx="4754880" cy="22860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  Action vs Stative Verbs</a:t>
            </a:r>
            <a:endParaRPr lang="en-US" sz="1100" dirty="0"/>
          </a:p>
        </p:txBody>
      </p:sp>
      <p:sp>
        <p:nvSpPr>
          <p:cNvPr id="15" name="Shape 13"/>
          <p:cNvSpPr/>
          <p:nvPr/>
        </p:nvSpPr>
        <p:spPr>
          <a:xfrm>
            <a:off x="502920" y="2825496"/>
            <a:ext cx="4754880" cy="228600"/>
          </a:xfrm>
          <a:prstGeom prst="rect">
            <a:avLst/>
          </a:prstGeom>
          <a:solidFill>
            <a:srgbClr val="163255"/>
          </a:solidFill>
          <a:ln w="12700">
            <a:solidFill>
              <a:srgbClr val="163255"/>
            </a:solidFill>
            <a:prstDash val="solid"/>
          </a:ln>
        </p:spPr>
      </p:sp>
      <p:sp>
        <p:nvSpPr>
          <p:cNvPr id="16" name="Text 14"/>
          <p:cNvSpPr/>
          <p:nvPr/>
        </p:nvSpPr>
        <p:spPr>
          <a:xfrm>
            <a:off x="502920" y="2825496"/>
            <a:ext cx="4754880" cy="22860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  Would Rather · Prefer · As…As</a:t>
            </a:r>
            <a:endParaRPr lang="en-US" sz="1100" dirty="0"/>
          </a:p>
        </p:txBody>
      </p:sp>
      <p:sp>
        <p:nvSpPr>
          <p:cNvPr id="17" name="Shape 15"/>
          <p:cNvSpPr/>
          <p:nvPr/>
        </p:nvSpPr>
        <p:spPr>
          <a:xfrm>
            <a:off x="502920" y="3081528"/>
            <a:ext cx="4754880" cy="228600"/>
          </a:xfrm>
          <a:prstGeom prst="rect">
            <a:avLst/>
          </a:prstGeom>
          <a:solidFill>
            <a:srgbClr val="163255"/>
          </a:solidFill>
          <a:ln w="12700">
            <a:solidFill>
              <a:srgbClr val="163255"/>
            </a:solidFill>
            <a:prstDash val="solid"/>
          </a:ln>
        </p:spPr>
      </p:sp>
      <p:sp>
        <p:nvSpPr>
          <p:cNvPr id="18" name="Text 16"/>
          <p:cNvSpPr/>
          <p:nvPr/>
        </p:nvSpPr>
        <p:spPr>
          <a:xfrm>
            <a:off x="502920" y="3081528"/>
            <a:ext cx="4754880" cy="22860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  Listening · Reading · Writing · Speaking</a:t>
            </a:r>
            <a:endParaRPr lang="en-US" sz="1100" dirty="0"/>
          </a:p>
        </p:txBody>
      </p:sp>
      <p:sp>
        <p:nvSpPr>
          <p:cNvPr id="19" name="Text 17"/>
          <p:cNvSpPr/>
          <p:nvPr/>
        </p:nvSpPr>
        <p:spPr>
          <a:xfrm>
            <a:off x="502920" y="3584448"/>
            <a:ext cx="8321040" cy="457200"/>
          </a:xfrm>
          <a:prstGeom prst="rect">
            <a:avLst/>
          </a:prstGeom>
          <a:noFill/>
          <a:ln/>
        </p:spPr>
        <p:txBody>
          <a:bodyPr wrap="square"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Review your notes. Practise your sentences. Ask questions anytime.</a:t>
            </a:r>
            <a:endParaRPr lang="en-US" sz="1500" dirty="0"/>
          </a:p>
        </p:txBody>
      </p:sp>
      <p:sp>
        <p:nvSpPr>
          <p:cNvPr id="20" name="Text 18"/>
          <p:cNvSpPr/>
          <p:nvPr/>
        </p:nvSpPr>
        <p:spPr>
          <a:xfrm>
            <a:off x="502920" y="4041648"/>
            <a:ext cx="8321040" cy="420624"/>
          </a:xfrm>
          <a:prstGeom prst="rect">
            <a:avLst/>
          </a:prstGeom>
          <a:noFill/>
          <a:ln/>
        </p:spPr>
        <p:txBody>
          <a:bodyPr wrap="square" rtlCol="0" anchor="ctr"/>
          <a:lstStyle/>
          <a:p>
            <a:pPr marL="0" indent="0">
              <a:buNone/>
            </a:pPr>
            <a:r>
              <a:rPr lang="en-US" sz="1800" b="1" dirty="0">
                <a:solidFill>
                  <a:srgbClr val="F4A261"/>
                </a:solidFill>
                <a:latin typeface="Trebuchet MS" pitchFamily="34" charset="0"/>
                <a:ea typeface="Trebuchet MS" pitchFamily="34" charset="-122"/>
                <a:cs typeface="Trebuchet MS" pitchFamily="34" charset="-120"/>
              </a:rPr>
              <a:t>We grow together as a team!</a:t>
            </a:r>
            <a:endParaRPr lang="en-US" sz="1800" dirty="0"/>
          </a:p>
        </p:txBody>
      </p:sp>
      <p:sp>
        <p:nvSpPr>
          <p:cNvPr id="21" name="Text 19"/>
          <p:cNvSpPr/>
          <p:nvPr/>
        </p:nvSpPr>
        <p:spPr>
          <a:xfrm>
            <a:off x="502920" y="4535424"/>
            <a:ext cx="8321040" cy="402336"/>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Teacher Roberts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30</Slides>
  <Notes>30</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2026-03-26T01:04:54Z</dcterms:modified>
</cp:coreProperties>
</file>