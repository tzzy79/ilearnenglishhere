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viewProps" Target="viewProp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C31FD1-7EFC-3C43-85D7-DF8A78756B9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D0054-22F8-5B49-8976-0812CE7F92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92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1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1D5FA8">
              <a:alpha val="25000"/>
            </a:srgbClr>
          </a:solidFill>
          <a:ln w="12700">
            <a:solidFill>
              <a:srgbClr val="1D5FA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B7A6E">
              <a:alpha val="30000"/>
            </a:srgbClr>
          </a:solidFill>
          <a:ln w="12700">
            <a:solidFill>
              <a:srgbClr val="0B7A6E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C85000">
              <a:alpha val="35000"/>
            </a:srgbClr>
          </a:solidFill>
          <a:ln w="12700">
            <a:solidFill>
              <a:srgbClr val="C85000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7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CAM-ASEAN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English Program — Level 9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0" y="1417320"/>
            <a:ext cx="2743200" cy="54864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Review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1 &amp; 2  |  Vocabulary · Grammar · Skills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463040" y="3291840"/>
            <a:ext cx="2560320" cy="548640"/>
          </a:xfrm>
          <a:prstGeom prst="roundRect">
            <a:avLst>
              <a:gd name="adj" fmla="val 20000"/>
            </a:avLst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1: I'm staying in tonight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3291840"/>
            <a:ext cx="2560320" cy="548640"/>
          </a:xfrm>
          <a:prstGeom prst="roundRect">
            <a:avLst>
              <a:gd name="adj" fmla="val 20000"/>
            </a:avLst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3291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2: I'll go out tonight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Study Guide and Worksheet — let's begin! 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 — What We're Revising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1920240" cy="50292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960120"/>
            <a:ext cx="475488" cy="41148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96012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Continuous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&amp; future plans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91440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914400"/>
            <a:ext cx="1920240" cy="502920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91256" y="960120"/>
            <a:ext cx="475488" cy="41148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91256" y="96012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60320" y="1508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Present vs.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Continuous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2860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vs. actions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91440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914400"/>
            <a:ext cx="1920240" cy="502920"/>
          </a:xfrm>
          <a:prstGeom prst="rect">
            <a:avLst/>
          </a:prstGeom>
          <a:solidFill>
            <a:srgbClr val="5C2D8F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0096" y="960120"/>
            <a:ext cx="475488" cy="41148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0096" y="96012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09160" y="1508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Stative Verbs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2860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/ know / want…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91440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5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914400"/>
            <a:ext cx="1920240" cy="502920"/>
          </a:xfrm>
          <a:prstGeom prst="rect">
            <a:avLst/>
          </a:prstGeom>
          <a:solidFill>
            <a:srgbClr val="C85000"/>
          </a:solidFill>
          <a:ln w="12700">
            <a:solidFill>
              <a:srgbClr val="C85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88936" y="960120"/>
            <a:ext cx="475488" cy="41148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88936" y="96012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1508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Rather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/ As…as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22860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expressing preference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92608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B2C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2926080"/>
            <a:ext cx="1920240" cy="502920"/>
          </a:xfrm>
          <a:prstGeom prst="rect">
            <a:avLst/>
          </a:prstGeom>
          <a:solidFill>
            <a:srgbClr val="9B2C4A"/>
          </a:solidFill>
          <a:ln w="12700">
            <a:solidFill>
              <a:srgbClr val="9B2C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2416" y="2971800"/>
            <a:ext cx="475488" cy="41148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297180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11480" y="3520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Tenses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42976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/ going to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68880" y="292608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7A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68880" y="2926080"/>
            <a:ext cx="1920240" cy="502920"/>
          </a:xfrm>
          <a:prstGeom prst="rect">
            <a:avLst/>
          </a:prstGeom>
          <a:solidFill>
            <a:srgbClr val="157A4A"/>
          </a:solidFill>
          <a:ln w="12700">
            <a:solidFill>
              <a:srgbClr val="157A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91256" y="2971800"/>
            <a:ext cx="475488" cy="41148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91256" y="297180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560320" y="3520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Modals of Possibility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560320" y="42976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 / could / may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17720" y="292608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17720" y="2926080"/>
            <a:ext cx="1920240" cy="502920"/>
          </a:xfrm>
          <a:prstGeom prst="rect">
            <a:avLst/>
          </a:prstGeom>
          <a:solidFill>
            <a:srgbClr val="A1620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40096" y="2971800"/>
            <a:ext cx="475488" cy="41148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0096" y="297180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709160" y="3520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Clause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Suggestions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709160" y="42976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that… / Let's…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66560" y="292608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66560" y="2926080"/>
            <a:ext cx="1920240" cy="502920"/>
          </a:xfrm>
          <a:prstGeom prst="rect">
            <a:avLst/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88936" y="2971800"/>
            <a:ext cx="475488" cy="41148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88936" y="297180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58000" y="3520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Units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858000" y="42976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 &amp; phrases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5F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0F2A5E">
              <a:alpha val="40000"/>
            </a:srgbClr>
          </a:solidFill>
          <a:ln w="12700">
            <a:solidFill>
              <a:srgbClr val="0F2A5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2743200"/>
            <a:ext cx="2743200" cy="2743200"/>
          </a:xfrm>
          <a:prstGeom prst="ellipse">
            <a:avLst/>
          </a:prstGeom>
          <a:solidFill>
            <a:srgbClr val="0B7A6E">
              <a:alpha val="45000"/>
            </a:srgbClr>
          </a:solidFill>
          <a:ln w="12700">
            <a:solidFill>
              <a:srgbClr val="0B7A6E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6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staying in tonight."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474720" y="2651760"/>
            <a:ext cx="2194560" cy="54864"/>
          </a:xfrm>
          <a:prstGeom prst="rect">
            <a:avLst/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Continuous · Simple Present · Stative Verbs · Would Rather · Prefer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Warm-up: Turn to your partner — what did YOU do last night?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1 — Present Continuous  (present &amp; future reference)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920240"/>
          </a:xfrm>
          <a:prstGeom prst="rect">
            <a:avLst/>
          </a:prstGeom>
          <a:solidFill>
            <a:srgbClr val="D6E8FA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45720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052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RIGHT NOW (present)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/ is / are  +  verb-ing
</a:t>
            </a:r>
            <a:r>
              <a:rPr lang="en-US" sz="13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</a:t>
            </a:r>
            <a:r>
              <a:rPr lang="en-US" sz="1300" b="1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watching</a:t>
            </a:r>
            <a:r>
              <a:rPr lang="en-US" sz="13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TV right now.
They </a:t>
            </a:r>
            <a:r>
              <a:rPr lang="en-US" sz="1300" b="1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playing</a:t>
            </a:r>
            <a:r>
              <a:rPr lang="en-US" sz="13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games.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14800" cy="1920240"/>
          </a:xfrm>
          <a:prstGeom prst="rect">
            <a:avLst/>
          </a:prstGeom>
          <a:solidFill>
            <a:srgbClr val="C5EDE8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868680"/>
            <a:ext cx="4114800" cy="457200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052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FUTURE PLANS (arranged)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389888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/ is / are  +  verb-ing  + future time
</a:t>
            </a:r>
            <a:r>
              <a:rPr lang="en-US" sz="13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3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meeting</a:t>
            </a:r>
            <a:r>
              <a:rPr lang="en-US" sz="13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Jake tonight.
We </a:t>
            </a:r>
            <a:r>
              <a:rPr lang="en-US" sz="13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going</a:t>
            </a:r>
            <a:r>
              <a:rPr lang="en-US" sz="13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cinema tomorrow.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8595360" cy="64008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71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 +  </a:t>
            </a:r>
            <a:r>
              <a:rPr lang="en-US" sz="1200" b="1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/ is / are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r>
              <a:rPr lang="en-US" sz="1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+ -ing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Negative: add </a:t>
            </a:r>
            <a:r>
              <a:rPr lang="en-US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Question: </a:t>
            </a:r>
            <a:r>
              <a:rPr lang="en-US" sz="1200" b="1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/ Is + subject + verb-ing…?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703320"/>
            <a:ext cx="8595360" cy="1188720"/>
          </a:xfrm>
          <a:prstGeom prst="rect">
            <a:avLst/>
          </a:prstGeom>
          <a:solidFill>
            <a:srgbClr val="FEF9C3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703320"/>
            <a:ext cx="73152" cy="1188720"/>
          </a:xfrm>
          <a:prstGeom prst="rect">
            <a:avLst/>
          </a:prstGeom>
          <a:solidFill>
            <a:srgbClr val="A1620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CCQ — Think &amp; Discuss: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is cooking dinner." </a:t>
            </a:r>
            <a:r>
              <a:rPr lang="en-US" sz="12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Is she cooking RIGHT NOW, or did she cook it yesterday?
</a:t>
            </a:r>
            <a:r>
              <a:rPr lang="en-US" sz="12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am seeing the doctor tomorrow." </a:t>
            </a:r>
            <a:r>
              <a:rPr lang="en-US" sz="12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Is this happening in the future or past?  How do you know?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— Present Continuous  ✏️  Complete in your Worksheet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solidFill>
            <a:srgbClr val="D6E8FA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9611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Look at these sentences. Are they talking about NOW or a FUTURE PLAN? Write NOW or FUTURE.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"I am studying English at the moment."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237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___________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859536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"She is having dinner with her parents on Friday."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3760" y="2194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___________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34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"They are watching a movie right now."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23760" y="2834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___________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429000"/>
            <a:ext cx="859536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74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"We are visiting relatives next weekend."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23760" y="3474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___________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06908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14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"He is talking on the phone."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23760" y="4114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___________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773168"/>
            <a:ext cx="8595360" cy="182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791456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Worksheet Section A1 — answers revealed after class discussion!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2 — Simple Present  vs.  Present Continuous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34840" y="822960"/>
            <a:ext cx="4434840" cy="45720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Present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34840" y="8229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Continuous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114800" cy="658368"/>
          </a:xfrm>
          <a:prstGeom prst="rect">
            <a:avLst/>
          </a:prstGeom>
          <a:solidFill>
            <a:srgbClr val="C5ED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325880"/>
            <a:ext cx="4434840" cy="658368"/>
          </a:xfrm>
          <a:prstGeom prst="rect">
            <a:avLst/>
          </a:prstGeom>
          <a:solidFill>
            <a:srgbClr val="D6E8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716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&amp; ROUTINES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(always, usually, every day)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1371600"/>
            <a:ext cx="4251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HAPPENING NOW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(now, at the moment, currently)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03911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2039112"/>
            <a:ext cx="4434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8483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watch TV every evening.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2084832"/>
            <a:ext cx="4251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watching TV right now.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752344"/>
            <a:ext cx="411480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2752344"/>
            <a:ext cx="443484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9806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studies at 8pm.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2798064"/>
            <a:ext cx="4251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studying at the moment.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46557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3465576"/>
            <a:ext cx="4434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1129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play football on Sundays.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3511296"/>
            <a:ext cx="4251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playing football now.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178808"/>
            <a:ext cx="4114800" cy="658368"/>
          </a:xfrm>
          <a:prstGeom prst="rect">
            <a:avLst/>
          </a:prstGeom>
          <a:solidFill>
            <a:srgbClr val="C5ED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4178808"/>
            <a:ext cx="4434840" cy="658368"/>
          </a:xfrm>
          <a:prstGeom prst="rect">
            <a:avLst/>
          </a:prstGeom>
          <a:solidFill>
            <a:srgbClr val="D6E8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2452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signals: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· often · never · always · every day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26280" y="4224528"/>
            <a:ext cx="4251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signals: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at the moment · currently · look! · listen!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A1620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6460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CCQ: "I eat breakfast at 7am" vs "I am eating breakfast." — Which is happening RIGHT NOW?  Which is a HABIT?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D5FA8">
              <a:alpha val="20000"/>
            </a:srgbClr>
          </a:solidFill>
          <a:ln w="12700">
            <a:solidFill>
              <a:srgbClr val="1D5FA8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CHALLENGE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mistake in each sentence. Work with your partner!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621792"/>
          </a:xfrm>
          <a:prstGeom prst="rect">
            <a:avLst/>
          </a:prstGeom>
          <a:solidFill>
            <a:srgbClr val="0F2A5E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3560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"She is study English every morning."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1435608"/>
            <a:ext cx="1097280" cy="384048"/>
          </a:xfrm>
          <a:prstGeom prst="roundRect">
            <a:avLst>
              <a:gd name="adj" fmla="val 28571"/>
            </a:avLst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14356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(habit)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75688"/>
            <a:ext cx="8412480" cy="621792"/>
          </a:xfrm>
          <a:prstGeom prst="rect">
            <a:avLst/>
          </a:prstGeom>
          <a:solidFill>
            <a:srgbClr val="0F2A5E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3969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"I usually am watching TV right now."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2139696"/>
            <a:ext cx="1097280" cy="384048"/>
          </a:xfrm>
          <a:prstGeom prst="roundRect">
            <a:avLst>
              <a:gd name="adj" fmla="val 28571"/>
            </a:avLst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0" y="21396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(now)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79776"/>
            <a:ext cx="8412480" cy="621792"/>
          </a:xfrm>
          <a:prstGeom prst="rect">
            <a:avLst/>
          </a:prstGeom>
          <a:solidFill>
            <a:srgbClr val="0F2A5E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4378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"They are visit their grandmother on weekends."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89520" y="2843784"/>
            <a:ext cx="1097280" cy="384048"/>
          </a:xfrm>
          <a:prstGeom prst="roundRect">
            <a:avLst>
              <a:gd name="adj" fmla="val 28571"/>
            </a:avLst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28437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(habit)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483864"/>
            <a:ext cx="8412480" cy="621792"/>
          </a:xfrm>
          <a:prstGeom prst="rect">
            <a:avLst/>
          </a:prstGeom>
          <a:solidFill>
            <a:srgbClr val="0F2A5E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47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"He play football at the moment."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89520" y="3547872"/>
            <a:ext cx="1097280" cy="384048"/>
          </a:xfrm>
          <a:prstGeom prst="roundRect">
            <a:avLst>
              <a:gd name="adj" fmla="val 28571"/>
            </a:avLst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35478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(now)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187952"/>
            <a:ext cx="8412480" cy="621792"/>
          </a:xfrm>
          <a:prstGeom prst="rect">
            <a:avLst/>
          </a:prstGeom>
          <a:solidFill>
            <a:srgbClr val="0F2A5E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51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"We are go to the cinema tonight."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89520" y="4251960"/>
            <a:ext cx="1097280" cy="384048"/>
          </a:xfrm>
          <a:prstGeom prst="roundRect">
            <a:avLst>
              <a:gd name="adj" fmla="val 28571"/>
            </a:avLst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42519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(future plan)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Write corrected sentences in Worksheet Section A2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5C2D8F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3 — Action Verbs  vs.  Stative Verbs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31520"/>
          </a:xfrm>
          <a:prstGeom prst="rect">
            <a:avLst/>
          </a:prstGeom>
          <a:solidFill>
            <a:srgbClr val="E8DEFA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731520"/>
          </a:xfrm>
          <a:prstGeom prst="rect">
            <a:avLst/>
          </a:prstGeom>
          <a:solidFill>
            <a:srgbClr val="5C2D8F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Stative verbs describe STATES (feelings, thoughts, senses, possession) — NOT actions.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NEVER used in the continuous form  →  ❌ 'I am knowing' ✅ 'I know'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691640"/>
            <a:ext cx="4206240" cy="384048"/>
          </a:xfrm>
          <a:prstGeom prst="rect">
            <a:avLst/>
          </a:prstGeom>
          <a:solidFill>
            <a:srgbClr val="5C2D8F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373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THOUGHTS &amp; OPINIONS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148840"/>
            <a:ext cx="4005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· think · believe · understand · remember · forget · mean · seem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6916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B2C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691640"/>
            <a:ext cx="4206240" cy="384048"/>
          </a:xfrm>
          <a:prstGeom prst="rect">
            <a:avLst/>
          </a:prstGeom>
          <a:solidFill>
            <a:srgbClr val="9B2C4A"/>
          </a:solidFill>
          <a:ln w="12700">
            <a:solidFill>
              <a:srgbClr val="9B2C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7373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 &amp; EMOTIONS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18888" y="2148840"/>
            <a:ext cx="4005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 · like · hate · prefer · want · need · wish · mind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063240"/>
            <a:ext cx="4206240" cy="384048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089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3520440"/>
            <a:ext cx="4005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· hear · smell · taste · feel · sound · look (=seem)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0632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5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3063240"/>
            <a:ext cx="4206240" cy="384048"/>
          </a:xfrm>
          <a:prstGeom prst="rect">
            <a:avLst/>
          </a:prstGeom>
          <a:solidFill>
            <a:srgbClr val="C85000"/>
          </a:solidFill>
          <a:ln w="12700">
            <a:solidFill>
              <a:srgbClr val="C85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1089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POSSESSION &amp; STATE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18888" y="3520440"/>
            <a:ext cx="4005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· own · belong · contain · include · consist · exist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CCQ: Can you say "I am wanting a coffee"?  Why / why not?  What should you say instead?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5C2D8F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— Stative Verbs: Choose the Correct Form  ✏️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02920"/>
          </a:xfrm>
          <a:prstGeom prst="rect">
            <a:avLst/>
          </a:prstGeom>
          <a:solidFill>
            <a:srgbClr val="E8DEFA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869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the correct verb form. Remember: stative verbs CANNOT use -ing form!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206240" cy="713232"/>
          </a:xfrm>
          <a:prstGeom prst="rect">
            <a:avLst/>
          </a:prstGeom>
          <a:solidFill>
            <a:srgbClr val="E8DE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7218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 __________ this song. It's beautiful.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013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(love / am loving)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4206240" cy="713232"/>
          </a:xfrm>
          <a:prstGeom prst="rect">
            <a:avLst/>
          </a:prstGeom>
          <a:solidFill>
            <a:srgbClr val="E8DE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47218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She __________ to the music right now.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8013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(listens / is listening)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9514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He __________ three languages fluently.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6243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(knows / is knowing)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29514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We __________ dinner at the moment.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6243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(have / are having)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4206240" cy="713232"/>
          </a:xfrm>
          <a:prstGeom prst="rect">
            <a:avLst/>
          </a:prstGeom>
          <a:solidFill>
            <a:srgbClr val="E8DE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1810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They __________ a new car.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4472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(want / are wanting)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063240"/>
            <a:ext cx="4206240" cy="713232"/>
          </a:xfrm>
          <a:prstGeom prst="rect">
            <a:avLst/>
          </a:prstGeom>
          <a:solidFill>
            <a:srgbClr val="E8DE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11810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coffee __________ great!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4472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(smells / is smelling)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88620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4106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My brother __________ TV every night.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2702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(watches / is watching)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88620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94106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I __________ what you mean.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42702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(understand / am understanding)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86460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Worksheet Section B1  —  Discuss answers with your partner before we review!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C85000"/>
          </a:solidFill>
          <a:ln w="12700">
            <a:solidFill>
              <a:srgbClr val="C85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4 — Expressing Preference: Would Rather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5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8595360" cy="384048"/>
          </a:xfrm>
          <a:prstGeom prst="rect">
            <a:avLst/>
          </a:prstGeom>
          <a:solidFill>
            <a:srgbClr val="C85000"/>
          </a:solidFill>
          <a:ln w="12700">
            <a:solidFill>
              <a:srgbClr val="C85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509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Affirmative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0" y="95097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Subject  +  would rather  +  BASE VERB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rather stay home tonight.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She'd rather watch a film.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240280"/>
            <a:ext cx="8595360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768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227685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Subject  +  would rather  +  NOT  +  BASE VERB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7157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He'd rather not go to the party.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rather not cook tonight.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566160"/>
            <a:ext cx="8595360" cy="384048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6027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(choice)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360273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I'd rather [A]  than  [B]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0416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rather read a book than watch TV.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She'd rather go out than stay in.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FEF9C3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6460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Ask your partner: "Would you rather go to the cinema or stay home tonight?" — use 'd rather than!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C85000"/>
          </a:solidFill>
          <a:ln w="12700">
            <a:solidFill>
              <a:srgbClr val="C85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5 — Prefer  and  As … As  (Comparison)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2926080"/>
          </a:xfrm>
          <a:prstGeom prst="rect">
            <a:avLst/>
          </a:prstGeom>
          <a:solidFill>
            <a:srgbClr val="FDEBD0"/>
          </a:solidFill>
          <a:ln w="12700">
            <a:solidFill>
              <a:srgbClr val="C85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206240" cy="438912"/>
          </a:xfrm>
          <a:prstGeom prst="rect">
            <a:avLst/>
          </a:prstGeom>
          <a:solidFill>
            <a:srgbClr val="C85000"/>
          </a:solidFill>
          <a:ln w="12700">
            <a:solidFill>
              <a:srgbClr val="C85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50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335024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+ noun / verb-ing
</a:t>
            </a:r>
            <a:r>
              <a:rPr lang="en-US" sz="12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prefer reading to watching TV.
She prefers coffee to tea.
</a:t>
            </a:r>
            <a:r>
              <a:rPr lang="en-US" sz="1200" b="1" dirty="0">
                <a:solidFill>
                  <a:srgbClr val="C8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prefer + to + infinitive
</a:t>
            </a:r>
            <a:r>
              <a:rPr lang="en-US" sz="12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prefer to read a book.
She'd prefer to stay home.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206240" cy="2926080"/>
          </a:xfrm>
          <a:prstGeom prst="rect">
            <a:avLst/>
          </a:prstGeom>
          <a:solidFill>
            <a:srgbClr val="D6E8FA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822960"/>
            <a:ext cx="4206240" cy="43891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850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… AS  (equal comparisons)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335024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Positive: as + adjective/adverb + as
</a:t>
            </a:r>
            <a:r>
              <a:rPr lang="en-US" sz="12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movie is as good as the book.
She runs as fast as her brother.
</a:t>
            </a:r>
            <a:r>
              <a:rPr lang="en-US" sz="1200" b="1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Negative: not as + adj + as
</a:t>
            </a:r>
            <a:r>
              <a:rPr lang="en-US" sz="12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sequel is not as exciting as the first.
TV is not as engaging as books.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886200"/>
            <a:ext cx="8595360" cy="530352"/>
          </a:xfrm>
          <a:prstGeom prst="rect">
            <a:avLst/>
          </a:prstGeom>
          <a:solidFill>
            <a:srgbClr val="FEF9C3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886200"/>
            <a:ext cx="73152" cy="530352"/>
          </a:xfrm>
          <a:prstGeom prst="rect">
            <a:avLst/>
          </a:prstGeom>
          <a:solidFill>
            <a:srgbClr val="A1620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95020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Guided Question: How is 'prefer' different from 'would rather'?  Can they always replace each other?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526280"/>
            <a:ext cx="859536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54456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Worksheet Section B2  —  Write 3 sentences using prefer and 2 using as…as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7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0F2A5E">
              <a:alpha val="40000"/>
            </a:srgbClr>
          </a:solidFill>
          <a:ln w="12700">
            <a:solidFill>
              <a:srgbClr val="0F2A5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D5FA8">
              <a:alpha val="45000"/>
            </a:srgbClr>
          </a:solidFill>
          <a:ln w="12700">
            <a:solidFill>
              <a:srgbClr val="1D5FA8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600" dirty="0">
                <a:solidFill>
                  <a:srgbClr val="C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"I'll go out tonight."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474720" y="2651760"/>
            <a:ext cx="2194560" cy="54864"/>
          </a:xfrm>
          <a:prstGeom prst="rect">
            <a:avLst/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Tenses · Modals of Possibility · That Clause · Modal Suggestions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Warm-up: Tell your partner ONE plan you have for next week.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6 — Future Tenses: Will vs. Going To vs. Present Continuous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41248"/>
            <a:ext cx="1280160" cy="1261872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41248"/>
            <a:ext cx="12801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decisions made NOW · predictions · promises · offers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129844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help you with that.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rain tomorrow, I think.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call you later, I promise.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89320" y="129844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words: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· probably · I'm sure · I promise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31136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31136"/>
            <a:ext cx="1280160" cy="1261872"/>
          </a:xfrm>
          <a:prstGeom prst="rect">
            <a:avLst/>
          </a:prstGeom>
          <a:solidFill>
            <a:srgbClr val="5C2D8F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31136"/>
            <a:ext cx="12801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5920" y="230428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plans decided BEFORE now · predictions with evidence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2688336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going to visit my relatives next month.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those clouds — it's going to rain!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2688336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words: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 · next week · soon · (evidence around you)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621024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5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621024"/>
            <a:ext cx="1280160" cy="1261872"/>
          </a:xfrm>
          <a:prstGeom prst="rect">
            <a:avLst/>
          </a:prstGeom>
          <a:solidFill>
            <a:srgbClr val="C85000"/>
          </a:solidFill>
          <a:ln w="12700">
            <a:solidFill>
              <a:srgbClr val="C85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621024"/>
            <a:ext cx="12801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PRES. CONT.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5920" y="369417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arranged plans (diary plans with other people)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0" y="4078224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meeting Sarah at 7pm.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seeing a film on Saturday.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89320" y="4078224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words: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 · tomorrow · this weekend · on + day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5029200"/>
            <a:ext cx="8595360" cy="164592"/>
          </a:xfrm>
          <a:prstGeom prst="rect">
            <a:avLst/>
          </a:prstGeom>
          <a:solidFill>
            <a:srgbClr val="FEF9C3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5047488"/>
            <a:ext cx="8412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CCQ: "I think it will rain" vs "Look — it's going to rain." — what is the difference? Why?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B7A6E">
              <a:alpha val="22000"/>
            </a:srgbClr>
          </a:solidFill>
          <a:ln w="12700">
            <a:solidFill>
              <a:srgbClr val="0B7A6E">
                <a:alpha val="2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TEAM CHALLENGE — Future Tenses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gap with WILL, GOING TO, or Present Continuous. Give a reason for your answer!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8503920" cy="640080"/>
          </a:xfrm>
          <a:prstGeom prst="rect">
            <a:avLst/>
          </a:prstGeom>
          <a:solidFill>
            <a:srgbClr val="0F2A5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"Look at that sky! It ________ (rain)."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69480" y="1389888"/>
            <a:ext cx="1463040" cy="411480"/>
          </a:xfrm>
          <a:prstGeom prst="roundRect">
            <a:avLst>
              <a:gd name="adj" fmla="val 26667"/>
            </a:avLst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138988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visible → 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8503920" cy="640080"/>
          </a:xfrm>
          <a:prstGeom prst="rect">
            <a:avLst/>
          </a:prstGeom>
          <a:solidFill>
            <a:srgbClr val="0F2A5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8483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"I ________ (meet) Laura for coffee at 3pm."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69480" y="2103120"/>
            <a:ext cx="1463040" cy="411480"/>
          </a:xfrm>
          <a:prstGeom prst="roundRect">
            <a:avLst>
              <a:gd name="adj" fmla="val 26667"/>
            </a:avLst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2103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diary plan with someone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724912"/>
            <a:ext cx="8503920" cy="640080"/>
          </a:xfrm>
          <a:prstGeom prst="rect">
            <a:avLst/>
          </a:prstGeom>
          <a:solidFill>
            <a:srgbClr val="0F2A5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9806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"A: I don't have any money! B: Don't worry, I ________ (lend) you some."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69480" y="2816352"/>
            <a:ext cx="1463040" cy="411480"/>
          </a:xfrm>
          <a:prstGeom prst="roundRect">
            <a:avLst>
              <a:gd name="adj" fmla="val 26667"/>
            </a:avLst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28163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spontaneous decision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438144"/>
            <a:ext cx="8503920" cy="640080"/>
          </a:xfrm>
          <a:prstGeom prst="rect">
            <a:avLst/>
          </a:prstGeom>
          <a:solidFill>
            <a:srgbClr val="0F2A5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1129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"She ________ (study) medicine at university next year."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69480" y="3529584"/>
            <a:ext cx="1463040" cy="411480"/>
          </a:xfrm>
          <a:prstGeom prst="roundRect">
            <a:avLst>
              <a:gd name="adj" fmla="val 26667"/>
            </a:avLst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352958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before now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4151376"/>
            <a:ext cx="8503920" cy="640080"/>
          </a:xfrm>
          <a:prstGeom prst="rect">
            <a:avLst/>
          </a:prstGeom>
          <a:solidFill>
            <a:srgbClr val="0F2A5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22452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"I think robots ________ (replace) many jobs in the future."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69480" y="4242816"/>
            <a:ext cx="1463040" cy="411480"/>
          </a:xfrm>
          <a:prstGeom prst="roundRect">
            <a:avLst>
              <a:gd name="adj" fmla="val 26667"/>
            </a:avLst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424281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prediction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91947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Worksheet Section C1  —  First person to finish correctly wins a point for their team!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5C2D8F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7 — Modals of Possibility: Might / May / Could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solidFill>
            <a:srgbClr val="E8DEFA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594360"/>
          </a:xfrm>
          <a:prstGeom prst="rect">
            <a:avLst/>
          </a:prstGeom>
          <a:solidFill>
            <a:srgbClr val="5C2D8F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modals express that something is POSSIBLE — we are NOT sure if it will happen.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8595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536192"/>
            <a:ext cx="1188720" cy="987552"/>
          </a:xfrm>
          <a:prstGeom prst="rect">
            <a:avLst/>
          </a:prstGeom>
          <a:solidFill>
            <a:srgbClr val="5C2D8F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36192"/>
            <a:ext cx="1188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159105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— less sure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190195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It might rain tonight.   ❌ It might not be a good idea.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221284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Do you think she might come?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633472"/>
            <a:ext cx="8595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633472"/>
            <a:ext cx="1188720" cy="98755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33472"/>
            <a:ext cx="1188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268833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~50–60% — slightly more formal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299923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 may go to the party.   ❌ She may not arrive on time.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331012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May I ask you something?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730752"/>
            <a:ext cx="8595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730752"/>
            <a:ext cx="1188720" cy="987552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730752"/>
            <a:ext cx="1188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378561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— one of several possibilities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54480" y="409651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He could be stuck in traffic.   ❌ It couldn't be true! (= impossible)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440740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Could this be the answer?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FEF9C3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6460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CCQ: Is there a difference between "It might rain" and "It will rain"?  Explain to your partner.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57A4A"/>
          </a:solidFill>
          <a:ln w="12700">
            <a:solidFill>
              <a:srgbClr val="15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8 — That Clause  &amp;  Suggesting with Modal Verbs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206240" cy="2423160"/>
          </a:xfrm>
          <a:prstGeom prst="rect">
            <a:avLst/>
          </a:prstGeom>
          <a:solidFill>
            <a:srgbClr val="CDEEDE"/>
          </a:solidFill>
          <a:ln w="12700">
            <a:solidFill>
              <a:srgbClr val="157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41248"/>
            <a:ext cx="4206240" cy="438912"/>
          </a:xfrm>
          <a:prstGeom prst="rect">
            <a:avLst/>
          </a:prstGeom>
          <a:solidFill>
            <a:srgbClr val="157A4A"/>
          </a:solidFill>
          <a:ln w="12700">
            <a:solidFill>
              <a:srgbClr val="15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CLAUSE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977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/ believe / know / say / feel + that
</a:t>
            </a:r>
            <a:r>
              <a:rPr lang="en-US" sz="11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that </a:t>
            </a: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restaurant is great.
</a:t>
            </a:r>
            <a:r>
              <a:rPr lang="en-US" sz="11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believes that </a:t>
            </a: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will succeed.
</a:t>
            </a:r>
            <a:r>
              <a:rPr lang="en-US" sz="11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say that </a:t>
            </a: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film is boring.
</a:t>
            </a:r>
            <a:r>
              <a:rPr lang="en-US" sz="1100" b="1" dirty="0">
                <a:solidFill>
                  <a:srgbClr val="C8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'That' is optional in speaking:
</a:t>
            </a: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(that) it's a great idea.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41248"/>
            <a:ext cx="4206240" cy="2423160"/>
          </a:xfrm>
          <a:prstGeom prst="rect">
            <a:avLst/>
          </a:prstGeom>
          <a:solidFill>
            <a:srgbClr val="D6E8FA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841248"/>
            <a:ext cx="4206240" cy="438912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868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SUGGESTING WITH MODALS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371600"/>
            <a:ext cx="3977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/ could / why don't we / let's
</a:t>
            </a:r>
            <a:r>
              <a:rPr lang="en-US" sz="11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should </a:t>
            </a: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cinema.
</a:t>
            </a:r>
            <a:r>
              <a:rPr lang="en-US" sz="11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could </a:t>
            </a: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the museum.
</a:t>
            </a:r>
            <a:r>
              <a:rPr lang="en-US" sz="11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don't we </a:t>
            </a: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day trip?
</a:t>
            </a:r>
            <a:r>
              <a:rPr lang="en-US" sz="11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</a:t>
            </a: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that new restaurant!
</a:t>
            </a:r>
            <a:r>
              <a:rPr lang="en-US" sz="11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about </a:t>
            </a: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for a walk?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401568"/>
            <a:ext cx="8595360" cy="100584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56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 SPEAKING TASK — Plan a Weekend Trip Together!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8221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pairs. Use should / could / why don't we / let's / I think that to plan a day trip.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must: choose a place · suggest activities · arrange meeting time · use at least 4 different modal/suggestion phrases.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4480560"/>
            <a:ext cx="859536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49884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Write your plan in Worksheet Section D2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Review — Key Words &amp; Phrases from Units 1 &amp;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14400"/>
            <a:ext cx="2743200" cy="41148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601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Activities (U1)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game night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5506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event planner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89280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group activity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13055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get together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36829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hang out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6060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go out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9601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Dinner &amp; Plans (U1)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0128" y="141732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dinner plans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165506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make a reservation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189280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have people over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213055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pick up a takeaway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0128" y="236829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go for a meal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0128" y="26060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catch up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44768" y="91440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44768" y="914400"/>
            <a:ext cx="2743200" cy="411480"/>
          </a:xfrm>
          <a:prstGeom prst="rect">
            <a:avLst/>
          </a:prstGeom>
          <a:solidFill>
            <a:srgbClr val="5C2D8F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9601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&amp; Movies (U1)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54496" y="141732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documentary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54496" y="165506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reality show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54496" y="189280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series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54496" y="213055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streaming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54496" y="236829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based 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54496" y="26060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plot twist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297180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B2C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2971800"/>
            <a:ext cx="2743200" cy="411480"/>
          </a:xfrm>
          <a:prstGeom prst="rect">
            <a:avLst/>
          </a:prstGeom>
          <a:solidFill>
            <a:srgbClr val="9B2C4A"/>
          </a:solidFill>
          <a:ln w="12700">
            <a:solidFill>
              <a:srgbClr val="9B2C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0175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Dating &amp; Nightlife (U2)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347472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blind date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371246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ask someone out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395020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go on a date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18795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nightlife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42569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bar hopping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6634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live music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0" y="297180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7A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2971800"/>
            <a:ext cx="2743200" cy="411480"/>
          </a:xfrm>
          <a:prstGeom prst="rect">
            <a:avLst/>
          </a:prstGeom>
          <a:solidFill>
            <a:srgbClr val="157A4A"/>
          </a:solidFill>
          <a:ln w="12700">
            <a:solidFill>
              <a:srgbClr val="157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30175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&amp; Day Trips (U2)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10128" y="347472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day trip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10128" y="371246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sightseeing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10128" y="395020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local attraction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10128" y="418795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road trip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10128" y="442569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explore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310128" y="46634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packed lunch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44768" y="297180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5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44768" y="2971800"/>
            <a:ext cx="2743200" cy="411480"/>
          </a:xfrm>
          <a:prstGeom prst="rect">
            <a:avLst/>
          </a:prstGeom>
          <a:solidFill>
            <a:srgbClr val="C85000"/>
          </a:solidFill>
          <a:ln w="12700">
            <a:solidFill>
              <a:srgbClr val="C85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36208" y="30175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&amp; Movies (U1)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254496" y="347472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bestseller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54496" y="371246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adaptation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54496" y="395020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review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254496" y="418795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recommend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54496" y="442569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I'd rather read…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254496" y="46634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 my opinion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D5FA8">
              <a:alpha val="18000"/>
            </a:srgbClr>
          </a:solidFill>
          <a:ln w="12700">
            <a:solidFill>
              <a:srgbClr val="1D5FA8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  VOCABULARY GAME — Hot Seat!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sits facing AWAY from the board. Their partner describes the word on screen.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gestures — words ONLY! The seated student must guess the word.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600200" cy="1097280"/>
          </a:xfrm>
          <a:prstGeom prst="roundRect">
            <a:avLst>
              <a:gd name="adj" fmla="val 10000"/>
            </a:avLst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002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night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1600200" cy="73152"/>
          </a:xfrm>
          <a:prstGeom prst="rect">
            <a:avLst/>
          </a:prstGeom>
          <a:solidFill>
            <a:srgbClr val="1D5FA8">
              <a:alpha val="50000"/>
            </a:srgbClr>
          </a:solidFill>
          <a:ln w="12700">
            <a:solidFill>
              <a:srgbClr val="1D5FA8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1600200"/>
            <a:ext cx="1600200" cy="1097280"/>
          </a:xfrm>
          <a:prstGeom prst="roundRect">
            <a:avLst>
              <a:gd name="adj" fmla="val 10000"/>
            </a:avLst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6002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date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03120" y="1600200"/>
            <a:ext cx="1600200" cy="73152"/>
          </a:xfrm>
          <a:prstGeom prst="rect">
            <a:avLst/>
          </a:prstGeom>
          <a:solidFill>
            <a:srgbClr val="1D5FA8">
              <a:alpha val="50000"/>
            </a:srgbClr>
          </a:solidFill>
          <a:ln w="12700">
            <a:solidFill>
              <a:srgbClr val="1D5FA8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1600200"/>
            <a:ext cx="1600200" cy="1097280"/>
          </a:xfrm>
          <a:prstGeom prst="roundRect">
            <a:avLst>
              <a:gd name="adj" fmla="val 10000"/>
            </a:avLst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6002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trip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0" y="1600200"/>
            <a:ext cx="1600200" cy="73152"/>
          </a:xfrm>
          <a:prstGeom prst="rect">
            <a:avLst/>
          </a:prstGeom>
          <a:solidFill>
            <a:srgbClr val="1D5FA8">
              <a:alpha val="50000"/>
            </a:srgbClr>
          </a:solidFill>
          <a:ln w="12700">
            <a:solidFill>
              <a:srgbClr val="1D5FA8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1600200"/>
            <a:ext cx="1600200" cy="1097280"/>
          </a:xfrm>
          <a:prstGeom prst="roundRect">
            <a:avLst>
              <a:gd name="adj" fmla="val 10000"/>
            </a:avLst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6002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577840" y="1600200"/>
            <a:ext cx="1600200" cy="73152"/>
          </a:xfrm>
          <a:prstGeom prst="rect">
            <a:avLst/>
          </a:prstGeom>
          <a:solidFill>
            <a:srgbClr val="1D5FA8">
              <a:alpha val="50000"/>
            </a:srgbClr>
          </a:solidFill>
          <a:ln w="12700">
            <a:solidFill>
              <a:srgbClr val="1D5FA8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1600200"/>
            <a:ext cx="1600200" cy="1097280"/>
          </a:xfrm>
          <a:prstGeom prst="roundRect">
            <a:avLst>
              <a:gd name="adj" fmla="val 10000"/>
            </a:avLst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16002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on a date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0" y="1600200"/>
            <a:ext cx="1600200" cy="73152"/>
          </a:xfrm>
          <a:prstGeom prst="rect">
            <a:avLst/>
          </a:prstGeom>
          <a:solidFill>
            <a:srgbClr val="1D5FA8">
              <a:alpha val="50000"/>
            </a:srgbClr>
          </a:solidFill>
          <a:ln w="12700">
            <a:solidFill>
              <a:srgbClr val="1D5FA8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71800"/>
            <a:ext cx="1600200" cy="1097280"/>
          </a:xfrm>
          <a:prstGeom prst="roundRect">
            <a:avLst>
              <a:gd name="adj" fmla="val 10000"/>
            </a:avLst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9718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show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1600200" cy="73152"/>
          </a:xfrm>
          <a:prstGeom prst="rect">
            <a:avLst/>
          </a:prstGeom>
          <a:solidFill>
            <a:srgbClr val="1D5FA8">
              <a:alpha val="50000"/>
            </a:srgbClr>
          </a:solidFill>
          <a:ln w="12700">
            <a:solidFill>
              <a:srgbClr val="1D5FA8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03120" y="2971800"/>
            <a:ext cx="1600200" cy="1097280"/>
          </a:xfrm>
          <a:prstGeom prst="roundRect">
            <a:avLst>
              <a:gd name="adj" fmla="val 10000"/>
            </a:avLst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0" y="29718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nightlife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103120" y="2971800"/>
            <a:ext cx="1600200" cy="73152"/>
          </a:xfrm>
          <a:prstGeom prst="rect">
            <a:avLst/>
          </a:prstGeom>
          <a:solidFill>
            <a:srgbClr val="1D5FA8">
              <a:alpha val="50000"/>
            </a:srgbClr>
          </a:solidFill>
          <a:ln w="12700">
            <a:solidFill>
              <a:srgbClr val="1D5FA8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0" y="2971800"/>
            <a:ext cx="1600200" cy="1097280"/>
          </a:xfrm>
          <a:prstGeom prst="roundRect">
            <a:avLst>
              <a:gd name="adj" fmla="val 10000"/>
            </a:avLst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29718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bestseller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840480" y="2971800"/>
            <a:ext cx="1600200" cy="73152"/>
          </a:xfrm>
          <a:prstGeom prst="rect">
            <a:avLst/>
          </a:prstGeom>
          <a:solidFill>
            <a:srgbClr val="1D5FA8">
              <a:alpha val="50000"/>
            </a:srgbClr>
          </a:solidFill>
          <a:ln w="12700">
            <a:solidFill>
              <a:srgbClr val="1D5FA8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2971800"/>
            <a:ext cx="1600200" cy="1097280"/>
          </a:xfrm>
          <a:prstGeom prst="roundRect">
            <a:avLst>
              <a:gd name="adj" fmla="val 10000"/>
            </a:avLst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29718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sightseeing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577840" y="2971800"/>
            <a:ext cx="1600200" cy="73152"/>
          </a:xfrm>
          <a:prstGeom prst="rect">
            <a:avLst/>
          </a:prstGeom>
          <a:solidFill>
            <a:srgbClr val="1D5FA8">
              <a:alpha val="50000"/>
            </a:srgbClr>
          </a:solidFill>
          <a:ln w="12700">
            <a:solidFill>
              <a:srgbClr val="1D5FA8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2971800"/>
            <a:ext cx="1600200" cy="1097280"/>
          </a:xfrm>
          <a:prstGeom prst="roundRect">
            <a:avLst>
              <a:gd name="adj" fmla="val 10000"/>
            </a:avLst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29718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dinner plans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200" y="2971800"/>
            <a:ext cx="1600200" cy="73152"/>
          </a:xfrm>
          <a:prstGeom prst="rect">
            <a:avLst/>
          </a:prstGeom>
          <a:solidFill>
            <a:srgbClr val="1D5FA8">
              <a:alpha val="50000"/>
            </a:srgbClr>
          </a:solidFill>
          <a:ln w="12700">
            <a:solidFill>
              <a:srgbClr val="1D5FA8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Write 2 example sentences using vocabulary from this unit in Worksheet Section E1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5C2D8F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9 — Making Predictions &amp; Expressing Probability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48640"/>
          </a:xfrm>
          <a:prstGeom prst="rect">
            <a:avLst/>
          </a:prstGeom>
          <a:solidFill>
            <a:srgbClr val="E8DEFA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548640"/>
          </a:xfrm>
          <a:prstGeom prst="rect">
            <a:avLst/>
          </a:prstGeom>
          <a:solidFill>
            <a:srgbClr val="5C2D8F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future tenses WITH modals to express HOW CERTAIN you are about the future: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859536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554480"/>
            <a:ext cx="1463040" cy="347472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5636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5636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definitely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15636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definitely be a great trip.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039112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112264"/>
            <a:ext cx="1261872" cy="347472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12140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21214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probably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21214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will probably get the job.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596896"/>
            <a:ext cx="859536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670048"/>
            <a:ext cx="1060704" cy="347472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679192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20240" y="26791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might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0" y="2679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may come to the party.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15468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227832"/>
            <a:ext cx="859536" cy="347472"/>
          </a:xfrm>
          <a:prstGeom prst="rect">
            <a:avLst/>
          </a:prstGeom>
          <a:solidFill>
            <a:srgbClr val="C85000"/>
          </a:solidFill>
          <a:ln w="12700">
            <a:solidFill>
              <a:srgbClr val="C85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236976"/>
            <a:ext cx="859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20240" y="32369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 / could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0" y="32369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could be a problem.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712464"/>
            <a:ext cx="859536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785616"/>
            <a:ext cx="658368" cy="347472"/>
          </a:xfrm>
          <a:prstGeom prst="rect">
            <a:avLst/>
          </a:prstGeom>
          <a:solidFill>
            <a:srgbClr val="C85000"/>
          </a:solidFill>
          <a:ln w="12700">
            <a:solidFill>
              <a:srgbClr val="C85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79476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2024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probably won't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probably won't finish in time.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270248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4343400"/>
            <a:ext cx="457200" cy="347472"/>
          </a:xfrm>
          <a:prstGeom prst="rect">
            <a:avLst/>
          </a:prstGeom>
          <a:solidFill>
            <a:srgbClr val="C85000"/>
          </a:solidFill>
          <a:ln w="12700">
            <a:solidFill>
              <a:srgbClr val="C85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43525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920240" y="43525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definitely won't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389120" y="43525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definitely won't cancel.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86460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Worksheet Section C2 — rank predictions about YOUR future!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D5FA8">
              <a:alpha val="20000"/>
            </a:srgbClr>
          </a:solidFill>
          <a:ln w="12700">
            <a:solidFill>
              <a:srgbClr val="1D5FA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0B7A6E">
              <a:alpha val="22000"/>
            </a:srgbClr>
          </a:solidFill>
          <a:ln w="12700">
            <a:solidFill>
              <a:srgbClr val="0B7A6E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MIDTERM REVIEW QUIZ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teams — 1 point per correct answer. Fastest correct answer gets a bonus point!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2743200" cy="1508760"/>
          </a:xfrm>
          <a:prstGeom prst="rect">
            <a:avLst/>
          </a:prstGeom>
          <a:solidFill>
            <a:srgbClr val="1A2035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44752"/>
            <a:ext cx="2743200" cy="384048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90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Tenses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error: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'She don't watching TV now.'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44752"/>
            <a:ext cx="2743200" cy="1508760"/>
          </a:xfrm>
          <a:prstGeom prst="rect">
            <a:avLst/>
          </a:prstGeom>
          <a:solidFill>
            <a:srgbClr val="1A2035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444752"/>
            <a:ext cx="2743200" cy="384048"/>
          </a:xfrm>
          <a:prstGeom prst="rect">
            <a:avLst/>
          </a:prstGeom>
          <a:solidFill>
            <a:srgbClr val="5C2D8F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490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Stative Verbs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False: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 am knowing the answer' is correct English.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444752"/>
            <a:ext cx="2743200" cy="1508760"/>
          </a:xfrm>
          <a:prstGeom prst="rect">
            <a:avLst/>
          </a:prstGeom>
          <a:solidFill>
            <a:srgbClr val="1A2035"/>
          </a:solidFill>
          <a:ln w="12700">
            <a:solidFill>
              <a:srgbClr val="C85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44752"/>
            <a:ext cx="2743200" cy="384048"/>
          </a:xfrm>
          <a:prstGeom prst="rect">
            <a:avLst/>
          </a:prstGeom>
          <a:solidFill>
            <a:srgbClr val="C85000"/>
          </a:solidFill>
          <a:ln w="12700">
            <a:solidFill>
              <a:srgbClr val="C85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490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Rather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92024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Complete: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'I'd rather ___ coffee than tea.'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090672"/>
            <a:ext cx="2743200" cy="1508760"/>
          </a:xfrm>
          <a:prstGeom prst="rect">
            <a:avLst/>
          </a:prstGeom>
          <a:solidFill>
            <a:srgbClr val="1A2035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090672"/>
            <a:ext cx="2743200" cy="384048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1363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Will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56616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correct?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I'm going call you.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I'll call you later.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3090672"/>
            <a:ext cx="2743200" cy="1508760"/>
          </a:xfrm>
          <a:prstGeom prst="rect">
            <a:avLst/>
          </a:prstGeom>
          <a:solidFill>
            <a:srgbClr val="1A2035"/>
          </a:solidFill>
          <a:ln w="12700">
            <a:solidFill>
              <a:srgbClr val="157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3090672"/>
            <a:ext cx="2743200" cy="384048"/>
          </a:xfrm>
          <a:prstGeom prst="rect">
            <a:avLst/>
          </a:prstGeom>
          <a:solidFill>
            <a:srgbClr val="157A4A"/>
          </a:solidFill>
          <a:ln w="12700">
            <a:solidFill>
              <a:srgbClr val="15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1363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37560" y="356616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in: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'It _____ rain tonight — look at the clouds!'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3090672"/>
            <a:ext cx="2743200" cy="1508760"/>
          </a:xfrm>
          <a:prstGeom prst="rect">
            <a:avLst/>
          </a:prstGeom>
          <a:solidFill>
            <a:srgbClr val="1A2035"/>
          </a:solidFill>
          <a:ln w="12700">
            <a:solidFill>
              <a:srgbClr val="9B2C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3090672"/>
            <a:ext cx="2743200" cy="384048"/>
          </a:xfrm>
          <a:prstGeom prst="rect">
            <a:avLst/>
          </a:prstGeom>
          <a:solidFill>
            <a:srgbClr val="9B2C4A"/>
          </a:solidFill>
          <a:ln w="12700">
            <a:solidFill>
              <a:srgbClr val="9B2C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1363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3566160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'blind date' mean?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in a sentence.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A5E"/>
          </a:solidFill>
          <a:ln w="12700">
            <a:solidFill>
              <a:srgbClr val="0F2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Exam Tips — What to Focus 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788920" cy="457200"/>
          </a:xfrm>
          <a:prstGeom prst="rect">
            <a:avLst/>
          </a:prstGeom>
          <a:solidFill>
            <a:srgbClr val="1D5FA8"/>
          </a:solidFill>
          <a:ln w="12700">
            <a:solidFill>
              <a:srgbClr val="1D5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926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Present Continuous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481328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check: is it NOW or a FUTURE PLAN? Time signals help!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14400"/>
            <a:ext cx="2788920" cy="457200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96926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Simple Present vs. Continuous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481328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= Simple Present. Actions in progress = Present Continuous.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914400"/>
            <a:ext cx="2788920" cy="457200"/>
          </a:xfrm>
          <a:prstGeom prst="rect">
            <a:avLst/>
          </a:prstGeom>
          <a:solidFill>
            <a:srgbClr val="5C2D8F"/>
          </a:solidFill>
          <a:ln w="12700">
            <a:solidFill>
              <a:srgbClr val="5C2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96926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Stative Verbs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36208" y="1481328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stative verbs in -ing form. Memorise the categories!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5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26080"/>
            <a:ext cx="2788920" cy="457200"/>
          </a:xfrm>
          <a:prstGeom prst="rect">
            <a:avLst/>
          </a:prstGeom>
          <a:solidFill>
            <a:srgbClr val="C85000"/>
          </a:solidFill>
          <a:ln w="12700">
            <a:solidFill>
              <a:srgbClr val="C85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809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Would Rather / Prefer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493008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'I'd rather + base verb' / 'I prefer + noun/verb-ing'. Don't mix them up!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B2C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926080"/>
            <a:ext cx="2788920" cy="457200"/>
          </a:xfrm>
          <a:prstGeom prst="rect">
            <a:avLst/>
          </a:prstGeom>
          <a:solidFill>
            <a:srgbClr val="9B2C4A"/>
          </a:solidFill>
          <a:ln w="12700">
            <a:solidFill>
              <a:srgbClr val="9B2C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9809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Future Tenses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3493008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= spontaneous. Going to = pre-planned. Pres. Cont. = arranged with others.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7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2926080"/>
            <a:ext cx="2788920" cy="457200"/>
          </a:xfrm>
          <a:prstGeom prst="rect">
            <a:avLst/>
          </a:prstGeom>
          <a:solidFill>
            <a:srgbClr val="157A4A"/>
          </a:solidFill>
          <a:ln w="12700">
            <a:solidFill>
              <a:srgbClr val="15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9809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Modals of Possibility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36208" y="3493008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 ≈ may ≈ could — all mean POSSIBLE. 'Will' means CERTAIN.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B7A6E">
              <a:alpha val="25000"/>
            </a:srgbClr>
          </a:solidFill>
          <a:ln w="12700">
            <a:solidFill>
              <a:srgbClr val="0B7A6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2743200"/>
            <a:ext cx="3200400" cy="3200400"/>
          </a:xfrm>
          <a:prstGeom prst="ellipse">
            <a:avLst/>
          </a:prstGeom>
          <a:solidFill>
            <a:srgbClr val="1D5FA8">
              <a:alpha val="28000"/>
            </a:srgbClr>
          </a:solidFill>
          <a:ln w="12700">
            <a:solidFill>
              <a:srgbClr val="1D5FA8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4572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🌟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Got This!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200400" y="2487168"/>
            <a:ext cx="2743200" cy="54864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 Level 9 Midterm — CAM-ASEAN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31089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 your Study Guide before the exam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349300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Review all grammar rules + vocabulary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387705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Finish the Worksheet for extra practice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426110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Ask your teacher if you have questions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E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luck from your CAM-ASEAN English team! 💪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GEP Level 9 Midterm Review</dc:title>
  <dc:subject>PptxGenJS Presentation</dc:subject>
  <dc:creator>PptxGenJS</dc:creator>
  <cp:lastModifiedBy>Tokozile Roberts</cp:lastModifiedBy>
  <cp:revision>2</cp:revision>
  <dcterms:created xsi:type="dcterms:W3CDTF">2026-04-28T00:58:50Z</dcterms:created>
  <dcterms:modified xsi:type="dcterms:W3CDTF">2026-04-28T05:54:13Z</dcterms:modified>
</cp:coreProperties>
</file>