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182880"/>
            <a:ext cx="2286000" cy="2286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1645920" cy="1645920"/>
          </a:xfrm>
          <a:prstGeom prst="ellipse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0" y="411480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BCC"/>
                </a:solidFill>
                <a:latin typeface="Calibri"/>
              </a:rPr>
              <a:t>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CORRECT SENTENCES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43891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262432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When to use S  ·  Choosing the Next Word  ·  Easy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429000"/>
            <a:ext cx="2651760" cy="141732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8"/>
                </a:solidFill>
                <a:latin typeface="Calibri"/>
              </a:rPr>
              <a:t>Subject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886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429000"/>
            <a:ext cx="2651760" cy="141732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Verb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429000"/>
            <a:ext cx="2651760" cy="141732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Calibri"/>
              </a:rPr>
              <a:t>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8862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800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99"/>
                </a:solidFill>
                <a:latin typeface="Calibri"/>
              </a:rPr>
              <a:t>English Grammar · Beginner to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THE GOLDEN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6213E"/>
                </a:solidFill>
                <a:latin typeface="Calibri"/>
              </a:rPr>
              <a:t>Every English sentence follows this pattern: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194560" cy="155448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Who?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202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45920"/>
            <a:ext cx="2194560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VERB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Action?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194560" cy="1554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What?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13E"/>
                </a:solidFill>
                <a:latin typeface="Calibri"/>
              </a:rPr>
              <a:t>Examples: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13632"/>
            <a:ext cx="804672" cy="50292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913632"/>
            <a:ext cx="80467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913632"/>
            <a:ext cx="804672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pizza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913632"/>
            <a:ext cx="804672" cy="50292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913632"/>
            <a:ext cx="80467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913632"/>
            <a:ext cx="804672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football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13632"/>
            <a:ext cx="804672" cy="50292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913632"/>
            <a:ext cx="80467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8660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3913632"/>
            <a:ext cx="804672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0" y="3922776"/>
            <a:ext cx="804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💡 Know the pattern → choose the right word!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HOW TO CHOOSE THE NEXT WORD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188720"/>
            <a:ext cx="685800" cy="685800"/>
          </a:xfrm>
          <a:prstGeom prst="ellipse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097280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1097280"/>
            <a:ext cx="73152" cy="105156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WHO? = 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184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88"/>
                </a:solidFill>
                <a:latin typeface="Calibri"/>
              </a:rPr>
              <a:t>I · You · We · They · He · She · It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2450592"/>
            <a:ext cx="685800" cy="6858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40487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359152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2359152"/>
            <a:ext cx="73152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4048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ACTION? = Verb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880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88"/>
                </a:solidFill>
                <a:latin typeface="Calibri"/>
              </a:rPr>
              <a:t>eat · go · play · study · watch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3712463"/>
            <a:ext cx="685800" cy="68580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66674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621024"/>
            <a:ext cx="7772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3621024"/>
            <a:ext cx="73152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3666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WHAT? =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4223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88"/>
                </a:solidFill>
                <a:latin typeface="Calibri"/>
              </a:rPr>
              <a:t>food · cinema · school · games · music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87952"/>
            <a:ext cx="8595360" cy="7498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42816"/>
            <a:ext cx="8321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Calibri"/>
              </a:rPr>
              <a:t>👉  "She…"  →  Next must be a VERB     ·     "She plays…"  →  Next must be an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THE S RULE  — Most Important!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33271"/>
            <a:ext cx="82296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  <a:latin typeface="Calibri"/>
              </a:rPr>
              <a:t>⭐  He / She / It  →  Add  "S"  to the Verb  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2560320" cy="173736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1097280" cy="4572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9923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6B"/>
                </a:solidFill>
                <a:latin typeface="Calibri"/>
              </a:rPr>
              <a:t>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9923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99923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8"/>
                </a:solidFill>
                <a:latin typeface="Calibri"/>
              </a:rPr>
              <a:t>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  <a:latin typeface="Calibri"/>
              </a:rPr>
              <a:t>✓ Correct!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331720"/>
            <a:ext cx="2560320" cy="173736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2450592"/>
            <a:ext cx="1097280" cy="4572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45973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99923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6B"/>
                </a:solidFill>
                <a:latin typeface="Calibri"/>
              </a:rPr>
              <a:t>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9923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9923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8"/>
                </a:solidFill>
                <a:latin typeface="Calibri"/>
              </a:rPr>
              <a:t>plays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56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  <a:latin typeface="Calibri"/>
              </a:rPr>
              <a:t>✓ Correct!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31720"/>
            <a:ext cx="2560320" cy="1737360"/>
          </a:xfrm>
          <a:prstGeom prst="rect">
            <a:avLst/>
          </a:prstGeom>
          <a:solidFill>
            <a:srgbClr val="25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450592"/>
            <a:ext cx="1097280" cy="4572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5973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99923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6B"/>
                </a:solidFill>
                <a:latin typeface="Calibri"/>
              </a:rPr>
              <a:t>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99923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99923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8"/>
                </a:solidFill>
                <a:latin typeface="Calibri"/>
              </a:rPr>
              <a:t>rains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56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  <a:latin typeface="Calibri"/>
              </a:rPr>
              <a:t>✓ Correct!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822960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79392"/>
            <a:ext cx="8229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🎵  Chant it:  "He, She, It — Add the S!  He, She, It — Add the S!"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 S — These subjects NEVER take 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069080" cy="3794760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374"/>
                </a:solidFill>
                <a:latin typeface="Calibri"/>
              </a:rPr>
              <a:t>✅  He / She / It  +  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1463040" cy="59436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eats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15184"/>
            <a:ext cx="1463040" cy="59436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334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plays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1463040" cy="59436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438144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438144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rains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051560"/>
            <a:ext cx="4069080" cy="37947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1170432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2B2B"/>
                </a:solidFill>
                <a:latin typeface="Calibri"/>
              </a:rPr>
              <a:t>❌  I / You / We / They  — NO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9472" y="1810512"/>
            <a:ext cx="1417320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9472" y="1828800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3E"/>
                </a:solidFill>
                <a:latin typeface="Calibri"/>
              </a:rPr>
              <a:t>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2478024"/>
            <a:ext cx="1417320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9472" y="2496312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96312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3E"/>
                </a:solidFill>
                <a:latin typeface="Calibri"/>
              </a:rPr>
              <a:t>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3145536"/>
            <a:ext cx="1417320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472" y="3163824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63824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3E"/>
                </a:solidFill>
                <a:latin typeface="Calibri"/>
              </a:rPr>
              <a:t>watch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2" y="3813048"/>
            <a:ext cx="1417320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19472" y="3831335"/>
            <a:ext cx="14173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31335"/>
            <a:ext cx="1737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213E"/>
                </a:solidFill>
                <a:latin typeface="Calibri"/>
              </a:rPr>
              <a:t>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1051560"/>
            <a:ext cx="54864" cy="3794760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  <a:latin typeface="Calibri"/>
              </a:rPr>
              <a:t>Tip: Only 3 subjects add S → He · She · It    ALL others = NO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  <a:latin typeface="Calibri"/>
              </a:rPr>
              <a:t>SIDE BY SIDE — With S vs Without 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9202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69848"/>
            <a:ext cx="1920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051560"/>
            <a:ext cx="21031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31720" y="1069848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Base Verb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51560"/>
            <a:ext cx="21031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069848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Correct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051560"/>
            <a:ext cx="19202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1069848"/>
            <a:ext cx="1920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❌ Wrong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7099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664208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39" y="1709928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664208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59" y="1709928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He eats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664208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59" y="170992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He 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94560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240279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She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194560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39" y="2240279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194560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240279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She plays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194560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95159" y="2240279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She play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24912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77063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2724912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77439" y="2770632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rain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724912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59" y="2770632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It rains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2724912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59" y="277063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It 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255263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3300983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3255263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77439" y="3300983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eat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55263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59" y="3300983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I eat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3255263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5159" y="3300983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I eats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85615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3831335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They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3785615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77439" y="3831335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785615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09159" y="3831335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They 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3785615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95159" y="3831335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They goes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315968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0040" y="436168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DDDFF"/>
                </a:solidFill>
                <a:latin typeface="Calibri"/>
              </a:rPr>
              <a:t>We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31720" y="4315968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77439" y="4361688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DDFF"/>
                </a:solidFill>
                <a:latin typeface="Calibri"/>
              </a:rPr>
              <a:t>watch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4315968"/>
            <a:ext cx="210312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09159" y="4361688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374"/>
                </a:solidFill>
                <a:latin typeface="Calibri"/>
              </a:rPr>
              <a:t>We watch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4315968"/>
            <a:ext cx="1920240" cy="484632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95159" y="436168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2B2B"/>
                </a:solidFill>
                <a:latin typeface="Calibri"/>
              </a:rPr>
              <a:t>We watchs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TWO KEY FORMULAS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" cy="379476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Present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99"/>
                </a:solidFill>
                <a:latin typeface="Calibri"/>
              </a:rPr>
              <a:t>Habits · Routines · Facts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240280"/>
            <a:ext cx="3840480" cy="6583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Subject  +  Verb (+S if He/She/It)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 play football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472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She plays football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770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They play football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068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2B2B"/>
                </a:solidFill>
                <a:latin typeface="Calibri"/>
              </a:rPr>
              <a:t>He play 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97280"/>
            <a:ext cx="411480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73152" cy="3794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1188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213E"/>
                </a:solidFill>
                <a:latin typeface="Calibri"/>
              </a:rPr>
              <a:t>Present Continuous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1719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99"/>
                </a:solidFill>
                <a:latin typeface="Calibri"/>
              </a:rPr>
              <a:t>Happening now / this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40280"/>
            <a:ext cx="3840480" cy="65836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56048" y="228600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Subject  +  am/is/are  +  Verb+ING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0175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 am eating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447287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She is going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8770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They are watching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3068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2B2B"/>
                </a:solidFill>
                <a:latin typeface="Calibri"/>
              </a:rPr>
              <a:t>She is go 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PREFERENCE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2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621792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4114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prefer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874519"/>
            <a:ext cx="3840480" cy="594360"/>
          </a:xfrm>
          <a:prstGeom prst="rect">
            <a:avLst/>
          </a:prstGeom>
          <a:solidFill>
            <a:srgbClr val="30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8"/>
                </a:solidFill>
                <a:latin typeface="Calibri"/>
              </a:rPr>
              <a:t>prefer + Verb+ING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 prefer studying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3639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She prefers dancing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93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 prefer to study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422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2B2B"/>
                </a:solidFill>
                <a:latin typeface="Calibri"/>
              </a:rPr>
              <a:t>I prefer study 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4114800" cy="3794760"/>
          </a:xfrm>
          <a:prstGeom prst="rect">
            <a:avLst/>
          </a:prstGeom>
          <a:solidFill>
            <a:srgbClr val="2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0" y="1097280"/>
            <a:ext cx="4114800" cy="6217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115568"/>
            <a:ext cx="4114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would rather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874519"/>
            <a:ext cx="3840480" cy="594360"/>
          </a:xfrm>
          <a:prstGeom prst="rect">
            <a:avLst/>
          </a:prstGeom>
          <a:solidFill>
            <a:srgbClr val="30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90195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would rather + Base Verb (NO 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334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 would rather eat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3639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He would rather stay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393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2B2B"/>
                </a:solidFill>
                <a:latin typeface="Calibri"/>
              </a:rPr>
              <a:t>I would rather eating 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1422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74"/>
                </a:solidFill>
                <a:latin typeface="Calibri"/>
              </a:rPr>
              <a:t>I'd rather go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30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0"/>
                </a:solidFill>
                <a:latin typeface="Calibri"/>
              </a:rPr>
              <a:t>Remember: 'would rather' = base verb (eat/go/stay) — never add ING or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COMMON MISTAKES — Let's Fix Them!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886200" cy="6583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3152" cy="658368"/>
          </a:xfrm>
          <a:prstGeom prst="rect">
            <a:avLst/>
          </a:prstGeom>
          <a:solidFill>
            <a:srgbClr val="E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2B2B"/>
                </a:solidFill>
                <a:latin typeface="Calibri"/>
              </a:rPr>
              <a:t>❌  "I am go on a date"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5968" y="1097280"/>
            <a:ext cx="3886200" cy="658368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15968" y="1097280"/>
            <a:ext cx="73152" cy="658368"/>
          </a:xfrm>
          <a:prstGeom prst="rect">
            <a:avLst/>
          </a:prstGeom>
          <a:solidFill>
            <a:srgbClr val="00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170432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374"/>
                </a:solidFill>
                <a:latin typeface="Calibri"/>
              </a:rPr>
              <a:t>✅  "I am going on a date"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9222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88"/>
                </a:solidFill>
                <a:latin typeface="Calibri"/>
              </a:rPr>
              <a:t>am/is/are + Verb+ING (not base verb)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7"/>
            <a:ext cx="3886200" cy="6583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029967"/>
            <a:ext cx="73152" cy="658368"/>
          </a:xfrm>
          <a:prstGeom prst="rect">
            <a:avLst/>
          </a:prstGeom>
          <a:solidFill>
            <a:srgbClr val="E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2B2B"/>
                </a:solidFill>
                <a:latin typeface="Calibri"/>
              </a:rPr>
              <a:t>❌  "She listen live music"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029967"/>
            <a:ext cx="3886200" cy="658368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2029967"/>
            <a:ext cx="73152" cy="658368"/>
          </a:xfrm>
          <a:prstGeom prst="rect">
            <a:avLst/>
          </a:prstGeom>
          <a:solidFill>
            <a:srgbClr val="00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2103120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374"/>
                </a:solidFill>
                <a:latin typeface="Calibri"/>
              </a:rPr>
              <a:t>✅  "She listens to live music"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24911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88"/>
                </a:solidFill>
                <a:latin typeface="Calibri"/>
              </a:rPr>
              <a:t>He/She/It = +S   ·   listen TO (preposition)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62656"/>
            <a:ext cx="3886200" cy="6583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962656"/>
            <a:ext cx="73152" cy="658368"/>
          </a:xfrm>
          <a:prstGeom prst="rect">
            <a:avLst/>
          </a:prstGeom>
          <a:solidFill>
            <a:srgbClr val="E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035808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2B2B"/>
                </a:solidFill>
                <a:latin typeface="Calibri"/>
              </a:rPr>
              <a:t>❌  "He play football"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2962656"/>
            <a:ext cx="3886200" cy="658368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5968" y="2962656"/>
            <a:ext cx="73152" cy="658368"/>
          </a:xfrm>
          <a:prstGeom prst="rect">
            <a:avLst/>
          </a:prstGeom>
          <a:solidFill>
            <a:srgbClr val="00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98848" y="3035808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374"/>
                </a:solidFill>
                <a:latin typeface="Calibri"/>
              </a:rPr>
              <a:t>✅  "He plays football"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88"/>
                </a:solidFill>
                <a:latin typeface="Calibri"/>
              </a:rPr>
              <a:t>He → must add S to verb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95344"/>
            <a:ext cx="3886200" cy="6583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895344"/>
            <a:ext cx="73152" cy="658368"/>
          </a:xfrm>
          <a:prstGeom prst="rect">
            <a:avLst/>
          </a:prstGeom>
          <a:solidFill>
            <a:srgbClr val="E7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968496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2B2B"/>
                </a:solidFill>
                <a:latin typeface="Calibri"/>
              </a:rPr>
              <a:t>❌  "They goes home"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3895344"/>
            <a:ext cx="3886200" cy="658368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5968" y="3895344"/>
            <a:ext cx="73152" cy="658368"/>
          </a:xfrm>
          <a:prstGeom prst="rect">
            <a:avLst/>
          </a:prstGeom>
          <a:solidFill>
            <a:srgbClr val="00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3968496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374"/>
                </a:solidFill>
                <a:latin typeface="Calibri"/>
              </a:rPr>
              <a:t>✅  "They go home"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88"/>
                </a:solidFill>
                <a:latin typeface="Calibri"/>
              </a:rPr>
              <a:t>They → NO S 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128016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2128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145536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078224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213E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  <a:latin typeface="Calibri"/>
              </a:rPr>
              <a:t>THINK IT THROUGH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DDDFF"/>
                </a:solidFill>
                <a:latin typeface="Calibri"/>
              </a:rPr>
              <a:t>When you see a sentence to complete, ask these 3 questions: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8595360" cy="914400"/>
          </a:xfrm>
          <a:prstGeom prst="rect">
            <a:avLst/>
          </a:prstGeom>
          <a:solidFill>
            <a:srgbClr val="2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❓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30552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WHO is the subject?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305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A8"/>
                </a:solidFill>
                <a:latin typeface="Calibri"/>
              </a:rPr>
              <a:t>I / You / We / They / He / She /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15768"/>
            <a:ext cx="8595360" cy="914400"/>
          </a:xfrm>
          <a:prstGeom prst="rect">
            <a:avLst/>
          </a:prstGeom>
          <a:solidFill>
            <a:srgbClr val="2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❓ 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54680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Do I need 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54680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A8"/>
                </a:solidFill>
                <a:latin typeface="Calibri"/>
              </a:rPr>
              <a:t>He / She / It → YES    |    others → 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39896"/>
            <a:ext cx="8595360" cy="914400"/>
          </a:xfrm>
          <a:prstGeom prst="rect">
            <a:avLst/>
          </a:prstGeom>
          <a:solidFill>
            <a:srgbClr val="2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83133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Calibri"/>
              </a:rPr>
              <a:t>❓ 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178808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type of verb?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78808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A8"/>
                </a:solidFill>
                <a:latin typeface="Calibri"/>
              </a:rPr>
              <a:t>Base verb? +ING? (am/is/are)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Make students say answers OUT LOUD — thinking aloud builds the habit!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FORMULA CHEAT SHEET — Keep This!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82880" cy="77724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286000" cy="7772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07007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Present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09728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20700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Subject + Verb (+S for He/She/It)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097280"/>
            <a:ext cx="2240280" cy="777240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207007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374"/>
                </a:solidFill>
                <a:latin typeface="Calibri"/>
              </a:rPr>
              <a:t>She eats / They 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7"/>
            <a:ext cx="18288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29967"/>
            <a:ext cx="2286000" cy="7772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Present Continuous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029967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13969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Subject + am/is/are + Verb+ING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029967"/>
            <a:ext cx="2240280" cy="777240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139696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374"/>
                </a:solidFill>
                <a:latin typeface="Calibri"/>
              </a:rPr>
              <a:t>She is eating / I am going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62656"/>
            <a:ext cx="18288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962656"/>
            <a:ext cx="2286000" cy="7772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07238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prefer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962656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3072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prefer + Verb+ING  or  prefer + to + 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962656"/>
            <a:ext cx="2240280" cy="777240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3072384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374"/>
                </a:solidFill>
                <a:latin typeface="Calibri"/>
              </a:rPr>
              <a:t>I prefer studying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95344"/>
            <a:ext cx="182880" cy="7772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895344"/>
            <a:ext cx="2286000" cy="7772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00507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  <a:latin typeface="Calibri"/>
              </a:rPr>
              <a:t>would rather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3895344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40050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3AED"/>
                </a:solidFill>
                <a:latin typeface="Calibri"/>
              </a:rPr>
              <a:t>would rather + Base Verb (no ING/S)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895344"/>
            <a:ext cx="2240280" cy="777240"/>
          </a:xfrm>
          <a:prstGeom prst="rect">
            <a:avLst/>
          </a:prstGeom>
          <a:solidFill>
            <a:srgbClr val="E8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4005072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374"/>
                </a:solidFill>
                <a:latin typeface="Calibri"/>
              </a:rPr>
              <a:t>I would rather 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9509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BB"/>
                </a:solidFill>
                <a:latin typeface="Calibri"/>
              </a:rPr>
              <a:t>Formula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95097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BB"/>
                </a:solidFill>
                <a:latin typeface="Calibri"/>
              </a:rPr>
              <a:t>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950976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BB"/>
                </a:solidFill>
                <a:latin typeface="Calibri"/>
              </a:rPr>
              <a:t>Example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600"/>
                </a:solidFill>
                <a:latin typeface="Calibri"/>
              </a:rPr>
              <a:t>Print this slide and give it to students as a reference card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274320"/>
            <a:ext cx="2743200" cy="2743200"/>
          </a:xfrm>
          <a:prstGeom prst="ellipse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46720" y="3200400"/>
            <a:ext cx="1828800" cy="18288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3657600"/>
            <a:ext cx="1645920" cy="1645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0"/>
            <a:ext cx="109728" cy="51435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 Black"/>
              </a:rPr>
              <a:t>You've Got This!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556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Sentence = Subject + Verb + Object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96312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79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79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He / She / It  →  Always add 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8211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 / You / We / They  →  Never add 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22775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9534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am/is/are  →  Use Verb+ING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Follow the formula = Correct sentence 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Tokozile Roberts</cp:lastModifiedBy>
  <cp:revision>2</cp:revision>
  <dcterms:created xsi:type="dcterms:W3CDTF">2013-01-27T09:14:16Z</dcterms:created>
  <dcterms:modified xsi:type="dcterms:W3CDTF">2026-04-25T20:58:49Z</dcterms:modified>
  <cp:category/>
</cp:coreProperties>
</file>