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41B36C3-88A0-5E47-8842-14CF381255FE}" type="datetimeFigureOut">
              <a:rPr lang="en-US" smtClean="0"/>
              <a:t>4/26/2026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EF2C0814-9728-054D-BBF0-DA78071F9691}" type="slidenum">
              <a:rPr lang="en-US" smtClean="0"/>
              <a:t>‹#›</a:t>
            </a:fld>
            <a:endParaRPr lang="en-US"/>
          </a:p>
        </p:txBody>
      </p:sp>
    </p:spTree>
    <p:extLst>
      <p:ext uri="{BB962C8B-B14F-4D97-AF65-F5344CB8AC3E}">
        <p14:creationId xmlns:p14="http://schemas.microsoft.com/office/powerpoint/2010/main" val="1555390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457200" y="-457200"/>
            <a:ext cx="2743200" cy="2743200"/>
          </a:xfrm>
          <a:prstGeom prst="ellipse">
            <a:avLst/>
          </a:prstGeom>
          <a:solidFill>
            <a:srgbClr val="2563EB">
              <a:alpha val="30000"/>
            </a:srgbClr>
          </a:solidFill>
          <a:ln w="12700">
            <a:solidFill>
              <a:srgbClr val="2563EB">
                <a:alpha val="30000"/>
              </a:srgbClr>
            </a:solidFill>
            <a:prstDash val="solid"/>
          </a:ln>
        </p:spPr>
      </p:sp>
      <p:sp>
        <p:nvSpPr>
          <p:cNvPr id="3" name="Shape 1"/>
          <p:cNvSpPr/>
          <p:nvPr/>
        </p:nvSpPr>
        <p:spPr>
          <a:xfrm>
            <a:off x="7315200" y="3200400"/>
            <a:ext cx="2286000" cy="2286000"/>
          </a:xfrm>
          <a:prstGeom prst="ellipse">
            <a:avLst/>
          </a:prstGeom>
          <a:solidFill>
            <a:srgbClr val="0D9488">
              <a:alpha val="40000"/>
            </a:srgbClr>
          </a:solidFill>
          <a:ln w="12700">
            <a:solidFill>
              <a:srgbClr val="0D9488">
                <a:alpha val="40000"/>
              </a:srgbClr>
            </a:solidFill>
            <a:prstDash val="solid"/>
          </a:ln>
        </p:spPr>
      </p:sp>
      <p:sp>
        <p:nvSpPr>
          <p:cNvPr id="4" name="Shape 2"/>
          <p:cNvSpPr/>
          <p:nvPr/>
        </p:nvSpPr>
        <p:spPr>
          <a:xfrm>
            <a:off x="8229600" y="457200"/>
            <a:ext cx="1371600" cy="1371600"/>
          </a:xfrm>
          <a:prstGeom prst="ellipse">
            <a:avLst/>
          </a:prstGeom>
          <a:solidFill>
            <a:srgbClr val="EA580C">
              <a:alpha val="50000"/>
            </a:srgbClr>
          </a:solidFill>
          <a:ln w="12700">
            <a:solidFill>
              <a:srgbClr val="EA580C">
                <a:alpha val="50000"/>
              </a:srgbClr>
            </a:solidFill>
            <a:prstDash val="solid"/>
          </a:ln>
        </p:spPr>
      </p:sp>
      <p:sp>
        <p:nvSpPr>
          <p:cNvPr id="5" name="Text 3"/>
          <p:cNvSpPr/>
          <p:nvPr/>
        </p:nvSpPr>
        <p:spPr>
          <a:xfrm>
            <a:off x="548640" y="1371600"/>
            <a:ext cx="8046720" cy="146304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English Review Lesson</a:t>
            </a:r>
            <a:endParaRPr lang="en-US" sz="4400" dirty="0"/>
          </a:p>
        </p:txBody>
      </p:sp>
      <p:sp>
        <p:nvSpPr>
          <p:cNvPr id="6" name="Shape 4"/>
          <p:cNvSpPr/>
          <p:nvPr/>
        </p:nvSpPr>
        <p:spPr>
          <a:xfrm>
            <a:off x="3200400" y="2926080"/>
            <a:ext cx="2743200" cy="54864"/>
          </a:xfrm>
          <a:prstGeom prst="rect">
            <a:avLst/>
          </a:prstGeom>
          <a:solidFill>
            <a:srgbClr val="0D9488"/>
          </a:solidFill>
          <a:ln w="12700">
            <a:solidFill>
              <a:srgbClr val="0D9488"/>
            </a:solidFill>
            <a:prstDash val="solid"/>
          </a:ln>
        </p:spPr>
      </p:sp>
      <p:sp>
        <p:nvSpPr>
          <p:cNvPr id="7" name="Text 5"/>
          <p:cNvSpPr/>
          <p:nvPr/>
        </p:nvSpPr>
        <p:spPr>
          <a:xfrm>
            <a:off x="548640" y="3108960"/>
            <a:ext cx="8046720" cy="731520"/>
          </a:xfrm>
          <a:prstGeom prst="rect">
            <a:avLst/>
          </a:prstGeom>
          <a:noFill/>
          <a:ln/>
        </p:spPr>
        <p:txBody>
          <a:bodyPr wrap="square" rtlCol="0" anchor="ctr"/>
          <a:lstStyle/>
          <a:p>
            <a:pPr marL="0" indent="0" algn="ctr">
              <a:buNone/>
            </a:pPr>
            <a:r>
              <a:rPr lang="en-US" sz="2000" dirty="0">
                <a:solidFill>
                  <a:srgbClr val="BFDBFE"/>
                </a:solidFill>
                <a:latin typeface="Calibri" pitchFamily="34" charset="0"/>
                <a:ea typeface="Calibri" pitchFamily="34" charset="-122"/>
                <a:cs typeface="Calibri" pitchFamily="34" charset="-120"/>
              </a:rPr>
              <a:t>Grammar · Vocabulary · Reading · Listening</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Today's Lesson — What We're Covering</a:t>
            </a:r>
            <a:endParaRPr lang="en-US" sz="2200" dirty="0"/>
          </a:p>
        </p:txBody>
      </p:sp>
      <p:sp>
        <p:nvSpPr>
          <p:cNvPr id="4" name="Shape 2"/>
          <p:cNvSpPr/>
          <p:nvPr/>
        </p:nvSpPr>
        <p:spPr>
          <a:xfrm>
            <a:off x="274320" y="914400"/>
            <a:ext cx="2011680" cy="1463040"/>
          </a:xfrm>
          <a:prstGeom prst="rect">
            <a:avLst/>
          </a:prstGeom>
          <a:solidFill>
            <a:srgbClr val="DBEAFE"/>
          </a:solidFill>
          <a:ln w="12700">
            <a:solidFill>
              <a:srgbClr val="2563EB"/>
            </a:solidFill>
            <a:prstDash val="solid"/>
          </a:ln>
        </p:spPr>
      </p:sp>
      <p:sp>
        <p:nvSpPr>
          <p:cNvPr id="5" name="Shape 3"/>
          <p:cNvSpPr/>
          <p:nvPr/>
        </p:nvSpPr>
        <p:spPr>
          <a:xfrm>
            <a:off x="347472" y="1005840"/>
            <a:ext cx="411480" cy="411480"/>
          </a:xfrm>
          <a:prstGeom prst="ellipse">
            <a:avLst/>
          </a:prstGeom>
          <a:solidFill>
            <a:srgbClr val="2563EB"/>
          </a:solidFill>
          <a:ln w="12700">
            <a:solidFill>
              <a:srgbClr val="2563EB"/>
            </a:solidFill>
            <a:prstDash val="solid"/>
          </a:ln>
        </p:spPr>
      </p:sp>
      <p:sp>
        <p:nvSpPr>
          <p:cNvPr id="6" name="Text 4"/>
          <p:cNvSpPr/>
          <p:nvPr/>
        </p:nvSpPr>
        <p:spPr>
          <a:xfrm>
            <a:off x="347472" y="1005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347472" y="14813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Comparative Adjectives</a:t>
            </a:r>
            <a:endParaRPr lang="en-US" sz="1100" dirty="0"/>
          </a:p>
        </p:txBody>
      </p:sp>
      <p:sp>
        <p:nvSpPr>
          <p:cNvPr id="8" name="Text 6"/>
          <p:cNvSpPr/>
          <p:nvPr/>
        </p:nvSpPr>
        <p:spPr>
          <a:xfrm>
            <a:off x="347472" y="19202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Japan &amp; America</a:t>
            </a:r>
            <a:endParaRPr lang="en-US" sz="900" dirty="0"/>
          </a:p>
        </p:txBody>
      </p:sp>
      <p:sp>
        <p:nvSpPr>
          <p:cNvPr id="9" name="Shape 7"/>
          <p:cNvSpPr/>
          <p:nvPr/>
        </p:nvSpPr>
        <p:spPr>
          <a:xfrm>
            <a:off x="2560320" y="914400"/>
            <a:ext cx="2011680" cy="1463040"/>
          </a:xfrm>
          <a:prstGeom prst="rect">
            <a:avLst/>
          </a:prstGeom>
          <a:solidFill>
            <a:srgbClr val="CCFBF1"/>
          </a:solidFill>
          <a:ln w="12700">
            <a:solidFill>
              <a:srgbClr val="0D9488"/>
            </a:solidFill>
            <a:prstDash val="solid"/>
          </a:ln>
        </p:spPr>
      </p:sp>
      <p:sp>
        <p:nvSpPr>
          <p:cNvPr id="10" name="Shape 8"/>
          <p:cNvSpPr/>
          <p:nvPr/>
        </p:nvSpPr>
        <p:spPr>
          <a:xfrm>
            <a:off x="2633472" y="1005840"/>
            <a:ext cx="411480" cy="411480"/>
          </a:xfrm>
          <a:prstGeom prst="ellipse">
            <a:avLst/>
          </a:prstGeom>
          <a:solidFill>
            <a:srgbClr val="0D9488"/>
          </a:solidFill>
          <a:ln w="12700">
            <a:solidFill>
              <a:srgbClr val="0D9488"/>
            </a:solidFill>
            <a:prstDash val="solid"/>
          </a:ln>
        </p:spPr>
      </p:sp>
      <p:sp>
        <p:nvSpPr>
          <p:cNvPr id="11" name="Text 9"/>
          <p:cNvSpPr/>
          <p:nvPr/>
        </p:nvSpPr>
        <p:spPr>
          <a:xfrm>
            <a:off x="2633472" y="1005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Text 10"/>
          <p:cNvSpPr/>
          <p:nvPr/>
        </p:nvSpPr>
        <p:spPr>
          <a:xfrm>
            <a:off x="2633472" y="14813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Vocabulary: Hobbies</a:t>
            </a:r>
            <a:endParaRPr lang="en-US" sz="1100" dirty="0"/>
          </a:p>
        </p:txBody>
      </p:sp>
      <p:sp>
        <p:nvSpPr>
          <p:cNvPr id="13" name="Text 11"/>
          <p:cNvSpPr/>
          <p:nvPr/>
        </p:nvSpPr>
        <p:spPr>
          <a:xfrm>
            <a:off x="2633472" y="19202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Spending Time on Hobbies</a:t>
            </a:r>
            <a:endParaRPr lang="en-US" sz="900" dirty="0"/>
          </a:p>
        </p:txBody>
      </p:sp>
      <p:sp>
        <p:nvSpPr>
          <p:cNvPr id="14" name="Shape 12"/>
          <p:cNvSpPr/>
          <p:nvPr/>
        </p:nvSpPr>
        <p:spPr>
          <a:xfrm>
            <a:off x="4846320" y="914400"/>
            <a:ext cx="2011680" cy="1463040"/>
          </a:xfrm>
          <a:prstGeom prst="rect">
            <a:avLst/>
          </a:prstGeom>
          <a:solidFill>
            <a:srgbClr val="DCFCE7"/>
          </a:solidFill>
          <a:ln w="12700">
            <a:solidFill>
              <a:srgbClr val="16A34A"/>
            </a:solidFill>
            <a:prstDash val="solid"/>
          </a:ln>
        </p:spPr>
      </p:sp>
      <p:sp>
        <p:nvSpPr>
          <p:cNvPr id="15" name="Shape 13"/>
          <p:cNvSpPr/>
          <p:nvPr/>
        </p:nvSpPr>
        <p:spPr>
          <a:xfrm>
            <a:off x="4919472" y="1005840"/>
            <a:ext cx="411480" cy="411480"/>
          </a:xfrm>
          <a:prstGeom prst="ellipse">
            <a:avLst/>
          </a:prstGeom>
          <a:solidFill>
            <a:srgbClr val="16A34A"/>
          </a:solidFill>
          <a:ln w="12700">
            <a:solidFill>
              <a:srgbClr val="16A34A"/>
            </a:solidFill>
            <a:prstDash val="solid"/>
          </a:ln>
        </p:spPr>
      </p:sp>
      <p:sp>
        <p:nvSpPr>
          <p:cNvPr id="16" name="Text 14"/>
          <p:cNvSpPr/>
          <p:nvPr/>
        </p:nvSpPr>
        <p:spPr>
          <a:xfrm>
            <a:off x="4919472" y="1005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p:nvPr/>
        </p:nvSpPr>
        <p:spPr>
          <a:xfrm>
            <a:off x="4919472" y="14813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Vocabulary: Sports</a:t>
            </a:r>
            <a:endParaRPr lang="en-US" sz="1100" dirty="0"/>
          </a:p>
        </p:txBody>
      </p:sp>
      <p:sp>
        <p:nvSpPr>
          <p:cNvPr id="18" name="Text 16"/>
          <p:cNvSpPr/>
          <p:nvPr/>
        </p:nvSpPr>
        <p:spPr>
          <a:xfrm>
            <a:off x="4919472" y="19202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Playing Sports</a:t>
            </a:r>
            <a:endParaRPr lang="en-US" sz="900" dirty="0"/>
          </a:p>
        </p:txBody>
      </p:sp>
      <p:sp>
        <p:nvSpPr>
          <p:cNvPr id="19" name="Shape 17"/>
          <p:cNvSpPr/>
          <p:nvPr/>
        </p:nvSpPr>
        <p:spPr>
          <a:xfrm>
            <a:off x="7132320" y="914400"/>
            <a:ext cx="2011680" cy="1463040"/>
          </a:xfrm>
          <a:prstGeom prst="rect">
            <a:avLst/>
          </a:prstGeom>
          <a:solidFill>
            <a:srgbClr val="FFEDD5"/>
          </a:solidFill>
          <a:ln w="12700">
            <a:solidFill>
              <a:srgbClr val="EA580C"/>
            </a:solidFill>
            <a:prstDash val="solid"/>
          </a:ln>
        </p:spPr>
      </p:sp>
      <p:sp>
        <p:nvSpPr>
          <p:cNvPr id="20" name="Shape 18"/>
          <p:cNvSpPr/>
          <p:nvPr/>
        </p:nvSpPr>
        <p:spPr>
          <a:xfrm>
            <a:off x="7205472" y="1005840"/>
            <a:ext cx="411480" cy="411480"/>
          </a:xfrm>
          <a:prstGeom prst="ellipse">
            <a:avLst/>
          </a:prstGeom>
          <a:solidFill>
            <a:srgbClr val="EA580C"/>
          </a:solidFill>
          <a:ln w="12700">
            <a:solidFill>
              <a:srgbClr val="EA580C"/>
            </a:solidFill>
            <a:prstDash val="solid"/>
          </a:ln>
        </p:spPr>
      </p:sp>
      <p:sp>
        <p:nvSpPr>
          <p:cNvPr id="21" name="Text 19"/>
          <p:cNvSpPr/>
          <p:nvPr/>
        </p:nvSpPr>
        <p:spPr>
          <a:xfrm>
            <a:off x="7205472" y="1005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p:nvPr/>
        </p:nvSpPr>
        <p:spPr>
          <a:xfrm>
            <a:off x="7205472" y="14813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Sightseeing &amp; Airport</a:t>
            </a:r>
            <a:endParaRPr lang="en-US" sz="1100" dirty="0"/>
          </a:p>
        </p:txBody>
      </p:sp>
      <p:sp>
        <p:nvSpPr>
          <p:cNvPr id="23" name="Text 21"/>
          <p:cNvSpPr/>
          <p:nvPr/>
        </p:nvSpPr>
        <p:spPr>
          <a:xfrm>
            <a:off x="7205472" y="19202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Real-world listening texts</a:t>
            </a:r>
            <a:endParaRPr lang="en-US" sz="900" dirty="0"/>
          </a:p>
        </p:txBody>
      </p:sp>
      <p:sp>
        <p:nvSpPr>
          <p:cNvPr id="24" name="Shape 22"/>
          <p:cNvSpPr/>
          <p:nvPr/>
        </p:nvSpPr>
        <p:spPr>
          <a:xfrm>
            <a:off x="1417320" y="2743200"/>
            <a:ext cx="2011680" cy="1463040"/>
          </a:xfrm>
          <a:prstGeom prst="rect">
            <a:avLst/>
          </a:prstGeom>
          <a:solidFill>
            <a:srgbClr val="EDE9FE"/>
          </a:solidFill>
          <a:ln w="12700">
            <a:solidFill>
              <a:srgbClr val="7C3AED"/>
            </a:solidFill>
            <a:prstDash val="solid"/>
          </a:ln>
        </p:spPr>
      </p:sp>
      <p:sp>
        <p:nvSpPr>
          <p:cNvPr id="25" name="Shape 23"/>
          <p:cNvSpPr/>
          <p:nvPr/>
        </p:nvSpPr>
        <p:spPr>
          <a:xfrm>
            <a:off x="1490472" y="2834640"/>
            <a:ext cx="411480" cy="411480"/>
          </a:xfrm>
          <a:prstGeom prst="ellipse">
            <a:avLst/>
          </a:prstGeom>
          <a:solidFill>
            <a:srgbClr val="7C3AED"/>
          </a:solidFill>
          <a:ln w="12700">
            <a:solidFill>
              <a:srgbClr val="7C3AED"/>
            </a:solidFill>
            <a:prstDash val="solid"/>
          </a:ln>
        </p:spPr>
      </p:sp>
      <p:sp>
        <p:nvSpPr>
          <p:cNvPr id="26" name="Text 24"/>
          <p:cNvSpPr/>
          <p:nvPr/>
        </p:nvSpPr>
        <p:spPr>
          <a:xfrm>
            <a:off x="1490472" y="2834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7" name="Text 25"/>
          <p:cNvSpPr/>
          <p:nvPr/>
        </p:nvSpPr>
        <p:spPr>
          <a:xfrm>
            <a:off x="1490472" y="33101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College &amp; Education</a:t>
            </a:r>
            <a:endParaRPr lang="en-US" sz="1100" dirty="0"/>
          </a:p>
        </p:txBody>
      </p:sp>
      <p:sp>
        <p:nvSpPr>
          <p:cNvPr id="28" name="Text 26"/>
          <p:cNvSpPr/>
          <p:nvPr/>
        </p:nvSpPr>
        <p:spPr>
          <a:xfrm>
            <a:off x="1490472" y="37490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Vocabulary &amp; listening</a:t>
            </a:r>
            <a:endParaRPr lang="en-US" sz="900" dirty="0"/>
          </a:p>
        </p:txBody>
      </p:sp>
      <p:sp>
        <p:nvSpPr>
          <p:cNvPr id="29" name="Shape 27"/>
          <p:cNvSpPr/>
          <p:nvPr/>
        </p:nvSpPr>
        <p:spPr>
          <a:xfrm>
            <a:off x="3703320" y="2743200"/>
            <a:ext cx="2011680" cy="1463040"/>
          </a:xfrm>
          <a:prstGeom prst="rect">
            <a:avLst/>
          </a:prstGeom>
          <a:solidFill>
            <a:srgbClr val="FEE2E2"/>
          </a:solidFill>
          <a:ln w="12700">
            <a:solidFill>
              <a:srgbClr val="DC2626"/>
            </a:solidFill>
            <a:prstDash val="solid"/>
          </a:ln>
        </p:spPr>
      </p:sp>
      <p:sp>
        <p:nvSpPr>
          <p:cNvPr id="30" name="Shape 28"/>
          <p:cNvSpPr/>
          <p:nvPr/>
        </p:nvSpPr>
        <p:spPr>
          <a:xfrm>
            <a:off x="3776472" y="2834640"/>
            <a:ext cx="411480" cy="411480"/>
          </a:xfrm>
          <a:prstGeom prst="ellipse">
            <a:avLst/>
          </a:prstGeom>
          <a:solidFill>
            <a:srgbClr val="DC2626"/>
          </a:solidFill>
          <a:ln w="12700">
            <a:solidFill>
              <a:srgbClr val="DC2626"/>
            </a:solidFill>
            <a:prstDash val="solid"/>
          </a:ln>
        </p:spPr>
      </p:sp>
      <p:sp>
        <p:nvSpPr>
          <p:cNvPr id="31" name="Text 29"/>
          <p:cNvSpPr/>
          <p:nvPr/>
        </p:nvSpPr>
        <p:spPr>
          <a:xfrm>
            <a:off x="3776472" y="2834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2" name="Text 30"/>
          <p:cNvSpPr/>
          <p:nvPr/>
        </p:nvSpPr>
        <p:spPr>
          <a:xfrm>
            <a:off x="3776472" y="33101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Yes/No Questions</a:t>
            </a:r>
            <a:endParaRPr lang="en-US" sz="1100" dirty="0"/>
          </a:p>
        </p:txBody>
      </p:sp>
      <p:sp>
        <p:nvSpPr>
          <p:cNvPr id="33" name="Text 31"/>
          <p:cNvSpPr/>
          <p:nvPr/>
        </p:nvSpPr>
        <p:spPr>
          <a:xfrm>
            <a:off x="3776472" y="37490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Grammar: Short Answers</a:t>
            </a:r>
            <a:endParaRPr lang="en-US" sz="900" dirty="0"/>
          </a:p>
        </p:txBody>
      </p:sp>
      <p:sp>
        <p:nvSpPr>
          <p:cNvPr id="34" name="Shape 32"/>
          <p:cNvSpPr/>
          <p:nvPr/>
        </p:nvSpPr>
        <p:spPr>
          <a:xfrm>
            <a:off x="5989320" y="2743200"/>
            <a:ext cx="2011680" cy="1463040"/>
          </a:xfrm>
          <a:prstGeom prst="rect">
            <a:avLst/>
          </a:prstGeom>
          <a:solidFill>
            <a:srgbClr val="FEF9C3"/>
          </a:solidFill>
          <a:ln w="12700">
            <a:solidFill>
              <a:srgbClr val="EAB308"/>
            </a:solidFill>
            <a:prstDash val="solid"/>
          </a:ln>
        </p:spPr>
      </p:sp>
      <p:sp>
        <p:nvSpPr>
          <p:cNvPr id="35" name="Shape 33"/>
          <p:cNvSpPr/>
          <p:nvPr/>
        </p:nvSpPr>
        <p:spPr>
          <a:xfrm>
            <a:off x="6062472" y="2834640"/>
            <a:ext cx="411480" cy="411480"/>
          </a:xfrm>
          <a:prstGeom prst="ellipse">
            <a:avLst/>
          </a:prstGeom>
          <a:solidFill>
            <a:srgbClr val="EAB308"/>
          </a:solidFill>
          <a:ln w="12700">
            <a:solidFill>
              <a:srgbClr val="EAB308"/>
            </a:solidFill>
            <a:prstDash val="solid"/>
          </a:ln>
        </p:spPr>
      </p:sp>
      <p:sp>
        <p:nvSpPr>
          <p:cNvPr id="36" name="Text 34"/>
          <p:cNvSpPr/>
          <p:nvPr/>
        </p:nvSpPr>
        <p:spPr>
          <a:xfrm>
            <a:off x="6062472" y="2834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37" name="Text 35"/>
          <p:cNvSpPr/>
          <p:nvPr/>
        </p:nvSpPr>
        <p:spPr>
          <a:xfrm>
            <a:off x="6062472" y="3310128"/>
            <a:ext cx="1883664" cy="41148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Wh- Questions</a:t>
            </a:r>
            <a:endParaRPr lang="en-US" sz="1100" dirty="0"/>
          </a:p>
        </p:txBody>
      </p:sp>
      <p:sp>
        <p:nvSpPr>
          <p:cNvPr id="38" name="Text 36"/>
          <p:cNvSpPr/>
          <p:nvPr/>
        </p:nvSpPr>
        <p:spPr>
          <a:xfrm>
            <a:off x="6062472" y="3749040"/>
            <a:ext cx="1883664"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Grammar: Information Questions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GRAMMAR · SECTION 1</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Comparative Adjectives</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563EB"/>
          </a:solidFill>
          <a:ln w="12700">
            <a:solidFill>
              <a:srgbClr val="2563E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a Comparative Adjective?</a:t>
            </a:r>
            <a:endParaRPr lang="en-US" sz="2200" dirty="0"/>
          </a:p>
        </p:txBody>
      </p:sp>
      <p:sp>
        <p:nvSpPr>
          <p:cNvPr id="4" name="Text 2"/>
          <p:cNvSpPr/>
          <p:nvPr/>
        </p:nvSpPr>
        <p:spPr>
          <a:xfrm>
            <a:off x="365760" y="822960"/>
            <a:ext cx="8412480" cy="457200"/>
          </a:xfrm>
          <a:prstGeom prst="rect">
            <a:avLst/>
          </a:prstGeom>
          <a:noFill/>
          <a:ln/>
        </p:spPr>
        <p:txBody>
          <a:bodyPr wrap="square"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We use comparative adjectives to compare TWO things.</a:t>
            </a:r>
            <a:endParaRPr lang="en-US" sz="1600" dirty="0"/>
          </a:p>
        </p:txBody>
      </p:sp>
      <p:sp>
        <p:nvSpPr>
          <p:cNvPr id="5" name="Shape 3"/>
          <p:cNvSpPr/>
          <p:nvPr/>
        </p:nvSpPr>
        <p:spPr>
          <a:xfrm>
            <a:off x="365760" y="1417320"/>
            <a:ext cx="4114800" cy="1005840"/>
          </a:xfrm>
          <a:prstGeom prst="rect">
            <a:avLst/>
          </a:prstGeom>
          <a:solidFill>
            <a:srgbClr val="DBEAFE"/>
          </a:solidFill>
          <a:ln w="12700">
            <a:solidFill>
              <a:srgbClr val="2563EB"/>
            </a:solidFill>
            <a:prstDash val="solid"/>
          </a:ln>
        </p:spPr>
      </p:sp>
      <p:sp>
        <p:nvSpPr>
          <p:cNvPr id="6" name="Text 4"/>
          <p:cNvSpPr/>
          <p:nvPr/>
        </p:nvSpPr>
        <p:spPr>
          <a:xfrm>
            <a:off x="502920" y="1508760"/>
            <a:ext cx="3840480" cy="502920"/>
          </a:xfrm>
          <a:prstGeom prst="rect">
            <a:avLst/>
          </a:prstGeom>
          <a:noFill/>
          <a:ln/>
        </p:spPr>
        <p:txBody>
          <a:bodyPr wrap="square" lIns="0" tIns="0" rIns="0" bIns="0" rtlCol="0" anchor="ctr"/>
          <a:lstStyle/>
          <a:p>
            <a:pPr marL="0" indent="0">
              <a:buNone/>
            </a:pPr>
            <a:r>
              <a:rPr lang="en-US" sz="1400" b="1" i="1" dirty="0">
                <a:solidFill>
                  <a:srgbClr val="2563EB"/>
                </a:solidFill>
                <a:latin typeface="Calibri" pitchFamily="34" charset="0"/>
                <a:ea typeface="Calibri" pitchFamily="34" charset="-122"/>
                <a:cs typeface="Calibri" pitchFamily="34" charset="-120"/>
              </a:rPr>
              <a:t>Japan is smaller than the U.S.</a:t>
            </a:r>
            <a:endParaRPr lang="en-US" sz="1400" dirty="0"/>
          </a:p>
        </p:txBody>
      </p:sp>
      <p:sp>
        <p:nvSpPr>
          <p:cNvPr id="7" name="Text 5"/>
          <p:cNvSpPr/>
          <p:nvPr/>
        </p:nvSpPr>
        <p:spPr>
          <a:xfrm>
            <a:off x="502920" y="2011680"/>
            <a:ext cx="384048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one-syllable adj.</a:t>
            </a:r>
            <a:endParaRPr lang="en-US" sz="1100" dirty="0"/>
          </a:p>
        </p:txBody>
      </p:sp>
      <p:sp>
        <p:nvSpPr>
          <p:cNvPr id="8" name="Shape 6"/>
          <p:cNvSpPr/>
          <p:nvPr/>
        </p:nvSpPr>
        <p:spPr>
          <a:xfrm>
            <a:off x="365760" y="2606040"/>
            <a:ext cx="4114800" cy="1005840"/>
          </a:xfrm>
          <a:prstGeom prst="rect">
            <a:avLst/>
          </a:prstGeom>
          <a:solidFill>
            <a:srgbClr val="DBEAFE"/>
          </a:solidFill>
          <a:ln w="12700">
            <a:solidFill>
              <a:srgbClr val="2563EB"/>
            </a:solidFill>
            <a:prstDash val="solid"/>
          </a:ln>
        </p:spPr>
      </p:sp>
      <p:sp>
        <p:nvSpPr>
          <p:cNvPr id="9" name="Text 7"/>
          <p:cNvSpPr/>
          <p:nvPr/>
        </p:nvSpPr>
        <p:spPr>
          <a:xfrm>
            <a:off x="502920" y="2697480"/>
            <a:ext cx="3840480" cy="502920"/>
          </a:xfrm>
          <a:prstGeom prst="rect">
            <a:avLst/>
          </a:prstGeom>
          <a:noFill/>
          <a:ln/>
        </p:spPr>
        <p:txBody>
          <a:bodyPr wrap="square" lIns="0" tIns="0" rIns="0" bIns="0" rtlCol="0" anchor="ctr"/>
          <a:lstStyle/>
          <a:p>
            <a:pPr marL="0" indent="0">
              <a:buNone/>
            </a:pPr>
            <a:r>
              <a:rPr lang="en-US" sz="1400" b="1" i="1" dirty="0">
                <a:solidFill>
                  <a:srgbClr val="2563EB"/>
                </a:solidFill>
                <a:latin typeface="Calibri" pitchFamily="34" charset="0"/>
                <a:ea typeface="Calibri" pitchFamily="34" charset="-122"/>
                <a:cs typeface="Calibri" pitchFamily="34" charset="-120"/>
              </a:rPr>
              <a:t>Japan is more expensive than the U.S.</a:t>
            </a:r>
            <a:endParaRPr lang="en-US" sz="1400" dirty="0"/>
          </a:p>
        </p:txBody>
      </p:sp>
      <p:sp>
        <p:nvSpPr>
          <p:cNvPr id="10" name="Text 8"/>
          <p:cNvSpPr/>
          <p:nvPr/>
        </p:nvSpPr>
        <p:spPr>
          <a:xfrm>
            <a:off x="502920" y="3200400"/>
            <a:ext cx="384048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long adj.</a:t>
            </a:r>
            <a:endParaRPr lang="en-US" sz="1100" dirty="0"/>
          </a:p>
        </p:txBody>
      </p:sp>
      <p:sp>
        <p:nvSpPr>
          <p:cNvPr id="11" name="Shape 9"/>
          <p:cNvSpPr/>
          <p:nvPr/>
        </p:nvSpPr>
        <p:spPr>
          <a:xfrm>
            <a:off x="4754880" y="1417320"/>
            <a:ext cx="4114800" cy="1005840"/>
          </a:xfrm>
          <a:prstGeom prst="rect">
            <a:avLst/>
          </a:prstGeom>
          <a:solidFill>
            <a:srgbClr val="DBEAFE"/>
          </a:solidFill>
          <a:ln w="12700">
            <a:solidFill>
              <a:srgbClr val="2563EB"/>
            </a:solidFill>
            <a:prstDash val="solid"/>
          </a:ln>
        </p:spPr>
      </p:sp>
      <p:sp>
        <p:nvSpPr>
          <p:cNvPr id="12" name="Text 10"/>
          <p:cNvSpPr/>
          <p:nvPr/>
        </p:nvSpPr>
        <p:spPr>
          <a:xfrm>
            <a:off x="4892040" y="1508760"/>
            <a:ext cx="3840480" cy="502920"/>
          </a:xfrm>
          <a:prstGeom prst="rect">
            <a:avLst/>
          </a:prstGeom>
          <a:noFill/>
          <a:ln/>
        </p:spPr>
        <p:txBody>
          <a:bodyPr wrap="square" lIns="0" tIns="0" rIns="0" bIns="0" rtlCol="0" anchor="ctr"/>
          <a:lstStyle/>
          <a:p>
            <a:pPr marL="0" indent="0">
              <a:buNone/>
            </a:pPr>
            <a:r>
              <a:rPr lang="en-US" sz="1400" b="1" i="1" dirty="0">
                <a:solidFill>
                  <a:srgbClr val="2563EB"/>
                </a:solidFill>
                <a:latin typeface="Calibri" pitchFamily="34" charset="0"/>
                <a:ea typeface="Calibri" pitchFamily="34" charset="-122"/>
                <a:cs typeface="Calibri" pitchFamily="34" charset="-120"/>
              </a:rPr>
              <a:t>Canada is colder than Spain.</a:t>
            </a:r>
            <a:endParaRPr lang="en-US" sz="1400" dirty="0"/>
          </a:p>
        </p:txBody>
      </p:sp>
      <p:sp>
        <p:nvSpPr>
          <p:cNvPr id="13" name="Text 11"/>
          <p:cNvSpPr/>
          <p:nvPr/>
        </p:nvSpPr>
        <p:spPr>
          <a:xfrm>
            <a:off x="4892040" y="2011680"/>
            <a:ext cx="384048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one-syllable adj.</a:t>
            </a:r>
            <a:endParaRPr lang="en-US" sz="1100" dirty="0"/>
          </a:p>
        </p:txBody>
      </p:sp>
      <p:sp>
        <p:nvSpPr>
          <p:cNvPr id="14" name="Shape 12"/>
          <p:cNvSpPr/>
          <p:nvPr/>
        </p:nvSpPr>
        <p:spPr>
          <a:xfrm>
            <a:off x="4754880" y="2606040"/>
            <a:ext cx="4114800" cy="1005840"/>
          </a:xfrm>
          <a:prstGeom prst="rect">
            <a:avLst/>
          </a:prstGeom>
          <a:solidFill>
            <a:srgbClr val="DBEAFE"/>
          </a:solidFill>
          <a:ln w="12700">
            <a:solidFill>
              <a:srgbClr val="2563EB"/>
            </a:solidFill>
            <a:prstDash val="solid"/>
          </a:ln>
        </p:spPr>
      </p:sp>
      <p:sp>
        <p:nvSpPr>
          <p:cNvPr id="15" name="Text 13"/>
          <p:cNvSpPr/>
          <p:nvPr/>
        </p:nvSpPr>
        <p:spPr>
          <a:xfrm>
            <a:off x="4892040" y="2697480"/>
            <a:ext cx="3840480" cy="502920"/>
          </a:xfrm>
          <a:prstGeom prst="rect">
            <a:avLst/>
          </a:prstGeom>
          <a:noFill/>
          <a:ln/>
        </p:spPr>
        <p:txBody>
          <a:bodyPr wrap="square" lIns="0" tIns="0" rIns="0" bIns="0" rtlCol="0" anchor="ctr"/>
          <a:lstStyle/>
          <a:p>
            <a:pPr marL="0" indent="0">
              <a:buNone/>
            </a:pPr>
            <a:r>
              <a:rPr lang="en-US" sz="1400" b="1" i="1" dirty="0">
                <a:solidFill>
                  <a:srgbClr val="2563EB"/>
                </a:solidFill>
                <a:latin typeface="Calibri" pitchFamily="34" charset="0"/>
                <a:ea typeface="Calibri" pitchFamily="34" charset="-122"/>
                <a:cs typeface="Calibri" pitchFamily="34" charset="-120"/>
              </a:rPr>
              <a:t>English is more interesting than maths!</a:t>
            </a:r>
            <a:endParaRPr lang="en-US" sz="1400" dirty="0"/>
          </a:p>
        </p:txBody>
      </p:sp>
      <p:sp>
        <p:nvSpPr>
          <p:cNvPr id="16" name="Text 14"/>
          <p:cNvSpPr/>
          <p:nvPr/>
        </p:nvSpPr>
        <p:spPr>
          <a:xfrm>
            <a:off x="4892040" y="3200400"/>
            <a:ext cx="384048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long adj.</a:t>
            </a:r>
            <a:endParaRPr lang="en-US" sz="1100" dirty="0"/>
          </a:p>
        </p:txBody>
      </p:sp>
      <p:sp>
        <p:nvSpPr>
          <p:cNvPr id="17" name="Text 15"/>
          <p:cNvSpPr/>
          <p:nvPr/>
        </p:nvSpPr>
        <p:spPr>
          <a:xfrm>
            <a:off x="365760" y="4389120"/>
            <a:ext cx="8412480" cy="457200"/>
          </a:xfrm>
          <a:prstGeom prst="rect">
            <a:avLst/>
          </a:prstGeom>
          <a:noFill/>
          <a:ln/>
        </p:spPr>
        <p:txBody>
          <a:bodyPr wrap="square"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 Teacher Tip: The structure is always → adjective + than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563EB"/>
          </a:solidFill>
          <a:ln w="12700">
            <a:solidFill>
              <a:srgbClr val="2563E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Rules for One-Syllable Adjectives</a:t>
            </a:r>
            <a:endParaRPr lang="en-US" sz="2200" dirty="0"/>
          </a:p>
        </p:txBody>
      </p:sp>
      <p:sp>
        <p:nvSpPr>
          <p:cNvPr id="4" name="Text 2"/>
          <p:cNvSpPr/>
          <p:nvPr/>
        </p:nvSpPr>
        <p:spPr>
          <a:xfrm>
            <a:off x="365760" y="777240"/>
            <a:ext cx="8412480" cy="41148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Count the syllables: tall = 1 syllable ✓  big = 1 syllable ✓  beautiful = 3 syllables ✗</a:t>
            </a:r>
            <a:endParaRPr lang="en-US" sz="1300" dirty="0"/>
          </a:p>
        </p:txBody>
      </p:sp>
      <p:sp>
        <p:nvSpPr>
          <p:cNvPr id="5" name="Shape 3"/>
          <p:cNvSpPr/>
          <p:nvPr/>
        </p:nvSpPr>
        <p:spPr>
          <a:xfrm>
            <a:off x="274320" y="1325880"/>
            <a:ext cx="2743200" cy="3108960"/>
          </a:xfrm>
          <a:prstGeom prst="rect">
            <a:avLst/>
          </a:prstGeom>
          <a:solidFill>
            <a:srgbClr val="DBEAFE"/>
          </a:solidFill>
          <a:ln w="12700">
            <a:solidFill>
              <a:srgbClr val="2563EB"/>
            </a:solidFill>
            <a:prstDash val="solid"/>
          </a:ln>
        </p:spPr>
      </p:sp>
      <p:sp>
        <p:nvSpPr>
          <p:cNvPr id="6" name="Shape 4"/>
          <p:cNvSpPr/>
          <p:nvPr/>
        </p:nvSpPr>
        <p:spPr>
          <a:xfrm>
            <a:off x="274320" y="1325880"/>
            <a:ext cx="2743200" cy="502920"/>
          </a:xfrm>
          <a:prstGeom prst="rect">
            <a:avLst/>
          </a:prstGeom>
          <a:solidFill>
            <a:srgbClr val="2563EB"/>
          </a:solidFill>
          <a:ln w="12700">
            <a:solidFill>
              <a:srgbClr val="2563EB"/>
            </a:solidFill>
            <a:prstDash val="solid"/>
          </a:ln>
        </p:spPr>
      </p:sp>
      <p:sp>
        <p:nvSpPr>
          <p:cNvPr id="7" name="Text 5"/>
          <p:cNvSpPr/>
          <p:nvPr/>
        </p:nvSpPr>
        <p:spPr>
          <a:xfrm>
            <a:off x="365760" y="1371600"/>
            <a:ext cx="256032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Rule 1: Simply add -ER</a:t>
            </a:r>
            <a:endParaRPr lang="en-US" sz="1100" dirty="0"/>
          </a:p>
        </p:txBody>
      </p:sp>
      <p:sp>
        <p:nvSpPr>
          <p:cNvPr id="8" name="Text 6"/>
          <p:cNvSpPr/>
          <p:nvPr/>
        </p:nvSpPr>
        <p:spPr>
          <a:xfrm>
            <a:off x="365760" y="1965960"/>
            <a:ext cx="2560320" cy="2286000"/>
          </a:xfrm>
          <a:prstGeom prst="rect">
            <a:avLst/>
          </a:prstGeom>
          <a:noFill/>
          <a:ln/>
        </p:spPr>
        <p:txBody>
          <a:bodyPr wrap="square" lIns="0" tIns="0" rIns="0" bIns="0" rtlCol="0" anchor="ctr"/>
          <a:lstStyle/>
          <a:p>
            <a:pPr marL="0" indent="0">
              <a:buNone/>
            </a:pPr>
            <a:r>
              <a:rPr lang="en-US" sz="1400" b="1" i="1" dirty="0">
                <a:solidFill>
                  <a:srgbClr val="1E293B"/>
                </a:solidFill>
                <a:latin typeface="Calibri" pitchFamily="34" charset="0"/>
                <a:ea typeface="Calibri" pitchFamily="34" charset="-122"/>
                <a:cs typeface="Calibri" pitchFamily="34" charset="-120"/>
              </a:rPr>
              <a:t>tall → taller</a:t>
            </a:r>
            <a:endParaRPr lang="en-US" sz="1400" dirty="0"/>
          </a:p>
          <a:p>
            <a:pPr marL="0" indent="0">
              <a:buNone/>
            </a:pPr>
            <a:r>
              <a:rPr lang="en-US" sz="1400" b="1" i="1" dirty="0">
                <a:solidFill>
                  <a:srgbClr val="1E293B"/>
                </a:solidFill>
                <a:latin typeface="Calibri" pitchFamily="34" charset="0"/>
                <a:ea typeface="Calibri" pitchFamily="34" charset="-122"/>
                <a:cs typeface="Calibri" pitchFamily="34" charset="-120"/>
              </a:rPr>
              <a:t>high → higher</a:t>
            </a:r>
            <a:endParaRPr lang="en-US" sz="1400" dirty="0"/>
          </a:p>
          <a:p>
            <a:pPr marL="0" indent="0">
              <a:buNone/>
            </a:pPr>
            <a:r>
              <a:rPr lang="en-US" sz="1400" b="1" i="1" dirty="0">
                <a:solidFill>
                  <a:srgbClr val="1E293B"/>
                </a:solidFill>
                <a:latin typeface="Calibri" pitchFamily="34" charset="0"/>
                <a:ea typeface="Calibri" pitchFamily="34" charset="-122"/>
                <a:cs typeface="Calibri" pitchFamily="34" charset="-120"/>
              </a:rPr>
              <a:t>old → older</a:t>
            </a:r>
            <a:endParaRPr lang="en-US" sz="1400" dirty="0"/>
          </a:p>
        </p:txBody>
      </p:sp>
      <p:sp>
        <p:nvSpPr>
          <p:cNvPr id="9" name="Shape 7"/>
          <p:cNvSpPr/>
          <p:nvPr/>
        </p:nvSpPr>
        <p:spPr>
          <a:xfrm>
            <a:off x="3200400" y="1325880"/>
            <a:ext cx="2743200" cy="3108960"/>
          </a:xfrm>
          <a:prstGeom prst="rect">
            <a:avLst/>
          </a:prstGeom>
          <a:solidFill>
            <a:srgbClr val="CCFBF1"/>
          </a:solidFill>
          <a:ln w="12700">
            <a:solidFill>
              <a:srgbClr val="0D9488"/>
            </a:solidFill>
            <a:prstDash val="solid"/>
          </a:ln>
        </p:spPr>
      </p:sp>
      <p:sp>
        <p:nvSpPr>
          <p:cNvPr id="10" name="Shape 8"/>
          <p:cNvSpPr/>
          <p:nvPr/>
        </p:nvSpPr>
        <p:spPr>
          <a:xfrm>
            <a:off x="3200400" y="1325880"/>
            <a:ext cx="2743200" cy="502920"/>
          </a:xfrm>
          <a:prstGeom prst="rect">
            <a:avLst/>
          </a:prstGeom>
          <a:solidFill>
            <a:srgbClr val="0D9488"/>
          </a:solidFill>
          <a:ln w="12700">
            <a:solidFill>
              <a:srgbClr val="0D9488"/>
            </a:solidFill>
            <a:prstDash val="solid"/>
          </a:ln>
        </p:spPr>
      </p:sp>
      <p:sp>
        <p:nvSpPr>
          <p:cNvPr id="11" name="Text 9"/>
          <p:cNvSpPr/>
          <p:nvPr/>
        </p:nvSpPr>
        <p:spPr>
          <a:xfrm>
            <a:off x="3291840" y="1371600"/>
            <a:ext cx="256032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Rule 2: Ends in -E? Add just -R</a:t>
            </a:r>
            <a:endParaRPr lang="en-US" sz="1100" dirty="0"/>
          </a:p>
        </p:txBody>
      </p:sp>
      <p:sp>
        <p:nvSpPr>
          <p:cNvPr id="12" name="Text 10"/>
          <p:cNvSpPr/>
          <p:nvPr/>
        </p:nvSpPr>
        <p:spPr>
          <a:xfrm>
            <a:off x="3291840" y="1965960"/>
            <a:ext cx="2560320" cy="2286000"/>
          </a:xfrm>
          <a:prstGeom prst="rect">
            <a:avLst/>
          </a:prstGeom>
          <a:noFill/>
          <a:ln/>
        </p:spPr>
        <p:txBody>
          <a:bodyPr wrap="square" lIns="0" tIns="0" rIns="0" bIns="0" rtlCol="0" anchor="ctr"/>
          <a:lstStyle/>
          <a:p>
            <a:pPr marL="0" indent="0">
              <a:buNone/>
            </a:pPr>
            <a:r>
              <a:rPr lang="en-US" sz="1400" b="1" i="1" dirty="0">
                <a:solidFill>
                  <a:srgbClr val="1E293B"/>
                </a:solidFill>
                <a:latin typeface="Calibri" pitchFamily="34" charset="0"/>
                <a:ea typeface="Calibri" pitchFamily="34" charset="-122"/>
                <a:cs typeface="Calibri" pitchFamily="34" charset="-120"/>
              </a:rPr>
              <a:t>late → later</a:t>
            </a:r>
            <a:endParaRPr lang="en-US" sz="1400" dirty="0"/>
          </a:p>
          <a:p>
            <a:pPr marL="0" indent="0">
              <a:buNone/>
            </a:pPr>
            <a:r>
              <a:rPr lang="en-US" sz="1400" b="1" i="1" dirty="0">
                <a:solidFill>
                  <a:srgbClr val="1E293B"/>
                </a:solidFill>
                <a:latin typeface="Calibri" pitchFamily="34" charset="0"/>
                <a:ea typeface="Calibri" pitchFamily="34" charset="-122"/>
                <a:cs typeface="Calibri" pitchFamily="34" charset="-120"/>
              </a:rPr>
              <a:t>white → whiter</a:t>
            </a:r>
            <a:endParaRPr lang="en-US" sz="1400" dirty="0"/>
          </a:p>
          <a:p>
            <a:pPr marL="0" indent="0">
              <a:buNone/>
            </a:pPr>
            <a:r>
              <a:rPr lang="en-US" sz="1400" b="1" i="1" dirty="0">
                <a:solidFill>
                  <a:srgbClr val="1E293B"/>
                </a:solidFill>
                <a:latin typeface="Calibri" pitchFamily="34" charset="0"/>
                <a:ea typeface="Calibri" pitchFamily="34" charset="-122"/>
                <a:cs typeface="Calibri" pitchFamily="34" charset="-120"/>
              </a:rPr>
              <a:t>nice → nicer</a:t>
            </a:r>
            <a:endParaRPr lang="en-US" sz="1400" dirty="0"/>
          </a:p>
        </p:txBody>
      </p:sp>
      <p:sp>
        <p:nvSpPr>
          <p:cNvPr id="13" name="Shape 11"/>
          <p:cNvSpPr/>
          <p:nvPr/>
        </p:nvSpPr>
        <p:spPr>
          <a:xfrm>
            <a:off x="6126480" y="1325880"/>
            <a:ext cx="2743200" cy="3108960"/>
          </a:xfrm>
          <a:prstGeom prst="rect">
            <a:avLst/>
          </a:prstGeom>
          <a:solidFill>
            <a:srgbClr val="FFEDD5"/>
          </a:solidFill>
          <a:ln w="12700">
            <a:solidFill>
              <a:srgbClr val="EA580C"/>
            </a:solidFill>
            <a:prstDash val="solid"/>
          </a:ln>
        </p:spPr>
      </p:sp>
      <p:sp>
        <p:nvSpPr>
          <p:cNvPr id="14" name="Shape 12"/>
          <p:cNvSpPr/>
          <p:nvPr/>
        </p:nvSpPr>
        <p:spPr>
          <a:xfrm>
            <a:off x="6126480" y="1325880"/>
            <a:ext cx="2743200" cy="502920"/>
          </a:xfrm>
          <a:prstGeom prst="rect">
            <a:avLst/>
          </a:prstGeom>
          <a:solidFill>
            <a:srgbClr val="EA580C"/>
          </a:solidFill>
          <a:ln w="12700">
            <a:solidFill>
              <a:srgbClr val="EA580C"/>
            </a:solidFill>
            <a:prstDash val="solid"/>
          </a:ln>
        </p:spPr>
      </p:sp>
      <p:sp>
        <p:nvSpPr>
          <p:cNvPr id="15" name="Text 13"/>
          <p:cNvSpPr/>
          <p:nvPr/>
        </p:nvSpPr>
        <p:spPr>
          <a:xfrm>
            <a:off x="6217920" y="1371600"/>
            <a:ext cx="256032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Rule 3: Short vowel + consonant? DOUBLE the consonant + ER</a:t>
            </a:r>
            <a:endParaRPr lang="en-US" sz="1100" dirty="0"/>
          </a:p>
        </p:txBody>
      </p:sp>
      <p:sp>
        <p:nvSpPr>
          <p:cNvPr id="16" name="Text 14"/>
          <p:cNvSpPr/>
          <p:nvPr/>
        </p:nvSpPr>
        <p:spPr>
          <a:xfrm>
            <a:off x="6217920" y="1965960"/>
            <a:ext cx="2560320" cy="2286000"/>
          </a:xfrm>
          <a:prstGeom prst="rect">
            <a:avLst/>
          </a:prstGeom>
          <a:noFill/>
          <a:ln/>
        </p:spPr>
        <p:txBody>
          <a:bodyPr wrap="square" lIns="0" tIns="0" rIns="0" bIns="0" rtlCol="0" anchor="ctr"/>
          <a:lstStyle/>
          <a:p>
            <a:pPr marL="0" indent="0">
              <a:buNone/>
            </a:pPr>
            <a:r>
              <a:rPr lang="en-US" sz="1400" b="1" i="1" dirty="0">
                <a:solidFill>
                  <a:srgbClr val="1E293B"/>
                </a:solidFill>
                <a:latin typeface="Calibri" pitchFamily="34" charset="0"/>
                <a:ea typeface="Calibri" pitchFamily="34" charset="-122"/>
                <a:cs typeface="Calibri" pitchFamily="34" charset="-120"/>
              </a:rPr>
              <a:t>hot → hotter</a:t>
            </a:r>
            <a:endParaRPr lang="en-US" sz="1400" dirty="0"/>
          </a:p>
          <a:p>
            <a:pPr marL="0" indent="0">
              <a:buNone/>
            </a:pPr>
            <a:r>
              <a:rPr lang="en-US" sz="1400" b="1" i="1" dirty="0">
                <a:solidFill>
                  <a:srgbClr val="1E293B"/>
                </a:solidFill>
                <a:latin typeface="Calibri" pitchFamily="34" charset="0"/>
                <a:ea typeface="Calibri" pitchFamily="34" charset="-122"/>
                <a:cs typeface="Calibri" pitchFamily="34" charset="-120"/>
              </a:rPr>
              <a:t>fat → fatter</a:t>
            </a:r>
            <a:endParaRPr lang="en-US" sz="1400" dirty="0"/>
          </a:p>
          <a:p>
            <a:pPr marL="0" indent="0">
              <a:buNone/>
            </a:pPr>
            <a:r>
              <a:rPr lang="en-US" sz="1400" b="1" i="1" dirty="0">
                <a:solidFill>
                  <a:srgbClr val="1E293B"/>
                </a:solidFill>
                <a:latin typeface="Calibri" pitchFamily="34" charset="0"/>
                <a:ea typeface="Calibri" pitchFamily="34" charset="-122"/>
                <a:cs typeface="Calibri" pitchFamily="34" charset="-120"/>
              </a:rPr>
              <a:t>big → bigger</a:t>
            </a:r>
            <a:endParaRPr lang="en-US" sz="1400" dirty="0"/>
          </a:p>
        </p:txBody>
      </p:sp>
      <p:sp>
        <p:nvSpPr>
          <p:cNvPr id="17" name="Text 15"/>
          <p:cNvSpPr/>
          <p:nvPr/>
        </p:nvSpPr>
        <p:spPr>
          <a:xfrm>
            <a:off x="365760" y="4572000"/>
            <a:ext cx="8412480" cy="411480"/>
          </a:xfrm>
          <a:prstGeom prst="rect">
            <a:avLst/>
          </a:prstGeom>
          <a:noFill/>
          <a:ln/>
        </p:spPr>
        <p:txBody>
          <a:bodyPr wrap="square"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 Quick check: Is 'hot → hoter' correct?  NO! It should be 'hotter' — double the 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563EB"/>
          </a:solidFill>
          <a:ln w="12700">
            <a:solidFill>
              <a:srgbClr val="2563E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Two-Syllable &amp; Long Adjective Rules</a:t>
            </a:r>
            <a:endParaRPr lang="en-US" sz="2200" dirty="0"/>
          </a:p>
        </p:txBody>
      </p:sp>
      <p:sp>
        <p:nvSpPr>
          <p:cNvPr id="4" name="Shape 2"/>
          <p:cNvSpPr/>
          <p:nvPr/>
        </p:nvSpPr>
        <p:spPr>
          <a:xfrm>
            <a:off x="365760" y="822960"/>
            <a:ext cx="3931920" cy="2377440"/>
          </a:xfrm>
          <a:prstGeom prst="rect">
            <a:avLst/>
          </a:prstGeom>
          <a:solidFill>
            <a:srgbClr val="DCFCE7"/>
          </a:solidFill>
          <a:ln w="12700">
            <a:solidFill>
              <a:srgbClr val="16A34A"/>
            </a:solidFill>
            <a:prstDash val="solid"/>
          </a:ln>
        </p:spPr>
      </p:sp>
      <p:sp>
        <p:nvSpPr>
          <p:cNvPr id="5" name="Shape 3"/>
          <p:cNvSpPr/>
          <p:nvPr/>
        </p:nvSpPr>
        <p:spPr>
          <a:xfrm>
            <a:off x="365760" y="822960"/>
            <a:ext cx="3931920" cy="502920"/>
          </a:xfrm>
          <a:prstGeom prst="rect">
            <a:avLst/>
          </a:prstGeom>
          <a:solidFill>
            <a:srgbClr val="16A34A"/>
          </a:solidFill>
          <a:ln w="12700">
            <a:solidFill>
              <a:srgbClr val="16A34A"/>
            </a:solidFill>
            <a:prstDash val="solid"/>
          </a:ln>
        </p:spPr>
      </p:sp>
      <p:sp>
        <p:nvSpPr>
          <p:cNvPr id="6" name="Text 4"/>
          <p:cNvSpPr/>
          <p:nvPr/>
        </p:nvSpPr>
        <p:spPr>
          <a:xfrm>
            <a:off x="502920" y="868680"/>
            <a:ext cx="3657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Two-syllable adj. ending in -Y</a:t>
            </a:r>
            <a:endParaRPr lang="en-US" sz="1300" dirty="0"/>
          </a:p>
        </p:txBody>
      </p:sp>
      <p:sp>
        <p:nvSpPr>
          <p:cNvPr id="7" name="Text 5"/>
          <p:cNvSpPr/>
          <p:nvPr/>
        </p:nvSpPr>
        <p:spPr>
          <a:xfrm>
            <a:off x="502920" y="1463040"/>
            <a:ext cx="365760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Change -Y to -I, then add -ER</a:t>
            </a:r>
            <a:endParaRPr lang="en-US" sz="1200" dirty="0"/>
          </a:p>
        </p:txBody>
      </p:sp>
      <p:sp>
        <p:nvSpPr>
          <p:cNvPr id="8" name="Text 6"/>
          <p:cNvSpPr/>
          <p:nvPr/>
        </p:nvSpPr>
        <p:spPr>
          <a:xfrm>
            <a:off x="502920" y="1828800"/>
            <a:ext cx="3657600" cy="1234440"/>
          </a:xfrm>
          <a:prstGeom prst="rect">
            <a:avLst/>
          </a:prstGeom>
          <a:noFill/>
          <a:ln/>
        </p:spPr>
        <p:txBody>
          <a:bodyPr wrap="square" lIns="0" tIns="0" rIns="0" bIns="0" rtlCol="0" anchor="ctr"/>
          <a:lstStyle/>
          <a:p>
            <a:pPr marL="0" indent="0">
              <a:buNone/>
            </a:pPr>
            <a:r>
              <a:rPr lang="en-US" sz="1400" b="1" i="1" dirty="0">
                <a:solidFill>
                  <a:srgbClr val="16A34A"/>
                </a:solidFill>
                <a:latin typeface="Calibri" pitchFamily="34" charset="0"/>
                <a:ea typeface="Calibri" pitchFamily="34" charset="-122"/>
                <a:cs typeface="Calibri" pitchFamily="34" charset="-120"/>
              </a:rPr>
              <a:t>happy → happier</a:t>
            </a:r>
            <a:endParaRPr lang="en-US" sz="1400" dirty="0"/>
          </a:p>
          <a:p>
            <a:pPr marL="0" indent="0">
              <a:buNone/>
            </a:pPr>
            <a:r>
              <a:rPr lang="en-US" sz="1400" b="1" i="1" dirty="0">
                <a:solidFill>
                  <a:srgbClr val="16A34A"/>
                </a:solidFill>
                <a:latin typeface="Calibri" pitchFamily="34" charset="0"/>
                <a:ea typeface="Calibri" pitchFamily="34" charset="-122"/>
                <a:cs typeface="Calibri" pitchFamily="34" charset="-120"/>
              </a:rPr>
              <a:t>sunny → sunnier</a:t>
            </a:r>
            <a:endParaRPr lang="en-US" sz="1400" dirty="0"/>
          </a:p>
          <a:p>
            <a:pPr marL="0" indent="0">
              <a:buNone/>
            </a:pPr>
            <a:r>
              <a:rPr lang="en-US" sz="1400" b="1" i="1" dirty="0">
                <a:solidFill>
                  <a:srgbClr val="16A34A"/>
                </a:solidFill>
                <a:latin typeface="Calibri" pitchFamily="34" charset="0"/>
                <a:ea typeface="Calibri" pitchFamily="34" charset="-122"/>
                <a:cs typeface="Calibri" pitchFamily="34" charset="-120"/>
              </a:rPr>
              <a:t>funny → funnier</a:t>
            </a:r>
            <a:endParaRPr lang="en-US" sz="1400" dirty="0"/>
          </a:p>
          <a:p>
            <a:pPr marL="0" indent="0">
              <a:buNone/>
            </a:pPr>
            <a:r>
              <a:rPr lang="en-US" sz="1400" b="1" i="1" dirty="0">
                <a:solidFill>
                  <a:srgbClr val="16A34A"/>
                </a:solidFill>
                <a:latin typeface="Calibri" pitchFamily="34" charset="0"/>
                <a:ea typeface="Calibri" pitchFamily="34" charset="-122"/>
                <a:cs typeface="Calibri" pitchFamily="34" charset="-120"/>
              </a:rPr>
              <a:t>easy → easier</a:t>
            </a:r>
            <a:endParaRPr lang="en-US" sz="1400" dirty="0"/>
          </a:p>
        </p:txBody>
      </p:sp>
      <p:sp>
        <p:nvSpPr>
          <p:cNvPr id="9" name="Shape 7"/>
          <p:cNvSpPr/>
          <p:nvPr/>
        </p:nvSpPr>
        <p:spPr>
          <a:xfrm>
            <a:off x="4846320" y="822960"/>
            <a:ext cx="3931920" cy="2377440"/>
          </a:xfrm>
          <a:prstGeom prst="rect">
            <a:avLst/>
          </a:prstGeom>
          <a:solidFill>
            <a:srgbClr val="EDE9FE"/>
          </a:solidFill>
          <a:ln w="12700">
            <a:solidFill>
              <a:srgbClr val="7C3AED"/>
            </a:solidFill>
            <a:prstDash val="solid"/>
          </a:ln>
        </p:spPr>
      </p:sp>
      <p:sp>
        <p:nvSpPr>
          <p:cNvPr id="10" name="Shape 8"/>
          <p:cNvSpPr/>
          <p:nvPr/>
        </p:nvSpPr>
        <p:spPr>
          <a:xfrm>
            <a:off x="4846320" y="822960"/>
            <a:ext cx="3931920" cy="502920"/>
          </a:xfrm>
          <a:prstGeom prst="rect">
            <a:avLst/>
          </a:prstGeom>
          <a:solidFill>
            <a:srgbClr val="7C3AED"/>
          </a:solidFill>
          <a:ln w="12700">
            <a:solidFill>
              <a:srgbClr val="7C3AED"/>
            </a:solidFill>
            <a:prstDash val="solid"/>
          </a:ln>
        </p:spPr>
      </p:sp>
      <p:sp>
        <p:nvSpPr>
          <p:cNvPr id="11" name="Text 9"/>
          <p:cNvSpPr/>
          <p:nvPr/>
        </p:nvSpPr>
        <p:spPr>
          <a:xfrm>
            <a:off x="4983480" y="868680"/>
            <a:ext cx="3657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Long adjectives (3+ syllables)</a:t>
            </a:r>
            <a:endParaRPr lang="en-US" sz="1300" dirty="0"/>
          </a:p>
        </p:txBody>
      </p:sp>
      <p:sp>
        <p:nvSpPr>
          <p:cNvPr id="12" name="Text 10"/>
          <p:cNvSpPr/>
          <p:nvPr/>
        </p:nvSpPr>
        <p:spPr>
          <a:xfrm>
            <a:off x="4983480" y="1463040"/>
            <a:ext cx="365760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Use MORE before the adjective</a:t>
            </a:r>
            <a:endParaRPr lang="en-US" sz="1200" dirty="0"/>
          </a:p>
        </p:txBody>
      </p:sp>
      <p:sp>
        <p:nvSpPr>
          <p:cNvPr id="13" name="Text 11"/>
          <p:cNvSpPr/>
          <p:nvPr/>
        </p:nvSpPr>
        <p:spPr>
          <a:xfrm>
            <a:off x="4983480" y="1828800"/>
            <a:ext cx="3657600" cy="1234440"/>
          </a:xfrm>
          <a:prstGeom prst="rect">
            <a:avLst/>
          </a:prstGeom>
          <a:noFill/>
          <a:ln/>
        </p:spPr>
        <p:txBody>
          <a:bodyPr wrap="square" lIns="0" tIns="0" rIns="0" bIns="0" rtlCol="0" anchor="ctr"/>
          <a:lstStyle/>
          <a:p>
            <a:pPr marL="0" indent="0">
              <a:buNone/>
            </a:pPr>
            <a:r>
              <a:rPr lang="en-US" sz="1300" b="1" i="1" dirty="0">
                <a:solidFill>
                  <a:srgbClr val="7C3AED"/>
                </a:solidFill>
                <a:latin typeface="Calibri" pitchFamily="34" charset="0"/>
                <a:ea typeface="Calibri" pitchFamily="34" charset="-122"/>
                <a:cs typeface="Calibri" pitchFamily="34" charset="-120"/>
              </a:rPr>
              <a:t>expensive → more expensive</a:t>
            </a:r>
            <a:endParaRPr lang="en-US" sz="1300" dirty="0"/>
          </a:p>
          <a:p>
            <a:pPr marL="0" indent="0">
              <a:buNone/>
            </a:pPr>
            <a:r>
              <a:rPr lang="en-US" sz="1300" b="1" i="1" dirty="0">
                <a:solidFill>
                  <a:srgbClr val="7C3AED"/>
                </a:solidFill>
                <a:latin typeface="Calibri" pitchFamily="34" charset="0"/>
                <a:ea typeface="Calibri" pitchFamily="34" charset="-122"/>
                <a:cs typeface="Calibri" pitchFamily="34" charset="-120"/>
              </a:rPr>
              <a:t>interesting → more interesting</a:t>
            </a:r>
            <a:endParaRPr lang="en-US" sz="1300" dirty="0"/>
          </a:p>
          <a:p>
            <a:pPr marL="0" indent="0">
              <a:buNone/>
            </a:pPr>
            <a:r>
              <a:rPr lang="en-US" sz="1300" b="1" i="1" dirty="0">
                <a:solidFill>
                  <a:srgbClr val="7C3AED"/>
                </a:solidFill>
                <a:latin typeface="Calibri" pitchFamily="34" charset="0"/>
                <a:ea typeface="Calibri" pitchFamily="34" charset="-122"/>
                <a:cs typeface="Calibri" pitchFamily="34" charset="-120"/>
              </a:rPr>
              <a:t>careful → more careful</a:t>
            </a:r>
            <a:endParaRPr lang="en-US" sz="1300" dirty="0"/>
          </a:p>
          <a:p>
            <a:pPr marL="0" indent="0">
              <a:buNone/>
            </a:pPr>
            <a:r>
              <a:rPr lang="en-US" sz="1300" b="1" i="1" dirty="0">
                <a:solidFill>
                  <a:srgbClr val="7C3AED"/>
                </a:solidFill>
                <a:latin typeface="Calibri" pitchFamily="34" charset="0"/>
                <a:ea typeface="Calibri" pitchFamily="34" charset="-122"/>
                <a:cs typeface="Calibri" pitchFamily="34" charset="-120"/>
              </a:rPr>
              <a:t>modern → more modern</a:t>
            </a:r>
            <a:endParaRPr lang="en-US" sz="1300" dirty="0"/>
          </a:p>
        </p:txBody>
      </p:sp>
      <p:sp>
        <p:nvSpPr>
          <p:cNvPr id="14" name="Shape 12"/>
          <p:cNvSpPr/>
          <p:nvPr/>
        </p:nvSpPr>
        <p:spPr>
          <a:xfrm>
            <a:off x="365760" y="3429000"/>
            <a:ext cx="8412480" cy="1371600"/>
          </a:xfrm>
          <a:prstGeom prst="rect">
            <a:avLst/>
          </a:prstGeom>
          <a:solidFill>
            <a:srgbClr val="FEF9C3"/>
          </a:solidFill>
          <a:ln w="12700">
            <a:solidFill>
              <a:srgbClr val="EAB308"/>
            </a:solidFill>
            <a:prstDash val="solid"/>
          </a:ln>
        </p:spPr>
      </p:sp>
      <p:sp>
        <p:nvSpPr>
          <p:cNvPr id="15" name="Shape 13"/>
          <p:cNvSpPr/>
          <p:nvPr/>
        </p:nvSpPr>
        <p:spPr>
          <a:xfrm>
            <a:off x="365760" y="3429000"/>
            <a:ext cx="8412480" cy="438912"/>
          </a:xfrm>
          <a:prstGeom prst="rect">
            <a:avLst/>
          </a:prstGeom>
          <a:solidFill>
            <a:srgbClr val="EAB308"/>
          </a:solidFill>
          <a:ln w="12700">
            <a:solidFill>
              <a:srgbClr val="EAB308"/>
            </a:solidFill>
            <a:prstDash val="solid"/>
          </a:ln>
        </p:spPr>
      </p:sp>
      <p:sp>
        <p:nvSpPr>
          <p:cNvPr id="16" name="Text 14"/>
          <p:cNvSpPr/>
          <p:nvPr/>
        </p:nvSpPr>
        <p:spPr>
          <a:xfrm>
            <a:off x="502920" y="3474720"/>
            <a:ext cx="81381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  Irregular Adjectives — These DO NOT follow the rules!</a:t>
            </a:r>
            <a:endParaRPr lang="en-US" sz="1300" dirty="0"/>
          </a:p>
        </p:txBody>
      </p:sp>
      <p:sp>
        <p:nvSpPr>
          <p:cNvPr id="17" name="Text 15"/>
          <p:cNvSpPr/>
          <p:nvPr/>
        </p:nvSpPr>
        <p:spPr>
          <a:xfrm>
            <a:off x="502920" y="3931920"/>
            <a:ext cx="8138160" cy="5943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good → better          bad → worse          much → more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563EB"/>
          </a:solidFill>
          <a:ln w="12700">
            <a:solidFill>
              <a:srgbClr val="2563E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Comparative Adjective Practice</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Can you complete these sentences? Think about the rule first!</a:t>
            </a:r>
            <a:endParaRPr lang="en-US" sz="1400" dirty="0"/>
          </a:p>
        </p:txBody>
      </p:sp>
      <p:sp>
        <p:nvSpPr>
          <p:cNvPr id="5" name="Shape 3"/>
          <p:cNvSpPr/>
          <p:nvPr/>
        </p:nvSpPr>
        <p:spPr>
          <a:xfrm>
            <a:off x="365760" y="1280160"/>
            <a:ext cx="8412480" cy="475488"/>
          </a:xfrm>
          <a:prstGeom prst="rect">
            <a:avLst/>
          </a:prstGeom>
          <a:solidFill>
            <a:srgbClr val="DBEAFE"/>
          </a:solidFill>
          <a:ln w="12700">
            <a:solidFill>
              <a:srgbClr val="DBEAFE"/>
            </a:solidFill>
            <a:prstDash val="solid"/>
          </a:ln>
        </p:spPr>
      </p:sp>
      <p:sp>
        <p:nvSpPr>
          <p:cNvPr id="6" name="Text 4"/>
          <p:cNvSpPr/>
          <p:nvPr/>
        </p:nvSpPr>
        <p:spPr>
          <a:xfrm>
            <a:off x="548640" y="1335024"/>
            <a:ext cx="804672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1.  China is ______________ (big) than Japan.</a:t>
            </a:r>
            <a:endParaRPr lang="en-US" sz="1300" dirty="0"/>
          </a:p>
        </p:txBody>
      </p:sp>
      <p:sp>
        <p:nvSpPr>
          <p:cNvPr id="7" name="Shape 5"/>
          <p:cNvSpPr/>
          <p:nvPr/>
        </p:nvSpPr>
        <p:spPr>
          <a:xfrm>
            <a:off x="365760" y="1847088"/>
            <a:ext cx="8412480" cy="475488"/>
          </a:xfrm>
          <a:prstGeom prst="rect">
            <a:avLst/>
          </a:prstGeom>
          <a:solidFill>
            <a:srgbClr val="F8FAFC"/>
          </a:solidFill>
          <a:ln w="12700">
            <a:solidFill>
              <a:srgbClr val="F8FAFC"/>
            </a:solidFill>
            <a:prstDash val="solid"/>
          </a:ln>
        </p:spPr>
      </p:sp>
      <p:sp>
        <p:nvSpPr>
          <p:cNvPr id="8" name="Text 6"/>
          <p:cNvSpPr/>
          <p:nvPr/>
        </p:nvSpPr>
        <p:spPr>
          <a:xfrm>
            <a:off x="548640" y="1901952"/>
            <a:ext cx="804672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2.  The weather today is ______________ (bad) than yesterday.</a:t>
            </a:r>
            <a:endParaRPr lang="en-US" sz="1300" dirty="0"/>
          </a:p>
        </p:txBody>
      </p:sp>
      <p:sp>
        <p:nvSpPr>
          <p:cNvPr id="9" name="Shape 7"/>
          <p:cNvSpPr/>
          <p:nvPr/>
        </p:nvSpPr>
        <p:spPr>
          <a:xfrm>
            <a:off x="365760" y="2414016"/>
            <a:ext cx="8412480" cy="475488"/>
          </a:xfrm>
          <a:prstGeom prst="rect">
            <a:avLst/>
          </a:prstGeom>
          <a:solidFill>
            <a:srgbClr val="DBEAFE"/>
          </a:solidFill>
          <a:ln w="12700">
            <a:solidFill>
              <a:srgbClr val="DBEAFE"/>
            </a:solidFill>
            <a:prstDash val="solid"/>
          </a:ln>
        </p:spPr>
      </p:sp>
      <p:sp>
        <p:nvSpPr>
          <p:cNvPr id="10" name="Text 8"/>
          <p:cNvSpPr/>
          <p:nvPr/>
        </p:nvSpPr>
        <p:spPr>
          <a:xfrm>
            <a:off x="548640" y="2468880"/>
            <a:ext cx="804672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3.  This book is ______________ (interesting) than that film.</a:t>
            </a:r>
            <a:endParaRPr lang="en-US" sz="1300" dirty="0"/>
          </a:p>
        </p:txBody>
      </p:sp>
      <p:sp>
        <p:nvSpPr>
          <p:cNvPr id="11" name="Shape 9"/>
          <p:cNvSpPr/>
          <p:nvPr/>
        </p:nvSpPr>
        <p:spPr>
          <a:xfrm>
            <a:off x="365760" y="2980944"/>
            <a:ext cx="8412480" cy="475488"/>
          </a:xfrm>
          <a:prstGeom prst="rect">
            <a:avLst/>
          </a:prstGeom>
          <a:solidFill>
            <a:srgbClr val="F8FAFC"/>
          </a:solidFill>
          <a:ln w="12700">
            <a:solidFill>
              <a:srgbClr val="F8FAFC"/>
            </a:solidFill>
            <a:prstDash val="solid"/>
          </a:ln>
        </p:spPr>
      </p:sp>
      <p:sp>
        <p:nvSpPr>
          <p:cNvPr id="12" name="Text 10"/>
          <p:cNvSpPr/>
          <p:nvPr/>
        </p:nvSpPr>
        <p:spPr>
          <a:xfrm>
            <a:off x="548640" y="3035808"/>
            <a:ext cx="804672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4.  I feel ______________ (happy) when I eat chocolate.</a:t>
            </a:r>
            <a:endParaRPr lang="en-US" sz="1300" dirty="0"/>
          </a:p>
        </p:txBody>
      </p:sp>
      <p:sp>
        <p:nvSpPr>
          <p:cNvPr id="13" name="Shape 11"/>
          <p:cNvSpPr/>
          <p:nvPr/>
        </p:nvSpPr>
        <p:spPr>
          <a:xfrm>
            <a:off x="365760" y="3547872"/>
            <a:ext cx="8412480" cy="475488"/>
          </a:xfrm>
          <a:prstGeom prst="rect">
            <a:avLst/>
          </a:prstGeom>
          <a:solidFill>
            <a:srgbClr val="DBEAFE"/>
          </a:solidFill>
          <a:ln w="12700">
            <a:solidFill>
              <a:srgbClr val="DBEAFE"/>
            </a:solidFill>
            <a:prstDash val="solid"/>
          </a:ln>
        </p:spPr>
      </p:sp>
      <p:sp>
        <p:nvSpPr>
          <p:cNvPr id="14" name="Text 12"/>
          <p:cNvSpPr/>
          <p:nvPr/>
        </p:nvSpPr>
        <p:spPr>
          <a:xfrm>
            <a:off x="548640" y="3602736"/>
            <a:ext cx="804672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5.  The new phone is ______________ (expensive) than the old one.</a:t>
            </a:r>
            <a:endParaRPr lang="en-US" sz="1300" dirty="0"/>
          </a:p>
        </p:txBody>
      </p:sp>
      <p:sp>
        <p:nvSpPr>
          <p:cNvPr id="15" name="Shape 13"/>
          <p:cNvSpPr/>
          <p:nvPr/>
        </p:nvSpPr>
        <p:spPr>
          <a:xfrm>
            <a:off x="365760" y="4114800"/>
            <a:ext cx="8412480" cy="475488"/>
          </a:xfrm>
          <a:prstGeom prst="rect">
            <a:avLst/>
          </a:prstGeom>
          <a:solidFill>
            <a:srgbClr val="F8FAFC"/>
          </a:solidFill>
          <a:ln w="12700">
            <a:solidFill>
              <a:srgbClr val="F8FAFC"/>
            </a:solidFill>
            <a:prstDash val="solid"/>
          </a:ln>
        </p:spPr>
      </p:sp>
      <p:sp>
        <p:nvSpPr>
          <p:cNvPr id="16" name="Text 14"/>
          <p:cNvSpPr/>
          <p:nvPr/>
        </p:nvSpPr>
        <p:spPr>
          <a:xfrm>
            <a:off x="548640" y="4169664"/>
            <a:ext cx="804672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6.  My English is getting ______________ (good) every day!</a:t>
            </a:r>
            <a:endParaRPr lang="en-US" sz="1300" dirty="0"/>
          </a:p>
        </p:txBody>
      </p:sp>
      <p:sp>
        <p:nvSpPr>
          <p:cNvPr id="17" name="Text 15"/>
          <p:cNvSpPr/>
          <p:nvPr/>
        </p:nvSpPr>
        <p:spPr>
          <a:xfrm>
            <a:off x="365760" y="4709160"/>
            <a:ext cx="8412480" cy="3200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Answers: 1.bigger  2.worse  3.more interesting  4.happier  5.more expensive  6.better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READING · SECTION 2</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Vocabulary: Spending Time on Hobbies</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Vocabulary — Hobbies</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Notice the pattern: We say 'go + verb-ing' for many outdoor activities!</a:t>
            </a:r>
            <a:endParaRPr lang="en-US" sz="1400" dirty="0"/>
          </a:p>
        </p:txBody>
      </p:sp>
      <p:sp>
        <p:nvSpPr>
          <p:cNvPr id="5" name="Shape 3"/>
          <p:cNvSpPr/>
          <p:nvPr/>
        </p:nvSpPr>
        <p:spPr>
          <a:xfrm>
            <a:off x="274320" y="1280160"/>
            <a:ext cx="4206240" cy="822960"/>
          </a:xfrm>
          <a:prstGeom prst="rect">
            <a:avLst/>
          </a:prstGeom>
          <a:solidFill>
            <a:srgbClr val="CCFBF1"/>
          </a:solidFill>
          <a:ln w="12700">
            <a:solidFill>
              <a:srgbClr val="0D9488"/>
            </a:solidFill>
            <a:prstDash val="solid"/>
          </a:ln>
        </p:spPr>
      </p:sp>
      <p:sp>
        <p:nvSpPr>
          <p:cNvPr id="6" name="Shape 4"/>
          <p:cNvSpPr/>
          <p:nvPr/>
        </p:nvSpPr>
        <p:spPr>
          <a:xfrm>
            <a:off x="274320" y="1280160"/>
            <a:ext cx="91440" cy="822960"/>
          </a:xfrm>
          <a:prstGeom prst="rect">
            <a:avLst/>
          </a:prstGeom>
          <a:solidFill>
            <a:srgbClr val="0D9488"/>
          </a:solidFill>
          <a:ln w="12700">
            <a:solidFill>
              <a:srgbClr val="0D9488"/>
            </a:solidFill>
            <a:prstDash val="solid"/>
          </a:ln>
        </p:spPr>
      </p:sp>
      <p:sp>
        <p:nvSpPr>
          <p:cNvPr id="7" name="Text 5"/>
          <p:cNvSpPr/>
          <p:nvPr/>
        </p:nvSpPr>
        <p:spPr>
          <a:xfrm>
            <a:off x="457200" y="1325880"/>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go sailing</a:t>
            </a:r>
            <a:endParaRPr lang="en-US" sz="1300" dirty="0"/>
          </a:p>
        </p:txBody>
      </p:sp>
      <p:sp>
        <p:nvSpPr>
          <p:cNvPr id="8" name="Text 6"/>
          <p:cNvSpPr/>
          <p:nvPr/>
        </p:nvSpPr>
        <p:spPr>
          <a:xfrm>
            <a:off x="457200" y="1627632"/>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steer a boat using wind | I go sailing every summer.</a:t>
            </a:r>
            <a:endParaRPr lang="en-US" sz="1000" dirty="0"/>
          </a:p>
        </p:txBody>
      </p:sp>
      <p:sp>
        <p:nvSpPr>
          <p:cNvPr id="9" name="Shape 7"/>
          <p:cNvSpPr/>
          <p:nvPr/>
        </p:nvSpPr>
        <p:spPr>
          <a:xfrm>
            <a:off x="274320" y="2212848"/>
            <a:ext cx="4206240" cy="822960"/>
          </a:xfrm>
          <a:prstGeom prst="rect">
            <a:avLst/>
          </a:prstGeom>
          <a:solidFill>
            <a:srgbClr val="CCFBF1"/>
          </a:solidFill>
          <a:ln w="12700">
            <a:solidFill>
              <a:srgbClr val="0D9488"/>
            </a:solidFill>
            <a:prstDash val="solid"/>
          </a:ln>
        </p:spPr>
      </p:sp>
      <p:sp>
        <p:nvSpPr>
          <p:cNvPr id="10" name="Shape 8"/>
          <p:cNvSpPr/>
          <p:nvPr/>
        </p:nvSpPr>
        <p:spPr>
          <a:xfrm>
            <a:off x="274320" y="2212848"/>
            <a:ext cx="91440" cy="822960"/>
          </a:xfrm>
          <a:prstGeom prst="rect">
            <a:avLst/>
          </a:prstGeom>
          <a:solidFill>
            <a:srgbClr val="0D9488"/>
          </a:solidFill>
          <a:ln w="12700">
            <a:solidFill>
              <a:srgbClr val="0D9488"/>
            </a:solidFill>
            <a:prstDash val="solid"/>
          </a:ln>
        </p:spPr>
      </p:sp>
      <p:sp>
        <p:nvSpPr>
          <p:cNvPr id="11" name="Text 9"/>
          <p:cNvSpPr/>
          <p:nvPr/>
        </p:nvSpPr>
        <p:spPr>
          <a:xfrm>
            <a:off x="457200" y="2258568"/>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go diving</a:t>
            </a:r>
            <a:endParaRPr lang="en-US" sz="1300" dirty="0"/>
          </a:p>
        </p:txBody>
      </p:sp>
      <p:sp>
        <p:nvSpPr>
          <p:cNvPr id="12" name="Text 10"/>
          <p:cNvSpPr/>
          <p:nvPr/>
        </p:nvSpPr>
        <p:spPr>
          <a:xfrm>
            <a:off x="457200" y="2560320"/>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swim underwater with equipment | She went diving in Australia.</a:t>
            </a:r>
            <a:endParaRPr lang="en-US" sz="1000" dirty="0"/>
          </a:p>
        </p:txBody>
      </p:sp>
      <p:sp>
        <p:nvSpPr>
          <p:cNvPr id="13" name="Shape 11"/>
          <p:cNvSpPr/>
          <p:nvPr/>
        </p:nvSpPr>
        <p:spPr>
          <a:xfrm>
            <a:off x="274320" y="3145536"/>
            <a:ext cx="4206240" cy="822960"/>
          </a:xfrm>
          <a:prstGeom prst="rect">
            <a:avLst/>
          </a:prstGeom>
          <a:solidFill>
            <a:srgbClr val="CCFBF1"/>
          </a:solidFill>
          <a:ln w="12700">
            <a:solidFill>
              <a:srgbClr val="0D9488"/>
            </a:solidFill>
            <a:prstDash val="solid"/>
          </a:ln>
        </p:spPr>
      </p:sp>
      <p:sp>
        <p:nvSpPr>
          <p:cNvPr id="14" name="Shape 12"/>
          <p:cNvSpPr/>
          <p:nvPr/>
        </p:nvSpPr>
        <p:spPr>
          <a:xfrm>
            <a:off x="274320" y="3145536"/>
            <a:ext cx="91440" cy="822960"/>
          </a:xfrm>
          <a:prstGeom prst="rect">
            <a:avLst/>
          </a:prstGeom>
          <a:solidFill>
            <a:srgbClr val="0D9488"/>
          </a:solidFill>
          <a:ln w="12700">
            <a:solidFill>
              <a:srgbClr val="0D9488"/>
            </a:solidFill>
            <a:prstDash val="solid"/>
          </a:ln>
        </p:spPr>
      </p:sp>
      <p:sp>
        <p:nvSpPr>
          <p:cNvPr id="15" name="Text 13"/>
          <p:cNvSpPr/>
          <p:nvPr/>
        </p:nvSpPr>
        <p:spPr>
          <a:xfrm>
            <a:off x="457200" y="3191256"/>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go climbing</a:t>
            </a:r>
            <a:endParaRPr lang="en-US" sz="1300" dirty="0"/>
          </a:p>
        </p:txBody>
      </p:sp>
      <p:sp>
        <p:nvSpPr>
          <p:cNvPr id="16" name="Text 14"/>
          <p:cNvSpPr/>
          <p:nvPr/>
        </p:nvSpPr>
        <p:spPr>
          <a:xfrm>
            <a:off x="457200" y="3493008"/>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ascend mountains with ropes | They're going climbing in the Alps.</a:t>
            </a:r>
            <a:endParaRPr lang="en-US" sz="1000" dirty="0"/>
          </a:p>
        </p:txBody>
      </p:sp>
      <p:sp>
        <p:nvSpPr>
          <p:cNvPr id="17" name="Shape 15"/>
          <p:cNvSpPr/>
          <p:nvPr/>
        </p:nvSpPr>
        <p:spPr>
          <a:xfrm>
            <a:off x="274320" y="4078224"/>
            <a:ext cx="4206240" cy="822960"/>
          </a:xfrm>
          <a:prstGeom prst="rect">
            <a:avLst/>
          </a:prstGeom>
          <a:solidFill>
            <a:srgbClr val="CCFBF1"/>
          </a:solidFill>
          <a:ln w="12700">
            <a:solidFill>
              <a:srgbClr val="0D9488"/>
            </a:solidFill>
            <a:prstDash val="solid"/>
          </a:ln>
        </p:spPr>
      </p:sp>
      <p:sp>
        <p:nvSpPr>
          <p:cNvPr id="18" name="Shape 16"/>
          <p:cNvSpPr/>
          <p:nvPr/>
        </p:nvSpPr>
        <p:spPr>
          <a:xfrm>
            <a:off x="274320" y="4078224"/>
            <a:ext cx="91440" cy="822960"/>
          </a:xfrm>
          <a:prstGeom prst="rect">
            <a:avLst/>
          </a:prstGeom>
          <a:solidFill>
            <a:srgbClr val="0D9488"/>
          </a:solidFill>
          <a:ln w="12700">
            <a:solidFill>
              <a:srgbClr val="0D9488"/>
            </a:solidFill>
            <a:prstDash val="solid"/>
          </a:ln>
        </p:spPr>
      </p:sp>
      <p:sp>
        <p:nvSpPr>
          <p:cNvPr id="19" name="Text 17"/>
          <p:cNvSpPr/>
          <p:nvPr/>
        </p:nvSpPr>
        <p:spPr>
          <a:xfrm>
            <a:off x="457200" y="4123944"/>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take up</a:t>
            </a:r>
            <a:endParaRPr lang="en-US" sz="1300" dirty="0"/>
          </a:p>
        </p:txBody>
      </p:sp>
      <p:sp>
        <p:nvSpPr>
          <p:cNvPr id="20" name="Text 18"/>
          <p:cNvSpPr/>
          <p:nvPr/>
        </p:nvSpPr>
        <p:spPr>
          <a:xfrm>
            <a:off x="457200" y="4425696"/>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START a new hobby | I've decided to take up running.</a:t>
            </a:r>
            <a:endParaRPr lang="en-US" sz="1000" dirty="0"/>
          </a:p>
        </p:txBody>
      </p:sp>
      <p:sp>
        <p:nvSpPr>
          <p:cNvPr id="21" name="Shape 19"/>
          <p:cNvSpPr/>
          <p:nvPr/>
        </p:nvSpPr>
        <p:spPr>
          <a:xfrm>
            <a:off x="4709160" y="1280160"/>
            <a:ext cx="4206240" cy="822960"/>
          </a:xfrm>
          <a:prstGeom prst="rect">
            <a:avLst/>
          </a:prstGeom>
          <a:solidFill>
            <a:srgbClr val="CCFBF1"/>
          </a:solidFill>
          <a:ln w="12700">
            <a:solidFill>
              <a:srgbClr val="0D9488"/>
            </a:solidFill>
            <a:prstDash val="solid"/>
          </a:ln>
        </p:spPr>
      </p:sp>
      <p:sp>
        <p:nvSpPr>
          <p:cNvPr id="22" name="Shape 20"/>
          <p:cNvSpPr/>
          <p:nvPr/>
        </p:nvSpPr>
        <p:spPr>
          <a:xfrm>
            <a:off x="4709160" y="1280160"/>
            <a:ext cx="91440" cy="822960"/>
          </a:xfrm>
          <a:prstGeom prst="rect">
            <a:avLst/>
          </a:prstGeom>
          <a:solidFill>
            <a:srgbClr val="0D9488"/>
          </a:solidFill>
          <a:ln w="12700">
            <a:solidFill>
              <a:srgbClr val="0D9488"/>
            </a:solidFill>
            <a:prstDash val="solid"/>
          </a:ln>
        </p:spPr>
      </p:sp>
      <p:sp>
        <p:nvSpPr>
          <p:cNvPr id="23" name="Text 21"/>
          <p:cNvSpPr/>
          <p:nvPr/>
        </p:nvSpPr>
        <p:spPr>
          <a:xfrm>
            <a:off x="4892040" y="1325880"/>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give up</a:t>
            </a:r>
            <a:endParaRPr lang="en-US" sz="1300" dirty="0"/>
          </a:p>
        </p:txBody>
      </p:sp>
      <p:sp>
        <p:nvSpPr>
          <p:cNvPr id="24" name="Text 22"/>
          <p:cNvSpPr/>
          <p:nvPr/>
        </p:nvSpPr>
        <p:spPr>
          <a:xfrm>
            <a:off x="4892040" y="1627632"/>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STOP doing something | He gave up baseball last year.</a:t>
            </a:r>
            <a:endParaRPr lang="en-US" sz="1000" dirty="0"/>
          </a:p>
        </p:txBody>
      </p:sp>
      <p:sp>
        <p:nvSpPr>
          <p:cNvPr id="25" name="Shape 23"/>
          <p:cNvSpPr/>
          <p:nvPr/>
        </p:nvSpPr>
        <p:spPr>
          <a:xfrm>
            <a:off x="4709160" y="2212848"/>
            <a:ext cx="4206240" cy="822960"/>
          </a:xfrm>
          <a:prstGeom prst="rect">
            <a:avLst/>
          </a:prstGeom>
          <a:solidFill>
            <a:srgbClr val="CCFBF1"/>
          </a:solidFill>
          <a:ln w="12700">
            <a:solidFill>
              <a:srgbClr val="0D9488"/>
            </a:solidFill>
            <a:prstDash val="solid"/>
          </a:ln>
        </p:spPr>
      </p:sp>
      <p:sp>
        <p:nvSpPr>
          <p:cNvPr id="26" name="Shape 24"/>
          <p:cNvSpPr/>
          <p:nvPr/>
        </p:nvSpPr>
        <p:spPr>
          <a:xfrm>
            <a:off x="4709160" y="2212848"/>
            <a:ext cx="91440" cy="822960"/>
          </a:xfrm>
          <a:prstGeom prst="rect">
            <a:avLst/>
          </a:prstGeom>
          <a:solidFill>
            <a:srgbClr val="0D9488"/>
          </a:solidFill>
          <a:ln w="12700">
            <a:solidFill>
              <a:srgbClr val="0D9488"/>
            </a:solidFill>
            <a:prstDash val="solid"/>
          </a:ln>
        </p:spPr>
      </p:sp>
      <p:sp>
        <p:nvSpPr>
          <p:cNvPr id="27" name="Text 25"/>
          <p:cNvSpPr/>
          <p:nvPr/>
        </p:nvSpPr>
        <p:spPr>
          <a:xfrm>
            <a:off x="4892040" y="2258568"/>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be keen on</a:t>
            </a:r>
            <a:endParaRPr lang="en-US" sz="1300" dirty="0"/>
          </a:p>
        </p:txBody>
      </p:sp>
      <p:sp>
        <p:nvSpPr>
          <p:cNvPr id="28" name="Text 26"/>
          <p:cNvSpPr/>
          <p:nvPr/>
        </p:nvSpPr>
        <p:spPr>
          <a:xfrm>
            <a:off x="4892040" y="2560320"/>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be very interested in sth | She's really keen on photography.</a:t>
            </a:r>
            <a:endParaRPr lang="en-US" sz="1000" dirty="0"/>
          </a:p>
        </p:txBody>
      </p:sp>
      <p:sp>
        <p:nvSpPr>
          <p:cNvPr id="29" name="Shape 27"/>
          <p:cNvSpPr/>
          <p:nvPr/>
        </p:nvSpPr>
        <p:spPr>
          <a:xfrm>
            <a:off x="4709160" y="3145536"/>
            <a:ext cx="4206240" cy="822960"/>
          </a:xfrm>
          <a:prstGeom prst="rect">
            <a:avLst/>
          </a:prstGeom>
          <a:solidFill>
            <a:srgbClr val="CCFBF1"/>
          </a:solidFill>
          <a:ln w="12700">
            <a:solidFill>
              <a:srgbClr val="0D9488"/>
            </a:solidFill>
            <a:prstDash val="solid"/>
          </a:ln>
        </p:spPr>
      </p:sp>
      <p:sp>
        <p:nvSpPr>
          <p:cNvPr id="30" name="Shape 28"/>
          <p:cNvSpPr/>
          <p:nvPr/>
        </p:nvSpPr>
        <p:spPr>
          <a:xfrm>
            <a:off x="4709160" y="3145536"/>
            <a:ext cx="91440" cy="822960"/>
          </a:xfrm>
          <a:prstGeom prst="rect">
            <a:avLst/>
          </a:prstGeom>
          <a:solidFill>
            <a:srgbClr val="0D9488"/>
          </a:solidFill>
          <a:ln w="12700">
            <a:solidFill>
              <a:srgbClr val="0D9488"/>
            </a:solidFill>
            <a:prstDash val="solid"/>
          </a:ln>
        </p:spPr>
      </p:sp>
      <p:sp>
        <p:nvSpPr>
          <p:cNvPr id="31" name="Text 29"/>
          <p:cNvSpPr/>
          <p:nvPr/>
        </p:nvSpPr>
        <p:spPr>
          <a:xfrm>
            <a:off x="4892040" y="3191256"/>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can't stand</a:t>
            </a:r>
            <a:endParaRPr lang="en-US" sz="1300" dirty="0"/>
          </a:p>
        </p:txBody>
      </p:sp>
      <p:sp>
        <p:nvSpPr>
          <p:cNvPr id="32" name="Text 30"/>
          <p:cNvSpPr/>
          <p:nvPr/>
        </p:nvSpPr>
        <p:spPr>
          <a:xfrm>
            <a:off x="4892040" y="3493008"/>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to strongly DISLIKE something | I can't stand heights!</a:t>
            </a:r>
            <a:endParaRPr lang="en-US" sz="1000" dirty="0"/>
          </a:p>
        </p:txBody>
      </p:sp>
      <p:sp>
        <p:nvSpPr>
          <p:cNvPr id="33" name="Shape 31"/>
          <p:cNvSpPr/>
          <p:nvPr/>
        </p:nvSpPr>
        <p:spPr>
          <a:xfrm>
            <a:off x="4709160" y="4078224"/>
            <a:ext cx="4206240" cy="822960"/>
          </a:xfrm>
          <a:prstGeom prst="rect">
            <a:avLst/>
          </a:prstGeom>
          <a:solidFill>
            <a:srgbClr val="CCFBF1"/>
          </a:solidFill>
          <a:ln w="12700">
            <a:solidFill>
              <a:srgbClr val="0D9488"/>
            </a:solidFill>
            <a:prstDash val="solid"/>
          </a:ln>
        </p:spPr>
      </p:sp>
      <p:sp>
        <p:nvSpPr>
          <p:cNvPr id="34" name="Shape 32"/>
          <p:cNvSpPr/>
          <p:nvPr/>
        </p:nvSpPr>
        <p:spPr>
          <a:xfrm>
            <a:off x="4709160" y="4078224"/>
            <a:ext cx="91440" cy="822960"/>
          </a:xfrm>
          <a:prstGeom prst="rect">
            <a:avLst/>
          </a:prstGeom>
          <a:solidFill>
            <a:srgbClr val="0D9488"/>
          </a:solidFill>
          <a:ln w="12700">
            <a:solidFill>
              <a:srgbClr val="0D9488"/>
            </a:solidFill>
            <a:prstDash val="solid"/>
          </a:ln>
        </p:spPr>
      </p:sp>
      <p:sp>
        <p:nvSpPr>
          <p:cNvPr id="35" name="Text 33"/>
          <p:cNvSpPr/>
          <p:nvPr/>
        </p:nvSpPr>
        <p:spPr>
          <a:xfrm>
            <a:off x="4892040" y="4123944"/>
            <a:ext cx="384048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dangerous</a:t>
            </a:r>
            <a:endParaRPr lang="en-US" sz="1300" dirty="0"/>
          </a:p>
        </p:txBody>
      </p:sp>
      <p:sp>
        <p:nvSpPr>
          <p:cNvPr id="36" name="Text 34"/>
          <p:cNvSpPr/>
          <p:nvPr/>
        </p:nvSpPr>
        <p:spPr>
          <a:xfrm>
            <a:off x="4892040" y="4425696"/>
            <a:ext cx="3840480" cy="384048"/>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unsafe, risk of injury (adj) | Climbing can be dangerous.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Reading: Johnny's Letter to Emily</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Read the letter and find examples of hobby vocabulary:</a:t>
            </a:r>
            <a:endParaRPr lang="en-US" sz="1300" dirty="0"/>
          </a:p>
        </p:txBody>
      </p:sp>
      <p:sp>
        <p:nvSpPr>
          <p:cNvPr id="5" name="Shape 3"/>
          <p:cNvSpPr/>
          <p:nvPr/>
        </p:nvSpPr>
        <p:spPr>
          <a:xfrm>
            <a:off x="365760" y="1188720"/>
            <a:ext cx="8412480" cy="3383280"/>
          </a:xfrm>
          <a:prstGeom prst="rect">
            <a:avLst/>
          </a:prstGeom>
          <a:solidFill>
            <a:srgbClr val="CCFBF1"/>
          </a:solidFill>
          <a:ln w="12700">
            <a:solidFill>
              <a:srgbClr val="0D9488"/>
            </a:solidFill>
            <a:prstDash val="solid"/>
          </a:ln>
        </p:spPr>
      </p:sp>
      <p:sp>
        <p:nvSpPr>
          <p:cNvPr id="6" name="Text 4"/>
          <p:cNvSpPr/>
          <p:nvPr/>
        </p:nvSpPr>
        <p:spPr>
          <a:xfrm>
            <a:off x="594360" y="1325880"/>
            <a:ext cx="7955280" cy="31089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I'm really keen on sports, especially water sports like surfing and sailing. I've been surfing since I was 7 and most summers I go down to Mexico to surf. I've also been diving a few times in Florida, and once in Australia. When I was at school I played baseball, but I gave it up 3 years ago.</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I like reading and playing music. I play guitar and also write songs. I'm not keen on watching TV, except for sports! Next winter I'm going skiing for the first time in Canada. And I'd like to try climbing there too.</a:t>
            </a:r>
            <a:endParaRPr lang="en-US" sz="1200" dirty="0"/>
          </a:p>
        </p:txBody>
      </p:sp>
      <p:sp>
        <p:nvSpPr>
          <p:cNvPr id="7" name="Text 5"/>
          <p:cNvSpPr/>
          <p:nvPr/>
        </p:nvSpPr>
        <p:spPr>
          <a:xfrm>
            <a:off x="365760" y="4663440"/>
            <a:ext cx="8412480" cy="347472"/>
          </a:xfrm>
          <a:prstGeom prst="rect">
            <a:avLst/>
          </a:prstGeom>
          <a:noFill/>
          <a:ln/>
        </p:spPr>
        <p:txBody>
          <a:bodyPr wrap="square" rtlCol="0" anchor="ctr"/>
          <a:lstStyle/>
          <a:p>
            <a:pPr marL="0" indent="0">
              <a:buNone/>
            </a:pPr>
            <a:r>
              <a:rPr lang="en-US" sz="1100" b="1" dirty="0">
                <a:solidFill>
                  <a:srgbClr val="EA580C"/>
                </a:solidFill>
                <a:latin typeface="Calibri" pitchFamily="34" charset="0"/>
                <a:ea typeface="Calibri" pitchFamily="34" charset="-122"/>
                <a:cs typeface="Calibri" pitchFamily="34" charset="-120"/>
              </a:rPr>
              <a:t>CCQ Discussion: How many hobbies does Johnny have? Which did he give up? Which is new for him?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A34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LISTENING · SECTION 3</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Vocabulary: Playing Sports</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A34A"/>
          </a:solidFill>
          <a:ln w="12700">
            <a:solidFill>
              <a:srgbClr val="16A34A"/>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Sports Vocabulary</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These nouns and verbs are all common in sports conversations:</a:t>
            </a:r>
            <a:endParaRPr lang="en-US" sz="1300" dirty="0"/>
          </a:p>
        </p:txBody>
      </p:sp>
      <p:sp>
        <p:nvSpPr>
          <p:cNvPr id="5" name="Shape 3"/>
          <p:cNvSpPr/>
          <p:nvPr/>
        </p:nvSpPr>
        <p:spPr>
          <a:xfrm>
            <a:off x="274320" y="1234440"/>
            <a:ext cx="2743200" cy="1143000"/>
          </a:xfrm>
          <a:prstGeom prst="rect">
            <a:avLst/>
          </a:prstGeom>
          <a:solidFill>
            <a:srgbClr val="DCFCE7"/>
          </a:solidFill>
          <a:ln w="12700">
            <a:solidFill>
              <a:srgbClr val="16A34A"/>
            </a:solidFill>
            <a:prstDash val="solid"/>
          </a:ln>
        </p:spPr>
      </p:sp>
      <p:sp>
        <p:nvSpPr>
          <p:cNvPr id="6" name="Text 4"/>
          <p:cNvSpPr/>
          <p:nvPr/>
        </p:nvSpPr>
        <p:spPr>
          <a:xfrm>
            <a:off x="411480" y="1307592"/>
            <a:ext cx="2468880" cy="347472"/>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play a game  (verb)</a:t>
            </a:r>
            <a:endParaRPr lang="en-US" sz="1200" dirty="0"/>
          </a:p>
        </p:txBody>
      </p:sp>
      <p:sp>
        <p:nvSpPr>
          <p:cNvPr id="7" name="Text 5"/>
          <p:cNvSpPr/>
          <p:nvPr/>
        </p:nvSpPr>
        <p:spPr>
          <a:xfrm>
            <a:off x="411480" y="1691640"/>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take part in a specific match</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'I play a game of badminton.'</a:t>
            </a:r>
            <a:endParaRPr lang="en-US" sz="1000" dirty="0"/>
          </a:p>
        </p:txBody>
      </p:sp>
      <p:sp>
        <p:nvSpPr>
          <p:cNvPr id="8" name="Shape 6"/>
          <p:cNvSpPr/>
          <p:nvPr/>
        </p:nvSpPr>
        <p:spPr>
          <a:xfrm>
            <a:off x="3200400" y="1234440"/>
            <a:ext cx="2743200" cy="1143000"/>
          </a:xfrm>
          <a:prstGeom prst="rect">
            <a:avLst/>
          </a:prstGeom>
          <a:solidFill>
            <a:srgbClr val="DCFCE7"/>
          </a:solidFill>
          <a:ln w="12700">
            <a:solidFill>
              <a:srgbClr val="0D9488"/>
            </a:solidFill>
            <a:prstDash val="solid"/>
          </a:ln>
        </p:spPr>
      </p:sp>
      <p:sp>
        <p:nvSpPr>
          <p:cNvPr id="9" name="Text 7"/>
          <p:cNvSpPr/>
          <p:nvPr/>
        </p:nvSpPr>
        <p:spPr>
          <a:xfrm>
            <a:off x="3337560" y="1307592"/>
            <a:ext cx="2468880" cy="34747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play sports  (verb)</a:t>
            </a:r>
            <a:endParaRPr lang="en-US" sz="1200" dirty="0"/>
          </a:p>
        </p:txBody>
      </p:sp>
      <p:sp>
        <p:nvSpPr>
          <p:cNvPr id="10" name="Text 8"/>
          <p:cNvSpPr/>
          <p:nvPr/>
        </p:nvSpPr>
        <p:spPr>
          <a:xfrm>
            <a:off x="3337560" y="1691640"/>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take part in sports as a hobby</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'Many people play sports.'</a:t>
            </a:r>
            <a:endParaRPr lang="en-US" sz="1000" dirty="0"/>
          </a:p>
        </p:txBody>
      </p:sp>
      <p:sp>
        <p:nvSpPr>
          <p:cNvPr id="11" name="Shape 9"/>
          <p:cNvSpPr/>
          <p:nvPr/>
        </p:nvSpPr>
        <p:spPr>
          <a:xfrm>
            <a:off x="6126480" y="1234440"/>
            <a:ext cx="2743200" cy="1143000"/>
          </a:xfrm>
          <a:prstGeom prst="rect">
            <a:avLst/>
          </a:prstGeom>
          <a:solidFill>
            <a:srgbClr val="DCFCE7"/>
          </a:solidFill>
          <a:ln w="12700">
            <a:solidFill>
              <a:srgbClr val="2563EB"/>
            </a:solidFill>
            <a:prstDash val="solid"/>
          </a:ln>
        </p:spPr>
      </p:sp>
      <p:sp>
        <p:nvSpPr>
          <p:cNvPr id="12" name="Text 10"/>
          <p:cNvSpPr/>
          <p:nvPr/>
        </p:nvSpPr>
        <p:spPr>
          <a:xfrm>
            <a:off x="6263640" y="1307592"/>
            <a:ext cx="2468880" cy="347472"/>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sneakers  (noun)</a:t>
            </a:r>
            <a:endParaRPr lang="en-US" sz="1200" dirty="0"/>
          </a:p>
        </p:txBody>
      </p:sp>
      <p:sp>
        <p:nvSpPr>
          <p:cNvPr id="13" name="Text 11"/>
          <p:cNvSpPr/>
          <p:nvPr/>
        </p:nvSpPr>
        <p:spPr>
          <a:xfrm>
            <a:off x="6263640" y="1691640"/>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shoes worn to play sports</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'Sneakers are comfortable.'</a:t>
            </a:r>
            <a:endParaRPr lang="en-US" sz="1000" dirty="0"/>
          </a:p>
        </p:txBody>
      </p:sp>
      <p:sp>
        <p:nvSpPr>
          <p:cNvPr id="14" name="Shape 12"/>
          <p:cNvSpPr/>
          <p:nvPr/>
        </p:nvSpPr>
        <p:spPr>
          <a:xfrm>
            <a:off x="274320" y="2496312"/>
            <a:ext cx="2743200" cy="1143000"/>
          </a:xfrm>
          <a:prstGeom prst="rect">
            <a:avLst/>
          </a:prstGeom>
          <a:solidFill>
            <a:srgbClr val="DCFCE7"/>
          </a:solidFill>
          <a:ln w="12700">
            <a:solidFill>
              <a:srgbClr val="7C3AED"/>
            </a:solidFill>
            <a:prstDash val="solid"/>
          </a:ln>
        </p:spPr>
      </p:sp>
      <p:sp>
        <p:nvSpPr>
          <p:cNvPr id="15" name="Text 13"/>
          <p:cNvSpPr/>
          <p:nvPr/>
        </p:nvSpPr>
        <p:spPr>
          <a:xfrm>
            <a:off x="411480" y="2569464"/>
            <a:ext cx="2468880" cy="347472"/>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racket  (noun)</a:t>
            </a:r>
            <a:endParaRPr lang="en-US" sz="1200" dirty="0"/>
          </a:p>
        </p:txBody>
      </p:sp>
      <p:sp>
        <p:nvSpPr>
          <p:cNvPr id="16" name="Text 14"/>
          <p:cNvSpPr/>
          <p:nvPr/>
        </p:nvSpPr>
        <p:spPr>
          <a:xfrm>
            <a:off x="411480" y="2953512"/>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you hit the ball with it</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'Use a racket in tennis.'</a:t>
            </a:r>
            <a:endParaRPr lang="en-US" sz="1000" dirty="0"/>
          </a:p>
        </p:txBody>
      </p:sp>
      <p:sp>
        <p:nvSpPr>
          <p:cNvPr id="17" name="Shape 15"/>
          <p:cNvSpPr/>
          <p:nvPr/>
        </p:nvSpPr>
        <p:spPr>
          <a:xfrm>
            <a:off x="3200400" y="2496312"/>
            <a:ext cx="2743200" cy="1143000"/>
          </a:xfrm>
          <a:prstGeom prst="rect">
            <a:avLst/>
          </a:prstGeom>
          <a:solidFill>
            <a:srgbClr val="DCFCE7"/>
          </a:solidFill>
          <a:ln w="12700">
            <a:solidFill>
              <a:srgbClr val="EA580C"/>
            </a:solidFill>
            <a:prstDash val="solid"/>
          </a:ln>
        </p:spPr>
      </p:sp>
      <p:sp>
        <p:nvSpPr>
          <p:cNvPr id="18" name="Text 16"/>
          <p:cNvSpPr/>
          <p:nvPr/>
        </p:nvSpPr>
        <p:spPr>
          <a:xfrm>
            <a:off x="3337560" y="2569464"/>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pool  (noun)</a:t>
            </a:r>
            <a:endParaRPr lang="en-US" sz="1200" dirty="0"/>
          </a:p>
        </p:txBody>
      </p:sp>
      <p:sp>
        <p:nvSpPr>
          <p:cNvPr id="19" name="Text 17"/>
          <p:cNvSpPr/>
          <p:nvPr/>
        </p:nvSpPr>
        <p:spPr>
          <a:xfrm>
            <a:off x="3337560" y="2953512"/>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area of water for swimming</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'Go swimming in the pool.'</a:t>
            </a:r>
            <a:endParaRPr lang="en-US" sz="1000" dirty="0"/>
          </a:p>
        </p:txBody>
      </p:sp>
      <p:sp>
        <p:nvSpPr>
          <p:cNvPr id="20" name="Shape 18"/>
          <p:cNvSpPr/>
          <p:nvPr/>
        </p:nvSpPr>
        <p:spPr>
          <a:xfrm>
            <a:off x="6126480" y="2496312"/>
            <a:ext cx="2743200" cy="1143000"/>
          </a:xfrm>
          <a:prstGeom prst="rect">
            <a:avLst/>
          </a:prstGeom>
          <a:solidFill>
            <a:srgbClr val="DCFCE7"/>
          </a:solidFill>
          <a:ln w="12700">
            <a:solidFill>
              <a:srgbClr val="DC2626"/>
            </a:solidFill>
            <a:prstDash val="solid"/>
          </a:ln>
        </p:spPr>
      </p:sp>
      <p:sp>
        <p:nvSpPr>
          <p:cNvPr id="21" name="Text 19"/>
          <p:cNvSpPr/>
          <p:nvPr/>
        </p:nvSpPr>
        <p:spPr>
          <a:xfrm>
            <a:off x="6263640" y="2569464"/>
            <a:ext cx="2468880" cy="347472"/>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court  (noun)</a:t>
            </a:r>
            <a:endParaRPr lang="en-US" sz="1200" dirty="0"/>
          </a:p>
        </p:txBody>
      </p:sp>
      <p:sp>
        <p:nvSpPr>
          <p:cNvPr id="22" name="Text 20"/>
          <p:cNvSpPr/>
          <p:nvPr/>
        </p:nvSpPr>
        <p:spPr>
          <a:xfrm>
            <a:off x="6263640" y="2953512"/>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special area for ball games</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'Play tennis on a court.'</a:t>
            </a:r>
            <a:endParaRPr lang="en-US" sz="1000" dirty="0"/>
          </a:p>
        </p:txBody>
      </p:sp>
      <p:sp>
        <p:nvSpPr>
          <p:cNvPr id="23" name="Shape 21"/>
          <p:cNvSpPr/>
          <p:nvPr/>
        </p:nvSpPr>
        <p:spPr>
          <a:xfrm>
            <a:off x="274320" y="3758184"/>
            <a:ext cx="2743200" cy="1143000"/>
          </a:xfrm>
          <a:prstGeom prst="rect">
            <a:avLst/>
          </a:prstGeom>
          <a:solidFill>
            <a:srgbClr val="DCFCE7"/>
          </a:solidFill>
          <a:ln w="12700">
            <a:solidFill>
              <a:srgbClr val="16A34A"/>
            </a:solidFill>
            <a:prstDash val="solid"/>
          </a:ln>
        </p:spPr>
      </p:sp>
      <p:sp>
        <p:nvSpPr>
          <p:cNvPr id="24" name="Text 22"/>
          <p:cNvSpPr/>
          <p:nvPr/>
        </p:nvSpPr>
        <p:spPr>
          <a:xfrm>
            <a:off x="411480" y="3831336"/>
            <a:ext cx="2468880" cy="347472"/>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winner  (noun)</a:t>
            </a:r>
            <a:endParaRPr lang="en-US" sz="1200" dirty="0"/>
          </a:p>
        </p:txBody>
      </p:sp>
      <p:sp>
        <p:nvSpPr>
          <p:cNvPr id="25" name="Text 23"/>
          <p:cNvSpPr/>
          <p:nvPr/>
        </p:nvSpPr>
        <p:spPr>
          <a:xfrm>
            <a:off x="411480" y="4215384"/>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the person who wins</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'Beat your opponent to win!'</a:t>
            </a:r>
            <a:endParaRPr lang="en-US" sz="1000" dirty="0"/>
          </a:p>
        </p:txBody>
      </p:sp>
      <p:sp>
        <p:nvSpPr>
          <p:cNvPr id="26" name="Shape 24"/>
          <p:cNvSpPr/>
          <p:nvPr/>
        </p:nvSpPr>
        <p:spPr>
          <a:xfrm>
            <a:off x="3200400" y="3758184"/>
            <a:ext cx="2743200" cy="1143000"/>
          </a:xfrm>
          <a:prstGeom prst="rect">
            <a:avLst/>
          </a:prstGeom>
          <a:solidFill>
            <a:srgbClr val="DCFCE7"/>
          </a:solidFill>
          <a:ln w="12700">
            <a:solidFill>
              <a:srgbClr val="0D9488"/>
            </a:solidFill>
            <a:prstDash val="solid"/>
          </a:ln>
        </p:spPr>
      </p:sp>
      <p:sp>
        <p:nvSpPr>
          <p:cNvPr id="27" name="Text 25"/>
          <p:cNvSpPr/>
          <p:nvPr/>
        </p:nvSpPr>
        <p:spPr>
          <a:xfrm>
            <a:off x="3337560" y="3831336"/>
            <a:ext cx="2468880" cy="34747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coach  (noun)</a:t>
            </a:r>
            <a:endParaRPr lang="en-US" sz="1200" dirty="0"/>
          </a:p>
        </p:txBody>
      </p:sp>
      <p:sp>
        <p:nvSpPr>
          <p:cNvPr id="28" name="Text 26"/>
          <p:cNvSpPr/>
          <p:nvPr/>
        </p:nvSpPr>
        <p:spPr>
          <a:xfrm>
            <a:off x="3337560" y="4215384"/>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person who teaches a sport</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'A coach teaches you how.'</a:t>
            </a:r>
            <a:endParaRPr lang="en-US" sz="1000" dirty="0"/>
          </a:p>
        </p:txBody>
      </p:sp>
      <p:sp>
        <p:nvSpPr>
          <p:cNvPr id="29" name="Shape 27"/>
          <p:cNvSpPr/>
          <p:nvPr/>
        </p:nvSpPr>
        <p:spPr>
          <a:xfrm>
            <a:off x="6126480" y="3758184"/>
            <a:ext cx="2743200" cy="1143000"/>
          </a:xfrm>
          <a:prstGeom prst="rect">
            <a:avLst/>
          </a:prstGeom>
          <a:solidFill>
            <a:srgbClr val="DCFCE7"/>
          </a:solidFill>
          <a:ln w="12700">
            <a:solidFill>
              <a:srgbClr val="2563EB"/>
            </a:solidFill>
            <a:prstDash val="solid"/>
          </a:ln>
        </p:spPr>
      </p:sp>
      <p:sp>
        <p:nvSpPr>
          <p:cNvPr id="30" name="Text 28"/>
          <p:cNvSpPr/>
          <p:nvPr/>
        </p:nvSpPr>
        <p:spPr>
          <a:xfrm>
            <a:off x="6263640" y="3831336"/>
            <a:ext cx="2468880" cy="347472"/>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score  (noun)</a:t>
            </a:r>
            <a:endParaRPr lang="en-US" sz="1200" dirty="0"/>
          </a:p>
        </p:txBody>
      </p:sp>
      <p:sp>
        <p:nvSpPr>
          <p:cNvPr id="31" name="Text 29"/>
          <p:cNvSpPr/>
          <p:nvPr/>
        </p:nvSpPr>
        <p:spPr>
          <a:xfrm>
            <a:off x="6263640" y="4215384"/>
            <a:ext cx="2468880" cy="59436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points a team earns</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'The score is 12-3!'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A34A"/>
          </a:solidFill>
          <a:ln w="12700">
            <a:solidFill>
              <a:srgbClr val="16A34A"/>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Listening: Samantha &amp; Jerry at the Gym</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Read the transcript. Circle all sports vocabulary words you can find!</a:t>
            </a:r>
            <a:endParaRPr lang="en-US" sz="1300" dirty="0"/>
          </a:p>
        </p:txBody>
      </p:sp>
      <p:sp>
        <p:nvSpPr>
          <p:cNvPr id="5" name="Shape 3"/>
          <p:cNvSpPr/>
          <p:nvPr/>
        </p:nvSpPr>
        <p:spPr>
          <a:xfrm>
            <a:off x="274320" y="1234440"/>
            <a:ext cx="8595360" cy="384048"/>
          </a:xfrm>
          <a:prstGeom prst="rect">
            <a:avLst/>
          </a:prstGeom>
          <a:solidFill>
            <a:srgbClr val="DCFCE7"/>
          </a:solidFill>
          <a:ln w="12700">
            <a:solidFill>
              <a:srgbClr val="DCFCE7"/>
            </a:solidFill>
            <a:prstDash val="solid"/>
          </a:ln>
        </p:spPr>
      </p:sp>
      <p:sp>
        <p:nvSpPr>
          <p:cNvPr id="6" name="Text 4"/>
          <p:cNvSpPr/>
          <p:nvPr/>
        </p:nvSpPr>
        <p:spPr>
          <a:xfrm>
            <a:off x="411480" y="1280160"/>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Jerry:</a:t>
            </a:r>
            <a:endParaRPr lang="en-US" sz="1100" dirty="0"/>
          </a:p>
        </p:txBody>
      </p:sp>
      <p:sp>
        <p:nvSpPr>
          <p:cNvPr id="7" name="Text 5"/>
          <p:cNvSpPr/>
          <p:nvPr/>
        </p:nvSpPr>
        <p:spPr>
          <a:xfrm>
            <a:off x="1463040" y="1280160"/>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Samantha! What are you doing here?</a:t>
            </a:r>
            <a:endParaRPr lang="en-US" sz="1100" dirty="0"/>
          </a:p>
        </p:txBody>
      </p:sp>
      <p:sp>
        <p:nvSpPr>
          <p:cNvPr id="8" name="Shape 6"/>
          <p:cNvSpPr/>
          <p:nvPr/>
        </p:nvSpPr>
        <p:spPr>
          <a:xfrm>
            <a:off x="274320" y="1655064"/>
            <a:ext cx="8595360" cy="384048"/>
          </a:xfrm>
          <a:prstGeom prst="rect">
            <a:avLst/>
          </a:prstGeom>
          <a:solidFill>
            <a:srgbClr val="F8FAFC"/>
          </a:solidFill>
          <a:ln w="12700">
            <a:solidFill>
              <a:srgbClr val="F8FAFC"/>
            </a:solidFill>
            <a:prstDash val="solid"/>
          </a:ln>
        </p:spPr>
      </p:sp>
      <p:sp>
        <p:nvSpPr>
          <p:cNvPr id="9" name="Text 7"/>
          <p:cNvSpPr/>
          <p:nvPr/>
        </p:nvSpPr>
        <p:spPr>
          <a:xfrm>
            <a:off x="411480" y="1700784"/>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Samantha:</a:t>
            </a:r>
            <a:endParaRPr lang="en-US" sz="1100" dirty="0"/>
          </a:p>
        </p:txBody>
      </p:sp>
      <p:sp>
        <p:nvSpPr>
          <p:cNvPr id="10" name="Text 8"/>
          <p:cNvSpPr/>
          <p:nvPr/>
        </p:nvSpPr>
        <p:spPr>
          <a:xfrm>
            <a:off x="1463040" y="1700784"/>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Hi, Jerry. I'm learning to play badminton.</a:t>
            </a:r>
            <a:endParaRPr lang="en-US" sz="1100" dirty="0"/>
          </a:p>
        </p:txBody>
      </p:sp>
      <p:sp>
        <p:nvSpPr>
          <p:cNvPr id="11" name="Shape 9"/>
          <p:cNvSpPr/>
          <p:nvPr/>
        </p:nvSpPr>
        <p:spPr>
          <a:xfrm>
            <a:off x="274320" y="2075688"/>
            <a:ext cx="8595360" cy="384048"/>
          </a:xfrm>
          <a:prstGeom prst="rect">
            <a:avLst/>
          </a:prstGeom>
          <a:solidFill>
            <a:srgbClr val="DCFCE7"/>
          </a:solidFill>
          <a:ln w="12700">
            <a:solidFill>
              <a:srgbClr val="DCFCE7"/>
            </a:solidFill>
            <a:prstDash val="solid"/>
          </a:ln>
        </p:spPr>
      </p:sp>
      <p:sp>
        <p:nvSpPr>
          <p:cNvPr id="12" name="Text 10"/>
          <p:cNvSpPr/>
          <p:nvPr/>
        </p:nvSpPr>
        <p:spPr>
          <a:xfrm>
            <a:off x="411480" y="2121408"/>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Jerry:</a:t>
            </a:r>
            <a:endParaRPr lang="en-US" sz="1100" dirty="0"/>
          </a:p>
        </p:txBody>
      </p:sp>
      <p:sp>
        <p:nvSpPr>
          <p:cNvPr id="13" name="Text 11"/>
          <p:cNvSpPr/>
          <p:nvPr/>
        </p:nvSpPr>
        <p:spPr>
          <a:xfrm>
            <a:off x="1463040" y="2121408"/>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Really? I didn't know you did any sports.</a:t>
            </a:r>
            <a:endParaRPr lang="en-US" sz="1100" dirty="0"/>
          </a:p>
        </p:txBody>
      </p:sp>
      <p:sp>
        <p:nvSpPr>
          <p:cNvPr id="14" name="Shape 12"/>
          <p:cNvSpPr/>
          <p:nvPr/>
        </p:nvSpPr>
        <p:spPr>
          <a:xfrm>
            <a:off x="274320" y="2496312"/>
            <a:ext cx="8595360" cy="384048"/>
          </a:xfrm>
          <a:prstGeom prst="rect">
            <a:avLst/>
          </a:prstGeom>
          <a:solidFill>
            <a:srgbClr val="F8FAFC"/>
          </a:solidFill>
          <a:ln w="12700">
            <a:solidFill>
              <a:srgbClr val="F8FAFC"/>
            </a:solidFill>
            <a:prstDash val="solid"/>
          </a:ln>
        </p:spPr>
      </p:sp>
      <p:sp>
        <p:nvSpPr>
          <p:cNvPr id="15" name="Text 13"/>
          <p:cNvSpPr/>
          <p:nvPr/>
        </p:nvSpPr>
        <p:spPr>
          <a:xfrm>
            <a:off x="411480" y="2542032"/>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Samantha:</a:t>
            </a:r>
            <a:endParaRPr lang="en-US" sz="1100" dirty="0"/>
          </a:p>
        </p:txBody>
      </p:sp>
      <p:sp>
        <p:nvSpPr>
          <p:cNvPr id="16" name="Text 14"/>
          <p:cNvSpPr/>
          <p:nvPr/>
        </p:nvSpPr>
        <p:spPr>
          <a:xfrm>
            <a:off x="1463040" y="2542032"/>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I've gained 10 kilos. It's time to do some exercise and get in shape!</a:t>
            </a:r>
            <a:endParaRPr lang="en-US" sz="1100" dirty="0"/>
          </a:p>
        </p:txBody>
      </p:sp>
      <p:sp>
        <p:nvSpPr>
          <p:cNvPr id="17" name="Shape 15"/>
          <p:cNvSpPr/>
          <p:nvPr/>
        </p:nvSpPr>
        <p:spPr>
          <a:xfrm>
            <a:off x="274320" y="2916936"/>
            <a:ext cx="8595360" cy="384048"/>
          </a:xfrm>
          <a:prstGeom prst="rect">
            <a:avLst/>
          </a:prstGeom>
          <a:solidFill>
            <a:srgbClr val="DCFCE7"/>
          </a:solidFill>
          <a:ln w="12700">
            <a:solidFill>
              <a:srgbClr val="DCFCE7"/>
            </a:solidFill>
            <a:prstDash val="solid"/>
          </a:ln>
        </p:spPr>
      </p:sp>
      <p:sp>
        <p:nvSpPr>
          <p:cNvPr id="18" name="Text 16"/>
          <p:cNvSpPr/>
          <p:nvPr/>
        </p:nvSpPr>
        <p:spPr>
          <a:xfrm>
            <a:off x="411480" y="2962656"/>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Jerry:</a:t>
            </a:r>
            <a:endParaRPr lang="en-US" sz="1100" dirty="0"/>
          </a:p>
        </p:txBody>
      </p:sp>
      <p:sp>
        <p:nvSpPr>
          <p:cNvPr id="19" name="Text 17"/>
          <p:cNvSpPr/>
          <p:nvPr/>
        </p:nvSpPr>
        <p:spPr>
          <a:xfrm>
            <a:off x="1463040" y="2962656"/>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That's great! The badminton coach is very good. And I see you have a new racket and sneakers!</a:t>
            </a:r>
            <a:endParaRPr lang="en-US" sz="1100" dirty="0"/>
          </a:p>
        </p:txBody>
      </p:sp>
      <p:sp>
        <p:nvSpPr>
          <p:cNvPr id="20" name="Shape 18"/>
          <p:cNvSpPr/>
          <p:nvPr/>
        </p:nvSpPr>
        <p:spPr>
          <a:xfrm>
            <a:off x="274320" y="3337560"/>
            <a:ext cx="8595360" cy="384048"/>
          </a:xfrm>
          <a:prstGeom prst="rect">
            <a:avLst/>
          </a:prstGeom>
          <a:solidFill>
            <a:srgbClr val="F8FAFC"/>
          </a:solidFill>
          <a:ln w="12700">
            <a:solidFill>
              <a:srgbClr val="F8FAFC"/>
            </a:solidFill>
            <a:prstDash val="solid"/>
          </a:ln>
        </p:spPr>
      </p:sp>
      <p:sp>
        <p:nvSpPr>
          <p:cNvPr id="21" name="Text 19"/>
          <p:cNvSpPr/>
          <p:nvPr/>
        </p:nvSpPr>
        <p:spPr>
          <a:xfrm>
            <a:off x="411480" y="3383280"/>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Samantha:</a:t>
            </a:r>
            <a:endParaRPr lang="en-US" sz="1100" dirty="0"/>
          </a:p>
        </p:txBody>
      </p:sp>
      <p:sp>
        <p:nvSpPr>
          <p:cNvPr id="22" name="Text 20"/>
          <p:cNvSpPr/>
          <p:nvPr/>
        </p:nvSpPr>
        <p:spPr>
          <a:xfrm>
            <a:off x="1463040" y="3383280"/>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What I really love is the pool — after the lesson, I go swimming. You don't have to score points!</a:t>
            </a:r>
            <a:endParaRPr lang="en-US" sz="1100" dirty="0"/>
          </a:p>
        </p:txBody>
      </p:sp>
      <p:sp>
        <p:nvSpPr>
          <p:cNvPr id="23" name="Shape 21"/>
          <p:cNvSpPr/>
          <p:nvPr/>
        </p:nvSpPr>
        <p:spPr>
          <a:xfrm>
            <a:off x="274320" y="3758184"/>
            <a:ext cx="8595360" cy="384048"/>
          </a:xfrm>
          <a:prstGeom prst="rect">
            <a:avLst/>
          </a:prstGeom>
          <a:solidFill>
            <a:srgbClr val="DCFCE7"/>
          </a:solidFill>
          <a:ln w="12700">
            <a:solidFill>
              <a:srgbClr val="DCFCE7"/>
            </a:solidFill>
            <a:prstDash val="solid"/>
          </a:ln>
        </p:spPr>
      </p:sp>
      <p:sp>
        <p:nvSpPr>
          <p:cNvPr id="24" name="Text 22"/>
          <p:cNvSpPr/>
          <p:nvPr/>
        </p:nvSpPr>
        <p:spPr>
          <a:xfrm>
            <a:off x="411480" y="3803904"/>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Jerry:</a:t>
            </a:r>
            <a:endParaRPr lang="en-US" sz="1100" dirty="0"/>
          </a:p>
        </p:txBody>
      </p:sp>
      <p:sp>
        <p:nvSpPr>
          <p:cNvPr id="25" name="Text 23"/>
          <p:cNvSpPr/>
          <p:nvPr/>
        </p:nvSpPr>
        <p:spPr>
          <a:xfrm>
            <a:off x="1463040" y="3803904"/>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Badminton's great against a good player. Why don't we play a practice game?</a:t>
            </a:r>
            <a:endParaRPr lang="en-US" sz="1100" dirty="0"/>
          </a:p>
        </p:txBody>
      </p:sp>
      <p:sp>
        <p:nvSpPr>
          <p:cNvPr id="26" name="Shape 24"/>
          <p:cNvSpPr/>
          <p:nvPr/>
        </p:nvSpPr>
        <p:spPr>
          <a:xfrm>
            <a:off x="274320" y="4178808"/>
            <a:ext cx="8595360" cy="384048"/>
          </a:xfrm>
          <a:prstGeom prst="rect">
            <a:avLst/>
          </a:prstGeom>
          <a:solidFill>
            <a:srgbClr val="F8FAFC"/>
          </a:solidFill>
          <a:ln w="12700">
            <a:solidFill>
              <a:srgbClr val="F8FAFC"/>
            </a:solidFill>
            <a:prstDash val="solid"/>
          </a:ln>
        </p:spPr>
      </p:sp>
      <p:sp>
        <p:nvSpPr>
          <p:cNvPr id="27" name="Text 25"/>
          <p:cNvSpPr/>
          <p:nvPr/>
        </p:nvSpPr>
        <p:spPr>
          <a:xfrm>
            <a:off x="411480" y="4224528"/>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Samantha:</a:t>
            </a:r>
            <a:endParaRPr lang="en-US" sz="1100" dirty="0"/>
          </a:p>
        </p:txBody>
      </p:sp>
      <p:sp>
        <p:nvSpPr>
          <p:cNvPr id="28" name="Text 26"/>
          <p:cNvSpPr/>
          <p:nvPr/>
        </p:nvSpPr>
        <p:spPr>
          <a:xfrm>
            <a:off x="1463040" y="4224528"/>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Okay, but the winner buys the drinks!</a:t>
            </a:r>
            <a:endParaRPr lang="en-US" sz="1100" dirty="0"/>
          </a:p>
        </p:txBody>
      </p:sp>
      <p:sp>
        <p:nvSpPr>
          <p:cNvPr id="29" name="Shape 27"/>
          <p:cNvSpPr/>
          <p:nvPr/>
        </p:nvSpPr>
        <p:spPr>
          <a:xfrm>
            <a:off x="274320" y="4599432"/>
            <a:ext cx="8595360" cy="384048"/>
          </a:xfrm>
          <a:prstGeom prst="rect">
            <a:avLst/>
          </a:prstGeom>
          <a:solidFill>
            <a:srgbClr val="DCFCE7"/>
          </a:solidFill>
          <a:ln w="12700">
            <a:solidFill>
              <a:srgbClr val="DCFCE7"/>
            </a:solidFill>
            <a:prstDash val="solid"/>
          </a:ln>
        </p:spPr>
      </p:sp>
      <p:sp>
        <p:nvSpPr>
          <p:cNvPr id="30" name="Text 28"/>
          <p:cNvSpPr/>
          <p:nvPr/>
        </p:nvSpPr>
        <p:spPr>
          <a:xfrm>
            <a:off x="411480" y="4645152"/>
            <a:ext cx="1005840" cy="29260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Jerry:</a:t>
            </a:r>
            <a:endParaRPr lang="en-US" sz="1100" dirty="0"/>
          </a:p>
        </p:txBody>
      </p:sp>
      <p:sp>
        <p:nvSpPr>
          <p:cNvPr id="31" name="Text 29"/>
          <p:cNvSpPr/>
          <p:nvPr/>
        </p:nvSpPr>
        <p:spPr>
          <a:xfrm>
            <a:off x="1463040" y="4645152"/>
            <a:ext cx="7315200"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 problem! I'll book the court.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580C"/>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LISTENING · SECTION 4</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Sightseeing &amp; Airport Vocabulary</a:t>
            </a:r>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A580C"/>
          </a:solidFill>
          <a:ln w="12700">
            <a:solidFill>
              <a:srgbClr val="EA580C"/>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Sightseeing Vocabulary</a:t>
            </a:r>
            <a:endParaRPr lang="en-US" sz="2200" dirty="0"/>
          </a:p>
        </p:txBody>
      </p:sp>
      <p:sp>
        <p:nvSpPr>
          <p:cNvPr id="4" name="Shape 2"/>
          <p:cNvSpPr/>
          <p:nvPr/>
        </p:nvSpPr>
        <p:spPr>
          <a:xfrm>
            <a:off x="274320" y="914400"/>
            <a:ext cx="2743200" cy="1261872"/>
          </a:xfrm>
          <a:prstGeom prst="rect">
            <a:avLst/>
          </a:prstGeom>
          <a:solidFill>
            <a:srgbClr val="FFEDD5"/>
          </a:solidFill>
          <a:ln w="12700">
            <a:solidFill>
              <a:srgbClr val="EA580C"/>
            </a:solidFill>
            <a:prstDash val="solid"/>
          </a:ln>
        </p:spPr>
      </p:sp>
      <p:sp>
        <p:nvSpPr>
          <p:cNvPr id="5" name="Shape 3"/>
          <p:cNvSpPr/>
          <p:nvPr/>
        </p:nvSpPr>
        <p:spPr>
          <a:xfrm>
            <a:off x="274320" y="914400"/>
            <a:ext cx="2743200" cy="438912"/>
          </a:xfrm>
          <a:prstGeom prst="rect">
            <a:avLst/>
          </a:prstGeom>
          <a:solidFill>
            <a:srgbClr val="EA580C"/>
          </a:solidFill>
          <a:ln w="12700">
            <a:solidFill>
              <a:srgbClr val="EA580C"/>
            </a:solidFill>
            <a:prstDash val="solid"/>
          </a:ln>
        </p:spPr>
      </p:sp>
      <p:sp>
        <p:nvSpPr>
          <p:cNvPr id="6" name="Text 4"/>
          <p:cNvSpPr/>
          <p:nvPr/>
        </p:nvSpPr>
        <p:spPr>
          <a:xfrm>
            <a:off x="384048" y="978408"/>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tour guide</a:t>
            </a:r>
            <a:endParaRPr lang="en-US" sz="1300" dirty="0"/>
          </a:p>
        </p:txBody>
      </p:sp>
      <p:sp>
        <p:nvSpPr>
          <p:cNvPr id="7" name="Text 5"/>
          <p:cNvSpPr/>
          <p:nvPr/>
        </p:nvSpPr>
        <p:spPr>
          <a:xfrm>
            <a:off x="384048" y="1463040"/>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shows tourists around a place</a:t>
            </a:r>
            <a:endParaRPr lang="en-US" sz="1100" dirty="0"/>
          </a:p>
        </p:txBody>
      </p:sp>
      <p:sp>
        <p:nvSpPr>
          <p:cNvPr id="8" name="Shape 6"/>
          <p:cNvSpPr/>
          <p:nvPr/>
        </p:nvSpPr>
        <p:spPr>
          <a:xfrm>
            <a:off x="3200400" y="914400"/>
            <a:ext cx="2743200" cy="1261872"/>
          </a:xfrm>
          <a:prstGeom prst="rect">
            <a:avLst/>
          </a:prstGeom>
          <a:solidFill>
            <a:srgbClr val="FFEDD5"/>
          </a:solidFill>
          <a:ln w="12700">
            <a:solidFill>
              <a:srgbClr val="EA580C"/>
            </a:solidFill>
            <a:prstDash val="solid"/>
          </a:ln>
        </p:spPr>
      </p:sp>
      <p:sp>
        <p:nvSpPr>
          <p:cNvPr id="9" name="Shape 7"/>
          <p:cNvSpPr/>
          <p:nvPr/>
        </p:nvSpPr>
        <p:spPr>
          <a:xfrm>
            <a:off x="3200400" y="914400"/>
            <a:ext cx="2743200" cy="438912"/>
          </a:xfrm>
          <a:prstGeom prst="rect">
            <a:avLst/>
          </a:prstGeom>
          <a:solidFill>
            <a:srgbClr val="EA580C"/>
          </a:solidFill>
          <a:ln w="12700">
            <a:solidFill>
              <a:srgbClr val="EA580C"/>
            </a:solidFill>
            <a:prstDash val="solid"/>
          </a:ln>
        </p:spPr>
      </p:sp>
      <p:sp>
        <p:nvSpPr>
          <p:cNvPr id="10" name="Text 8"/>
          <p:cNvSpPr/>
          <p:nvPr/>
        </p:nvSpPr>
        <p:spPr>
          <a:xfrm>
            <a:off x="3310128" y="978408"/>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museum</a:t>
            </a:r>
            <a:endParaRPr lang="en-US" sz="1300" dirty="0"/>
          </a:p>
        </p:txBody>
      </p:sp>
      <p:sp>
        <p:nvSpPr>
          <p:cNvPr id="11" name="Text 9"/>
          <p:cNvSpPr/>
          <p:nvPr/>
        </p:nvSpPr>
        <p:spPr>
          <a:xfrm>
            <a:off x="3310128" y="1463040"/>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building with art or history</a:t>
            </a:r>
            <a:endParaRPr lang="en-US" sz="1100" dirty="0"/>
          </a:p>
        </p:txBody>
      </p:sp>
      <p:sp>
        <p:nvSpPr>
          <p:cNvPr id="12" name="Shape 10"/>
          <p:cNvSpPr/>
          <p:nvPr/>
        </p:nvSpPr>
        <p:spPr>
          <a:xfrm>
            <a:off x="6126480" y="914400"/>
            <a:ext cx="2743200" cy="1261872"/>
          </a:xfrm>
          <a:prstGeom prst="rect">
            <a:avLst/>
          </a:prstGeom>
          <a:solidFill>
            <a:srgbClr val="FFEDD5"/>
          </a:solidFill>
          <a:ln w="12700">
            <a:solidFill>
              <a:srgbClr val="EA580C"/>
            </a:solidFill>
            <a:prstDash val="solid"/>
          </a:ln>
        </p:spPr>
      </p:sp>
      <p:sp>
        <p:nvSpPr>
          <p:cNvPr id="13" name="Shape 11"/>
          <p:cNvSpPr/>
          <p:nvPr/>
        </p:nvSpPr>
        <p:spPr>
          <a:xfrm>
            <a:off x="6126480" y="914400"/>
            <a:ext cx="2743200" cy="438912"/>
          </a:xfrm>
          <a:prstGeom prst="rect">
            <a:avLst/>
          </a:prstGeom>
          <a:solidFill>
            <a:srgbClr val="EA580C"/>
          </a:solidFill>
          <a:ln w="12700">
            <a:solidFill>
              <a:srgbClr val="EA580C"/>
            </a:solidFill>
            <a:prstDash val="solid"/>
          </a:ln>
        </p:spPr>
      </p:sp>
      <p:sp>
        <p:nvSpPr>
          <p:cNvPr id="14" name="Text 12"/>
          <p:cNvSpPr/>
          <p:nvPr/>
        </p:nvSpPr>
        <p:spPr>
          <a:xfrm>
            <a:off x="6236208" y="978408"/>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line</a:t>
            </a:r>
            <a:endParaRPr lang="en-US" sz="1300" dirty="0"/>
          </a:p>
        </p:txBody>
      </p:sp>
      <p:sp>
        <p:nvSpPr>
          <p:cNvPr id="15" name="Text 13"/>
          <p:cNvSpPr/>
          <p:nvPr/>
        </p:nvSpPr>
        <p:spPr>
          <a:xfrm>
            <a:off x="6236208" y="1463040"/>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people waiting behind each other</a:t>
            </a:r>
            <a:endParaRPr lang="en-US" sz="1100" dirty="0"/>
          </a:p>
        </p:txBody>
      </p:sp>
      <p:sp>
        <p:nvSpPr>
          <p:cNvPr id="16" name="Shape 14"/>
          <p:cNvSpPr/>
          <p:nvPr/>
        </p:nvSpPr>
        <p:spPr>
          <a:xfrm>
            <a:off x="274320" y="2304288"/>
            <a:ext cx="2743200" cy="1261872"/>
          </a:xfrm>
          <a:prstGeom prst="rect">
            <a:avLst/>
          </a:prstGeom>
          <a:solidFill>
            <a:srgbClr val="FFEDD5"/>
          </a:solidFill>
          <a:ln w="12700">
            <a:solidFill>
              <a:srgbClr val="EA580C"/>
            </a:solidFill>
            <a:prstDash val="solid"/>
          </a:ln>
        </p:spPr>
      </p:sp>
      <p:sp>
        <p:nvSpPr>
          <p:cNvPr id="17" name="Shape 15"/>
          <p:cNvSpPr/>
          <p:nvPr/>
        </p:nvSpPr>
        <p:spPr>
          <a:xfrm>
            <a:off x="274320" y="2304288"/>
            <a:ext cx="2743200" cy="438912"/>
          </a:xfrm>
          <a:prstGeom prst="rect">
            <a:avLst/>
          </a:prstGeom>
          <a:solidFill>
            <a:srgbClr val="EA580C"/>
          </a:solidFill>
          <a:ln w="12700">
            <a:solidFill>
              <a:srgbClr val="EA580C"/>
            </a:solidFill>
            <a:prstDash val="solid"/>
          </a:ln>
        </p:spPr>
      </p:sp>
      <p:sp>
        <p:nvSpPr>
          <p:cNvPr id="18" name="Text 16"/>
          <p:cNvSpPr/>
          <p:nvPr/>
        </p:nvSpPr>
        <p:spPr>
          <a:xfrm>
            <a:off x="384048" y="2368296"/>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ticket</a:t>
            </a:r>
            <a:endParaRPr lang="en-US" sz="1300" dirty="0"/>
          </a:p>
        </p:txBody>
      </p:sp>
      <p:sp>
        <p:nvSpPr>
          <p:cNvPr id="19" name="Text 17"/>
          <p:cNvSpPr/>
          <p:nvPr/>
        </p:nvSpPr>
        <p:spPr>
          <a:xfrm>
            <a:off x="384048" y="2852928"/>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buy one to enter a paid venue</a:t>
            </a:r>
            <a:endParaRPr lang="en-US" sz="1100" dirty="0"/>
          </a:p>
        </p:txBody>
      </p:sp>
      <p:sp>
        <p:nvSpPr>
          <p:cNvPr id="20" name="Shape 18"/>
          <p:cNvSpPr/>
          <p:nvPr/>
        </p:nvSpPr>
        <p:spPr>
          <a:xfrm>
            <a:off x="3200400" y="2304288"/>
            <a:ext cx="2743200" cy="1261872"/>
          </a:xfrm>
          <a:prstGeom prst="rect">
            <a:avLst/>
          </a:prstGeom>
          <a:solidFill>
            <a:srgbClr val="FFEDD5"/>
          </a:solidFill>
          <a:ln w="12700">
            <a:solidFill>
              <a:srgbClr val="EA580C"/>
            </a:solidFill>
            <a:prstDash val="solid"/>
          </a:ln>
        </p:spPr>
      </p:sp>
      <p:sp>
        <p:nvSpPr>
          <p:cNvPr id="21" name="Shape 19"/>
          <p:cNvSpPr/>
          <p:nvPr/>
        </p:nvSpPr>
        <p:spPr>
          <a:xfrm>
            <a:off x="3200400" y="2304288"/>
            <a:ext cx="2743200" cy="438912"/>
          </a:xfrm>
          <a:prstGeom prst="rect">
            <a:avLst/>
          </a:prstGeom>
          <a:solidFill>
            <a:srgbClr val="EA580C"/>
          </a:solidFill>
          <a:ln w="12700">
            <a:solidFill>
              <a:srgbClr val="EA580C"/>
            </a:solidFill>
            <a:prstDash val="solid"/>
          </a:ln>
        </p:spPr>
      </p:sp>
      <p:sp>
        <p:nvSpPr>
          <p:cNvPr id="22" name="Text 20"/>
          <p:cNvSpPr/>
          <p:nvPr/>
        </p:nvSpPr>
        <p:spPr>
          <a:xfrm>
            <a:off x="3310128" y="2368296"/>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map</a:t>
            </a:r>
            <a:endParaRPr lang="en-US" sz="1300" dirty="0"/>
          </a:p>
        </p:txBody>
      </p:sp>
      <p:sp>
        <p:nvSpPr>
          <p:cNvPr id="23" name="Text 21"/>
          <p:cNvSpPr/>
          <p:nvPr/>
        </p:nvSpPr>
        <p:spPr>
          <a:xfrm>
            <a:off x="3310128" y="2852928"/>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shows you where things are</a:t>
            </a:r>
            <a:endParaRPr lang="en-US" sz="1100" dirty="0"/>
          </a:p>
        </p:txBody>
      </p:sp>
      <p:sp>
        <p:nvSpPr>
          <p:cNvPr id="24" name="Shape 22"/>
          <p:cNvSpPr/>
          <p:nvPr/>
        </p:nvSpPr>
        <p:spPr>
          <a:xfrm>
            <a:off x="6126480" y="2304288"/>
            <a:ext cx="2743200" cy="1261872"/>
          </a:xfrm>
          <a:prstGeom prst="rect">
            <a:avLst/>
          </a:prstGeom>
          <a:solidFill>
            <a:srgbClr val="FFEDD5"/>
          </a:solidFill>
          <a:ln w="12700">
            <a:solidFill>
              <a:srgbClr val="EA580C"/>
            </a:solidFill>
            <a:prstDash val="solid"/>
          </a:ln>
        </p:spPr>
      </p:sp>
      <p:sp>
        <p:nvSpPr>
          <p:cNvPr id="25" name="Shape 23"/>
          <p:cNvSpPr/>
          <p:nvPr/>
        </p:nvSpPr>
        <p:spPr>
          <a:xfrm>
            <a:off x="6126480" y="2304288"/>
            <a:ext cx="2743200" cy="438912"/>
          </a:xfrm>
          <a:prstGeom prst="rect">
            <a:avLst/>
          </a:prstGeom>
          <a:solidFill>
            <a:srgbClr val="EA580C"/>
          </a:solidFill>
          <a:ln w="12700">
            <a:solidFill>
              <a:srgbClr val="EA580C"/>
            </a:solidFill>
            <a:prstDash val="solid"/>
          </a:ln>
        </p:spPr>
      </p:sp>
      <p:sp>
        <p:nvSpPr>
          <p:cNvPr id="26" name="Text 24"/>
          <p:cNvSpPr/>
          <p:nvPr/>
        </p:nvSpPr>
        <p:spPr>
          <a:xfrm>
            <a:off x="6236208" y="2368296"/>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postcard</a:t>
            </a:r>
            <a:endParaRPr lang="en-US" sz="1300" dirty="0"/>
          </a:p>
        </p:txBody>
      </p:sp>
      <p:sp>
        <p:nvSpPr>
          <p:cNvPr id="27" name="Text 25"/>
          <p:cNvSpPr/>
          <p:nvPr/>
        </p:nvSpPr>
        <p:spPr>
          <a:xfrm>
            <a:off x="6236208" y="2852928"/>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picture card you mail to someone</a:t>
            </a:r>
            <a:endParaRPr lang="en-US" sz="1100" dirty="0"/>
          </a:p>
        </p:txBody>
      </p:sp>
      <p:sp>
        <p:nvSpPr>
          <p:cNvPr id="28" name="Shape 26"/>
          <p:cNvSpPr/>
          <p:nvPr/>
        </p:nvSpPr>
        <p:spPr>
          <a:xfrm>
            <a:off x="274320" y="3694176"/>
            <a:ext cx="2743200" cy="1261872"/>
          </a:xfrm>
          <a:prstGeom prst="rect">
            <a:avLst/>
          </a:prstGeom>
          <a:solidFill>
            <a:srgbClr val="FFEDD5"/>
          </a:solidFill>
          <a:ln w="12700">
            <a:solidFill>
              <a:srgbClr val="EA580C"/>
            </a:solidFill>
            <a:prstDash val="solid"/>
          </a:ln>
        </p:spPr>
      </p:sp>
      <p:sp>
        <p:nvSpPr>
          <p:cNvPr id="29" name="Shape 27"/>
          <p:cNvSpPr/>
          <p:nvPr/>
        </p:nvSpPr>
        <p:spPr>
          <a:xfrm>
            <a:off x="274320" y="3694176"/>
            <a:ext cx="2743200" cy="438912"/>
          </a:xfrm>
          <a:prstGeom prst="rect">
            <a:avLst/>
          </a:prstGeom>
          <a:solidFill>
            <a:srgbClr val="EA580C"/>
          </a:solidFill>
          <a:ln w="12700">
            <a:solidFill>
              <a:srgbClr val="EA580C"/>
            </a:solidFill>
            <a:prstDash val="solid"/>
          </a:ln>
        </p:spPr>
      </p:sp>
      <p:sp>
        <p:nvSpPr>
          <p:cNvPr id="30" name="Text 28"/>
          <p:cNvSpPr/>
          <p:nvPr/>
        </p:nvSpPr>
        <p:spPr>
          <a:xfrm>
            <a:off x="384048" y="3758184"/>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souvenir</a:t>
            </a:r>
            <a:endParaRPr lang="en-US" sz="1300" dirty="0"/>
          </a:p>
        </p:txBody>
      </p:sp>
      <p:sp>
        <p:nvSpPr>
          <p:cNvPr id="31" name="Text 29"/>
          <p:cNvSpPr/>
          <p:nvPr/>
        </p:nvSpPr>
        <p:spPr>
          <a:xfrm>
            <a:off x="384048" y="4242816"/>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object to remember a place</a:t>
            </a:r>
            <a:endParaRPr lang="en-US" sz="1100" dirty="0"/>
          </a:p>
        </p:txBody>
      </p:sp>
      <p:sp>
        <p:nvSpPr>
          <p:cNvPr id="32" name="Shape 30"/>
          <p:cNvSpPr/>
          <p:nvPr/>
        </p:nvSpPr>
        <p:spPr>
          <a:xfrm>
            <a:off x="3200400" y="3694176"/>
            <a:ext cx="2743200" cy="1261872"/>
          </a:xfrm>
          <a:prstGeom prst="rect">
            <a:avLst/>
          </a:prstGeom>
          <a:solidFill>
            <a:srgbClr val="FFEDD5"/>
          </a:solidFill>
          <a:ln w="12700">
            <a:solidFill>
              <a:srgbClr val="EA580C"/>
            </a:solidFill>
            <a:prstDash val="solid"/>
          </a:ln>
        </p:spPr>
      </p:sp>
      <p:sp>
        <p:nvSpPr>
          <p:cNvPr id="33" name="Shape 31"/>
          <p:cNvSpPr/>
          <p:nvPr/>
        </p:nvSpPr>
        <p:spPr>
          <a:xfrm>
            <a:off x="3200400" y="3694176"/>
            <a:ext cx="2743200" cy="438912"/>
          </a:xfrm>
          <a:prstGeom prst="rect">
            <a:avLst/>
          </a:prstGeom>
          <a:solidFill>
            <a:srgbClr val="EA580C"/>
          </a:solidFill>
          <a:ln w="12700">
            <a:solidFill>
              <a:srgbClr val="EA580C"/>
            </a:solidFill>
            <a:prstDash val="solid"/>
          </a:ln>
        </p:spPr>
      </p:sp>
      <p:sp>
        <p:nvSpPr>
          <p:cNvPr id="34" name="Text 32"/>
          <p:cNvSpPr/>
          <p:nvPr/>
        </p:nvSpPr>
        <p:spPr>
          <a:xfrm>
            <a:off x="3310128" y="3758184"/>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show</a:t>
            </a:r>
            <a:endParaRPr lang="en-US" sz="1300" dirty="0"/>
          </a:p>
        </p:txBody>
      </p:sp>
      <p:sp>
        <p:nvSpPr>
          <p:cNvPr id="35" name="Text 33"/>
          <p:cNvSpPr/>
          <p:nvPr/>
        </p:nvSpPr>
        <p:spPr>
          <a:xfrm>
            <a:off x="3310128" y="4242816"/>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 performance at a venue</a:t>
            </a:r>
            <a:endParaRPr lang="en-US" sz="1100" dirty="0"/>
          </a:p>
        </p:txBody>
      </p:sp>
      <p:sp>
        <p:nvSpPr>
          <p:cNvPr id="36" name="Shape 34"/>
          <p:cNvSpPr/>
          <p:nvPr/>
        </p:nvSpPr>
        <p:spPr>
          <a:xfrm>
            <a:off x="6126480" y="3694176"/>
            <a:ext cx="2743200" cy="1261872"/>
          </a:xfrm>
          <a:prstGeom prst="rect">
            <a:avLst/>
          </a:prstGeom>
          <a:solidFill>
            <a:srgbClr val="FFEDD5"/>
          </a:solidFill>
          <a:ln w="12700">
            <a:solidFill>
              <a:srgbClr val="EA580C"/>
            </a:solidFill>
            <a:prstDash val="solid"/>
          </a:ln>
        </p:spPr>
      </p:sp>
      <p:sp>
        <p:nvSpPr>
          <p:cNvPr id="37" name="Shape 35"/>
          <p:cNvSpPr/>
          <p:nvPr/>
        </p:nvSpPr>
        <p:spPr>
          <a:xfrm>
            <a:off x="6126480" y="3694176"/>
            <a:ext cx="2743200" cy="438912"/>
          </a:xfrm>
          <a:prstGeom prst="rect">
            <a:avLst/>
          </a:prstGeom>
          <a:solidFill>
            <a:srgbClr val="EA580C"/>
          </a:solidFill>
          <a:ln w="12700">
            <a:solidFill>
              <a:srgbClr val="EA580C"/>
            </a:solidFill>
            <a:prstDash val="solid"/>
          </a:ln>
        </p:spPr>
      </p:sp>
      <p:sp>
        <p:nvSpPr>
          <p:cNvPr id="38" name="Text 36"/>
          <p:cNvSpPr/>
          <p:nvPr/>
        </p:nvSpPr>
        <p:spPr>
          <a:xfrm>
            <a:off x="6236208" y="3758184"/>
            <a:ext cx="2523744"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make sure</a:t>
            </a:r>
            <a:endParaRPr lang="en-US" sz="1300" dirty="0"/>
          </a:p>
        </p:txBody>
      </p:sp>
      <p:sp>
        <p:nvSpPr>
          <p:cNvPr id="39" name="Text 37"/>
          <p:cNvSpPr/>
          <p:nvPr/>
        </p:nvSpPr>
        <p:spPr>
          <a:xfrm>
            <a:off x="6236208" y="4242816"/>
            <a:ext cx="2523744"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don't forget — it's important!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A580C"/>
          </a:solidFill>
          <a:ln w="12700">
            <a:solidFill>
              <a:srgbClr val="EA580C"/>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Airport Vocabulary</a:t>
            </a:r>
            <a:endParaRPr lang="en-US" sz="2200" dirty="0"/>
          </a:p>
        </p:txBody>
      </p:sp>
      <p:sp>
        <p:nvSpPr>
          <p:cNvPr id="4" name="Shape 2"/>
          <p:cNvSpPr/>
          <p:nvPr/>
        </p:nvSpPr>
        <p:spPr>
          <a:xfrm>
            <a:off x="274320" y="914400"/>
            <a:ext cx="2743200" cy="1261872"/>
          </a:xfrm>
          <a:prstGeom prst="rect">
            <a:avLst/>
          </a:prstGeom>
          <a:solidFill>
            <a:srgbClr val="FFEDD5"/>
          </a:solidFill>
          <a:ln w="12700">
            <a:solidFill>
              <a:srgbClr val="EA580C"/>
            </a:solidFill>
            <a:prstDash val="solid"/>
          </a:ln>
        </p:spPr>
      </p:sp>
      <p:sp>
        <p:nvSpPr>
          <p:cNvPr id="5" name="Shape 3"/>
          <p:cNvSpPr/>
          <p:nvPr/>
        </p:nvSpPr>
        <p:spPr>
          <a:xfrm>
            <a:off x="274320" y="914400"/>
            <a:ext cx="91440" cy="1261872"/>
          </a:xfrm>
          <a:prstGeom prst="rect">
            <a:avLst/>
          </a:prstGeom>
          <a:solidFill>
            <a:srgbClr val="EA580C"/>
          </a:solidFill>
          <a:ln w="12700">
            <a:solidFill>
              <a:srgbClr val="EA580C"/>
            </a:solidFill>
            <a:prstDash val="solid"/>
          </a:ln>
        </p:spPr>
      </p:sp>
      <p:sp>
        <p:nvSpPr>
          <p:cNvPr id="6" name="Text 4"/>
          <p:cNvSpPr/>
          <p:nvPr/>
        </p:nvSpPr>
        <p:spPr>
          <a:xfrm>
            <a:off x="457200" y="1005840"/>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passenger</a:t>
            </a:r>
            <a:endParaRPr lang="en-US" sz="1200" dirty="0"/>
          </a:p>
        </p:txBody>
      </p:sp>
      <p:sp>
        <p:nvSpPr>
          <p:cNvPr id="7" name="Text 5"/>
          <p:cNvSpPr/>
          <p:nvPr/>
        </p:nvSpPr>
        <p:spPr>
          <a:xfrm>
            <a:off x="457200" y="1417320"/>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someone who travels on public transport</a:t>
            </a:r>
            <a:endParaRPr lang="en-US" sz="1100" dirty="0"/>
          </a:p>
        </p:txBody>
      </p:sp>
      <p:sp>
        <p:nvSpPr>
          <p:cNvPr id="8" name="Shape 6"/>
          <p:cNvSpPr/>
          <p:nvPr/>
        </p:nvSpPr>
        <p:spPr>
          <a:xfrm>
            <a:off x="3200400" y="914400"/>
            <a:ext cx="2743200" cy="1261872"/>
          </a:xfrm>
          <a:prstGeom prst="rect">
            <a:avLst/>
          </a:prstGeom>
          <a:solidFill>
            <a:srgbClr val="FFEDD5"/>
          </a:solidFill>
          <a:ln w="12700">
            <a:solidFill>
              <a:srgbClr val="EA580C"/>
            </a:solidFill>
            <a:prstDash val="solid"/>
          </a:ln>
        </p:spPr>
      </p:sp>
      <p:sp>
        <p:nvSpPr>
          <p:cNvPr id="9" name="Shape 7"/>
          <p:cNvSpPr/>
          <p:nvPr/>
        </p:nvSpPr>
        <p:spPr>
          <a:xfrm>
            <a:off x="3200400" y="914400"/>
            <a:ext cx="91440" cy="1261872"/>
          </a:xfrm>
          <a:prstGeom prst="rect">
            <a:avLst/>
          </a:prstGeom>
          <a:solidFill>
            <a:srgbClr val="EA580C"/>
          </a:solidFill>
          <a:ln w="12700">
            <a:solidFill>
              <a:srgbClr val="EA580C"/>
            </a:solidFill>
            <a:prstDash val="solid"/>
          </a:ln>
        </p:spPr>
      </p:sp>
      <p:sp>
        <p:nvSpPr>
          <p:cNvPr id="10" name="Text 8"/>
          <p:cNvSpPr/>
          <p:nvPr/>
        </p:nvSpPr>
        <p:spPr>
          <a:xfrm>
            <a:off x="3383280" y="1005840"/>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gate</a:t>
            </a:r>
            <a:endParaRPr lang="en-US" sz="1200" dirty="0"/>
          </a:p>
        </p:txBody>
      </p:sp>
      <p:sp>
        <p:nvSpPr>
          <p:cNvPr id="11" name="Text 9"/>
          <p:cNvSpPr/>
          <p:nvPr/>
        </p:nvSpPr>
        <p:spPr>
          <a:xfrm>
            <a:off x="3383280" y="1417320"/>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where you board or leave a plane</a:t>
            </a:r>
            <a:endParaRPr lang="en-US" sz="1100" dirty="0"/>
          </a:p>
        </p:txBody>
      </p:sp>
      <p:sp>
        <p:nvSpPr>
          <p:cNvPr id="12" name="Shape 10"/>
          <p:cNvSpPr/>
          <p:nvPr/>
        </p:nvSpPr>
        <p:spPr>
          <a:xfrm>
            <a:off x="6126480" y="914400"/>
            <a:ext cx="2743200" cy="1261872"/>
          </a:xfrm>
          <a:prstGeom prst="rect">
            <a:avLst/>
          </a:prstGeom>
          <a:solidFill>
            <a:srgbClr val="FFEDD5"/>
          </a:solidFill>
          <a:ln w="12700">
            <a:solidFill>
              <a:srgbClr val="EA580C"/>
            </a:solidFill>
            <a:prstDash val="solid"/>
          </a:ln>
        </p:spPr>
      </p:sp>
      <p:sp>
        <p:nvSpPr>
          <p:cNvPr id="13" name="Shape 11"/>
          <p:cNvSpPr/>
          <p:nvPr/>
        </p:nvSpPr>
        <p:spPr>
          <a:xfrm>
            <a:off x="6126480" y="914400"/>
            <a:ext cx="91440" cy="1261872"/>
          </a:xfrm>
          <a:prstGeom prst="rect">
            <a:avLst/>
          </a:prstGeom>
          <a:solidFill>
            <a:srgbClr val="EA580C"/>
          </a:solidFill>
          <a:ln w="12700">
            <a:solidFill>
              <a:srgbClr val="EA580C"/>
            </a:solidFill>
            <a:prstDash val="solid"/>
          </a:ln>
        </p:spPr>
      </p:sp>
      <p:sp>
        <p:nvSpPr>
          <p:cNvPr id="14" name="Text 12"/>
          <p:cNvSpPr/>
          <p:nvPr/>
        </p:nvSpPr>
        <p:spPr>
          <a:xfrm>
            <a:off x="6309360" y="1005840"/>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departure</a:t>
            </a:r>
            <a:endParaRPr lang="en-US" sz="1200" dirty="0"/>
          </a:p>
        </p:txBody>
      </p:sp>
      <p:sp>
        <p:nvSpPr>
          <p:cNvPr id="15" name="Text 13"/>
          <p:cNvSpPr/>
          <p:nvPr/>
        </p:nvSpPr>
        <p:spPr>
          <a:xfrm>
            <a:off x="6309360" y="1417320"/>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when your flight leaves</a:t>
            </a:r>
            <a:endParaRPr lang="en-US" sz="1100" dirty="0"/>
          </a:p>
        </p:txBody>
      </p:sp>
      <p:sp>
        <p:nvSpPr>
          <p:cNvPr id="16" name="Shape 14"/>
          <p:cNvSpPr/>
          <p:nvPr/>
        </p:nvSpPr>
        <p:spPr>
          <a:xfrm>
            <a:off x="274320" y="2304288"/>
            <a:ext cx="2743200" cy="1261872"/>
          </a:xfrm>
          <a:prstGeom prst="rect">
            <a:avLst/>
          </a:prstGeom>
          <a:solidFill>
            <a:srgbClr val="FFEDD5"/>
          </a:solidFill>
          <a:ln w="12700">
            <a:solidFill>
              <a:srgbClr val="EA580C"/>
            </a:solidFill>
            <a:prstDash val="solid"/>
          </a:ln>
        </p:spPr>
      </p:sp>
      <p:sp>
        <p:nvSpPr>
          <p:cNvPr id="17" name="Shape 15"/>
          <p:cNvSpPr/>
          <p:nvPr/>
        </p:nvSpPr>
        <p:spPr>
          <a:xfrm>
            <a:off x="274320" y="2304288"/>
            <a:ext cx="91440" cy="1261872"/>
          </a:xfrm>
          <a:prstGeom prst="rect">
            <a:avLst/>
          </a:prstGeom>
          <a:solidFill>
            <a:srgbClr val="EA580C"/>
          </a:solidFill>
          <a:ln w="12700">
            <a:solidFill>
              <a:srgbClr val="EA580C"/>
            </a:solidFill>
            <a:prstDash val="solid"/>
          </a:ln>
        </p:spPr>
      </p:sp>
      <p:sp>
        <p:nvSpPr>
          <p:cNvPr id="18" name="Text 16"/>
          <p:cNvSpPr/>
          <p:nvPr/>
        </p:nvSpPr>
        <p:spPr>
          <a:xfrm>
            <a:off x="457200" y="2395728"/>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boarding pass</a:t>
            </a:r>
            <a:endParaRPr lang="en-US" sz="1200" dirty="0"/>
          </a:p>
        </p:txBody>
      </p:sp>
      <p:sp>
        <p:nvSpPr>
          <p:cNvPr id="19" name="Text 17"/>
          <p:cNvSpPr/>
          <p:nvPr/>
        </p:nvSpPr>
        <p:spPr>
          <a:xfrm>
            <a:off x="457200" y="2807208"/>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card you show to get on a plane</a:t>
            </a:r>
            <a:endParaRPr lang="en-US" sz="1100" dirty="0"/>
          </a:p>
        </p:txBody>
      </p:sp>
      <p:sp>
        <p:nvSpPr>
          <p:cNvPr id="20" name="Shape 18"/>
          <p:cNvSpPr/>
          <p:nvPr/>
        </p:nvSpPr>
        <p:spPr>
          <a:xfrm>
            <a:off x="3200400" y="2304288"/>
            <a:ext cx="2743200" cy="1261872"/>
          </a:xfrm>
          <a:prstGeom prst="rect">
            <a:avLst/>
          </a:prstGeom>
          <a:solidFill>
            <a:srgbClr val="FFEDD5"/>
          </a:solidFill>
          <a:ln w="12700">
            <a:solidFill>
              <a:srgbClr val="EA580C"/>
            </a:solidFill>
            <a:prstDash val="solid"/>
          </a:ln>
        </p:spPr>
      </p:sp>
      <p:sp>
        <p:nvSpPr>
          <p:cNvPr id="21" name="Shape 19"/>
          <p:cNvSpPr/>
          <p:nvPr/>
        </p:nvSpPr>
        <p:spPr>
          <a:xfrm>
            <a:off x="3200400" y="2304288"/>
            <a:ext cx="91440" cy="1261872"/>
          </a:xfrm>
          <a:prstGeom prst="rect">
            <a:avLst/>
          </a:prstGeom>
          <a:solidFill>
            <a:srgbClr val="EA580C"/>
          </a:solidFill>
          <a:ln w="12700">
            <a:solidFill>
              <a:srgbClr val="EA580C"/>
            </a:solidFill>
            <a:prstDash val="solid"/>
          </a:ln>
        </p:spPr>
      </p:sp>
      <p:sp>
        <p:nvSpPr>
          <p:cNvPr id="22" name="Text 20"/>
          <p:cNvSpPr/>
          <p:nvPr/>
        </p:nvSpPr>
        <p:spPr>
          <a:xfrm>
            <a:off x="3383280" y="2395728"/>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announcement</a:t>
            </a:r>
            <a:endParaRPr lang="en-US" sz="1200" dirty="0"/>
          </a:p>
        </p:txBody>
      </p:sp>
      <p:sp>
        <p:nvSpPr>
          <p:cNvPr id="23" name="Text 21"/>
          <p:cNvSpPr/>
          <p:nvPr/>
        </p:nvSpPr>
        <p:spPr>
          <a:xfrm>
            <a:off x="3383280" y="2807208"/>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short statement giving information</a:t>
            </a:r>
            <a:endParaRPr lang="en-US" sz="1100" dirty="0"/>
          </a:p>
        </p:txBody>
      </p:sp>
      <p:sp>
        <p:nvSpPr>
          <p:cNvPr id="24" name="Shape 22"/>
          <p:cNvSpPr/>
          <p:nvPr/>
        </p:nvSpPr>
        <p:spPr>
          <a:xfrm>
            <a:off x="6126480" y="2304288"/>
            <a:ext cx="2743200" cy="1261872"/>
          </a:xfrm>
          <a:prstGeom prst="rect">
            <a:avLst/>
          </a:prstGeom>
          <a:solidFill>
            <a:srgbClr val="FFEDD5"/>
          </a:solidFill>
          <a:ln w="12700">
            <a:solidFill>
              <a:srgbClr val="EA580C"/>
            </a:solidFill>
            <a:prstDash val="solid"/>
          </a:ln>
        </p:spPr>
      </p:sp>
      <p:sp>
        <p:nvSpPr>
          <p:cNvPr id="25" name="Shape 23"/>
          <p:cNvSpPr/>
          <p:nvPr/>
        </p:nvSpPr>
        <p:spPr>
          <a:xfrm>
            <a:off x="6126480" y="2304288"/>
            <a:ext cx="91440" cy="1261872"/>
          </a:xfrm>
          <a:prstGeom prst="rect">
            <a:avLst/>
          </a:prstGeom>
          <a:solidFill>
            <a:srgbClr val="EA580C"/>
          </a:solidFill>
          <a:ln w="12700">
            <a:solidFill>
              <a:srgbClr val="EA580C"/>
            </a:solidFill>
            <a:prstDash val="solid"/>
          </a:ln>
        </p:spPr>
      </p:sp>
      <p:sp>
        <p:nvSpPr>
          <p:cNvPr id="26" name="Text 24"/>
          <p:cNvSpPr/>
          <p:nvPr/>
        </p:nvSpPr>
        <p:spPr>
          <a:xfrm>
            <a:off x="6309360" y="2395728"/>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request</a:t>
            </a:r>
            <a:endParaRPr lang="en-US" sz="1200" dirty="0"/>
          </a:p>
        </p:txBody>
      </p:sp>
      <p:sp>
        <p:nvSpPr>
          <p:cNvPr id="27" name="Text 25"/>
          <p:cNvSpPr/>
          <p:nvPr/>
        </p:nvSpPr>
        <p:spPr>
          <a:xfrm>
            <a:off x="6309360" y="2807208"/>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to ask formally (e.g. passengers are requested...)</a:t>
            </a:r>
            <a:endParaRPr lang="en-US" sz="1100" dirty="0"/>
          </a:p>
        </p:txBody>
      </p:sp>
      <p:sp>
        <p:nvSpPr>
          <p:cNvPr id="28" name="Shape 26"/>
          <p:cNvSpPr/>
          <p:nvPr/>
        </p:nvSpPr>
        <p:spPr>
          <a:xfrm>
            <a:off x="274320" y="3694176"/>
            <a:ext cx="2743200" cy="1261872"/>
          </a:xfrm>
          <a:prstGeom prst="rect">
            <a:avLst/>
          </a:prstGeom>
          <a:solidFill>
            <a:srgbClr val="FFEDD5"/>
          </a:solidFill>
          <a:ln w="12700">
            <a:solidFill>
              <a:srgbClr val="EA580C"/>
            </a:solidFill>
            <a:prstDash val="solid"/>
          </a:ln>
        </p:spPr>
      </p:sp>
      <p:sp>
        <p:nvSpPr>
          <p:cNvPr id="29" name="Shape 27"/>
          <p:cNvSpPr/>
          <p:nvPr/>
        </p:nvSpPr>
        <p:spPr>
          <a:xfrm>
            <a:off x="274320" y="3694176"/>
            <a:ext cx="91440" cy="1261872"/>
          </a:xfrm>
          <a:prstGeom prst="rect">
            <a:avLst/>
          </a:prstGeom>
          <a:solidFill>
            <a:srgbClr val="EA580C"/>
          </a:solidFill>
          <a:ln w="12700">
            <a:solidFill>
              <a:srgbClr val="EA580C"/>
            </a:solidFill>
            <a:prstDash val="solid"/>
          </a:ln>
        </p:spPr>
      </p:sp>
      <p:sp>
        <p:nvSpPr>
          <p:cNvPr id="30" name="Text 28"/>
          <p:cNvSpPr/>
          <p:nvPr/>
        </p:nvSpPr>
        <p:spPr>
          <a:xfrm>
            <a:off x="457200" y="3785616"/>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refreshment</a:t>
            </a:r>
            <a:endParaRPr lang="en-US" sz="1200" dirty="0"/>
          </a:p>
        </p:txBody>
      </p:sp>
      <p:sp>
        <p:nvSpPr>
          <p:cNvPr id="31" name="Text 29"/>
          <p:cNvSpPr/>
          <p:nvPr/>
        </p:nvSpPr>
        <p:spPr>
          <a:xfrm>
            <a:off x="457200" y="4197096"/>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food and drink / a snack</a:t>
            </a:r>
            <a:endParaRPr lang="en-US" sz="1100" dirty="0"/>
          </a:p>
        </p:txBody>
      </p:sp>
      <p:sp>
        <p:nvSpPr>
          <p:cNvPr id="32" name="Shape 30"/>
          <p:cNvSpPr/>
          <p:nvPr/>
        </p:nvSpPr>
        <p:spPr>
          <a:xfrm>
            <a:off x="3200400" y="3694176"/>
            <a:ext cx="2743200" cy="1261872"/>
          </a:xfrm>
          <a:prstGeom prst="rect">
            <a:avLst/>
          </a:prstGeom>
          <a:solidFill>
            <a:srgbClr val="FFEDD5"/>
          </a:solidFill>
          <a:ln w="12700">
            <a:solidFill>
              <a:srgbClr val="EA580C"/>
            </a:solidFill>
            <a:prstDash val="solid"/>
          </a:ln>
        </p:spPr>
      </p:sp>
      <p:sp>
        <p:nvSpPr>
          <p:cNvPr id="33" name="Shape 31"/>
          <p:cNvSpPr/>
          <p:nvPr/>
        </p:nvSpPr>
        <p:spPr>
          <a:xfrm>
            <a:off x="3200400" y="3694176"/>
            <a:ext cx="91440" cy="1261872"/>
          </a:xfrm>
          <a:prstGeom prst="rect">
            <a:avLst/>
          </a:prstGeom>
          <a:solidFill>
            <a:srgbClr val="EA580C"/>
          </a:solidFill>
          <a:ln w="12700">
            <a:solidFill>
              <a:srgbClr val="EA580C"/>
            </a:solidFill>
            <a:prstDash val="solid"/>
          </a:ln>
        </p:spPr>
      </p:sp>
      <p:sp>
        <p:nvSpPr>
          <p:cNvPr id="34" name="Text 32"/>
          <p:cNvSpPr/>
          <p:nvPr/>
        </p:nvSpPr>
        <p:spPr>
          <a:xfrm>
            <a:off x="3383280" y="3785616"/>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apologize</a:t>
            </a:r>
            <a:endParaRPr lang="en-US" sz="1200" dirty="0"/>
          </a:p>
        </p:txBody>
      </p:sp>
      <p:sp>
        <p:nvSpPr>
          <p:cNvPr id="35" name="Text 33"/>
          <p:cNvSpPr/>
          <p:nvPr/>
        </p:nvSpPr>
        <p:spPr>
          <a:xfrm>
            <a:off x="3383280" y="4197096"/>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to say sorry formally</a:t>
            </a:r>
            <a:endParaRPr lang="en-US" sz="1100" dirty="0"/>
          </a:p>
        </p:txBody>
      </p:sp>
      <p:sp>
        <p:nvSpPr>
          <p:cNvPr id="36" name="Shape 34"/>
          <p:cNvSpPr/>
          <p:nvPr/>
        </p:nvSpPr>
        <p:spPr>
          <a:xfrm>
            <a:off x="6126480" y="3694176"/>
            <a:ext cx="2743200" cy="1261872"/>
          </a:xfrm>
          <a:prstGeom prst="rect">
            <a:avLst/>
          </a:prstGeom>
          <a:solidFill>
            <a:srgbClr val="FFEDD5"/>
          </a:solidFill>
          <a:ln w="12700">
            <a:solidFill>
              <a:srgbClr val="EA580C"/>
            </a:solidFill>
            <a:prstDash val="solid"/>
          </a:ln>
        </p:spPr>
      </p:sp>
      <p:sp>
        <p:nvSpPr>
          <p:cNvPr id="37" name="Shape 35"/>
          <p:cNvSpPr/>
          <p:nvPr/>
        </p:nvSpPr>
        <p:spPr>
          <a:xfrm>
            <a:off x="6126480" y="3694176"/>
            <a:ext cx="91440" cy="1261872"/>
          </a:xfrm>
          <a:prstGeom prst="rect">
            <a:avLst/>
          </a:prstGeom>
          <a:solidFill>
            <a:srgbClr val="EA580C"/>
          </a:solidFill>
          <a:ln w="12700">
            <a:solidFill>
              <a:srgbClr val="EA580C"/>
            </a:solidFill>
            <a:prstDash val="solid"/>
          </a:ln>
        </p:spPr>
      </p:sp>
      <p:sp>
        <p:nvSpPr>
          <p:cNvPr id="38" name="Text 36"/>
          <p:cNvSpPr/>
          <p:nvPr/>
        </p:nvSpPr>
        <p:spPr>
          <a:xfrm>
            <a:off x="6309360" y="3785616"/>
            <a:ext cx="2468880" cy="347472"/>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departure lounge</a:t>
            </a:r>
            <a:endParaRPr lang="en-US" sz="1200" dirty="0"/>
          </a:p>
        </p:txBody>
      </p:sp>
      <p:sp>
        <p:nvSpPr>
          <p:cNvPr id="39" name="Text 37"/>
          <p:cNvSpPr/>
          <p:nvPr/>
        </p:nvSpPr>
        <p:spPr>
          <a:xfrm>
            <a:off x="6309360" y="4197096"/>
            <a:ext cx="2468880" cy="59436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where you wait before going to the gate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A580C"/>
          </a:solidFill>
          <a:ln w="12700">
            <a:solidFill>
              <a:srgbClr val="EA580C"/>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Listening: Airport Announcement</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Read the announcement. Answer: What is delayed? Why? Where do passengers wait?</a:t>
            </a:r>
            <a:endParaRPr lang="en-US" sz="1300" dirty="0"/>
          </a:p>
        </p:txBody>
      </p:sp>
      <p:sp>
        <p:nvSpPr>
          <p:cNvPr id="5" name="Shape 3"/>
          <p:cNvSpPr/>
          <p:nvPr/>
        </p:nvSpPr>
        <p:spPr>
          <a:xfrm>
            <a:off x="365760" y="1188720"/>
            <a:ext cx="8412480" cy="2926080"/>
          </a:xfrm>
          <a:prstGeom prst="rect">
            <a:avLst/>
          </a:prstGeom>
          <a:solidFill>
            <a:srgbClr val="FFEDD5"/>
          </a:solidFill>
          <a:ln w="12700">
            <a:solidFill>
              <a:srgbClr val="EA580C"/>
            </a:solidFill>
            <a:prstDash val="solid"/>
          </a:ln>
        </p:spPr>
      </p:sp>
      <p:sp>
        <p:nvSpPr>
          <p:cNvPr id="6" name="Text 4"/>
          <p:cNvSpPr/>
          <p:nvPr/>
        </p:nvSpPr>
        <p:spPr>
          <a:xfrm>
            <a:off x="548640" y="1298448"/>
            <a:ext cx="8046720" cy="2743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Attention, please. This is a flight announcement for all passengers on United Airlines flight 238 to Washington D.C., scheduled to depart at 18:00.</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We would like to apologize for the late departure of this flight, due to heavy snow and ice on the runway at Washington D.C. airport. The airport is now open again, and we have a new departure time of 22:00. Boarding will begin in approximately 50 minutes at Gate 2, not Gate 4.</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Passengers are requested to stay in the departure lounge until they hear the boarding announcement. Free refreshments are available — please show your boarding pass to the checkout operator.</a:t>
            </a:r>
            <a:endParaRPr lang="en-US" sz="1200" dirty="0"/>
          </a:p>
        </p:txBody>
      </p:sp>
      <p:sp>
        <p:nvSpPr>
          <p:cNvPr id="7" name="Text 5"/>
          <p:cNvSpPr/>
          <p:nvPr/>
        </p:nvSpPr>
        <p:spPr>
          <a:xfrm>
            <a:off x="365760" y="4206240"/>
            <a:ext cx="8412480" cy="411480"/>
          </a:xfrm>
          <a:prstGeom prst="rect">
            <a:avLst/>
          </a:prstGeom>
          <a:noFill/>
          <a:ln/>
        </p:spPr>
        <p:txBody>
          <a:bodyPr wrap="square" rtlCol="0" anchor="ctr"/>
          <a:lstStyle/>
          <a:p>
            <a:pPr marL="0" indent="0">
              <a:buNone/>
            </a:pPr>
            <a:r>
              <a:rPr lang="en-US" sz="1100" b="1" dirty="0">
                <a:solidFill>
                  <a:srgbClr val="EA580C"/>
                </a:solidFill>
                <a:latin typeface="Calibri" pitchFamily="34" charset="0"/>
                <a:ea typeface="Calibri" pitchFamily="34" charset="-122"/>
                <a:cs typeface="Calibri" pitchFamily="34" charset="-120"/>
              </a:rPr>
              <a:t>Key vocabulary in bold: departure, passengers, gate, boarding pass, departure lounge, refreshments, apologize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7C3AED"/>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LISTENING · SECTION 5</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College Education Vocabulary</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C3AED"/>
          </a:solidFill>
          <a:ln w="12700">
            <a:solidFill>
              <a:srgbClr val="7C3AED"/>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College &amp; Education Vocabulary</a:t>
            </a:r>
            <a:endParaRPr lang="en-US" sz="2200" dirty="0"/>
          </a:p>
        </p:txBody>
      </p:sp>
      <p:sp>
        <p:nvSpPr>
          <p:cNvPr id="4" name="Shape 2"/>
          <p:cNvSpPr/>
          <p:nvPr/>
        </p:nvSpPr>
        <p:spPr>
          <a:xfrm>
            <a:off x="182880" y="1005840"/>
            <a:ext cx="1645920" cy="1737360"/>
          </a:xfrm>
          <a:prstGeom prst="rect">
            <a:avLst/>
          </a:prstGeom>
          <a:solidFill>
            <a:srgbClr val="EDE9FE"/>
          </a:solidFill>
          <a:ln w="12700">
            <a:solidFill>
              <a:srgbClr val="7C3AED"/>
            </a:solidFill>
            <a:prstDash val="solid"/>
          </a:ln>
        </p:spPr>
      </p:sp>
      <p:sp>
        <p:nvSpPr>
          <p:cNvPr id="5" name="Shape 3"/>
          <p:cNvSpPr/>
          <p:nvPr/>
        </p:nvSpPr>
        <p:spPr>
          <a:xfrm>
            <a:off x="777240" y="1097280"/>
            <a:ext cx="457200" cy="457200"/>
          </a:xfrm>
          <a:prstGeom prst="ellipse">
            <a:avLst/>
          </a:prstGeom>
          <a:solidFill>
            <a:srgbClr val="7C3AED"/>
          </a:solidFill>
          <a:ln w="12700">
            <a:solidFill>
              <a:srgbClr val="7C3AED"/>
            </a:solidFill>
            <a:prstDash val="solid"/>
          </a:ln>
        </p:spPr>
      </p:sp>
      <p:sp>
        <p:nvSpPr>
          <p:cNvPr id="6" name="Text 4"/>
          <p:cNvSpPr/>
          <p:nvPr/>
        </p:nvSpPr>
        <p:spPr>
          <a:xfrm>
            <a:off x="777240"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V</a:t>
            </a:r>
            <a:endParaRPr lang="en-US" sz="1400" dirty="0"/>
          </a:p>
        </p:txBody>
      </p:sp>
      <p:sp>
        <p:nvSpPr>
          <p:cNvPr id="7" name="Text 5"/>
          <p:cNvSpPr/>
          <p:nvPr/>
        </p:nvSpPr>
        <p:spPr>
          <a:xfrm>
            <a:off x="256032" y="166420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graduate</a:t>
            </a:r>
            <a:endParaRPr lang="en-US" sz="1100" dirty="0"/>
          </a:p>
        </p:txBody>
      </p:sp>
      <p:sp>
        <p:nvSpPr>
          <p:cNvPr id="8" name="Text 6"/>
          <p:cNvSpPr/>
          <p:nvPr/>
        </p:nvSpPr>
        <p:spPr>
          <a:xfrm>
            <a:off x="256032" y="219456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to complete your studies</a:t>
            </a:r>
            <a:endParaRPr lang="en-US" sz="900" dirty="0"/>
          </a:p>
        </p:txBody>
      </p:sp>
      <p:sp>
        <p:nvSpPr>
          <p:cNvPr id="9" name="Shape 7"/>
          <p:cNvSpPr/>
          <p:nvPr/>
        </p:nvSpPr>
        <p:spPr>
          <a:xfrm>
            <a:off x="1947672" y="1005840"/>
            <a:ext cx="1645920" cy="1737360"/>
          </a:xfrm>
          <a:prstGeom prst="rect">
            <a:avLst/>
          </a:prstGeom>
          <a:solidFill>
            <a:srgbClr val="EDE9FE"/>
          </a:solidFill>
          <a:ln w="12700">
            <a:solidFill>
              <a:srgbClr val="7C3AED"/>
            </a:solidFill>
            <a:prstDash val="solid"/>
          </a:ln>
        </p:spPr>
      </p:sp>
      <p:sp>
        <p:nvSpPr>
          <p:cNvPr id="10" name="Shape 8"/>
          <p:cNvSpPr/>
          <p:nvPr/>
        </p:nvSpPr>
        <p:spPr>
          <a:xfrm>
            <a:off x="2542032" y="1097280"/>
            <a:ext cx="457200" cy="457200"/>
          </a:xfrm>
          <a:prstGeom prst="ellipse">
            <a:avLst/>
          </a:prstGeom>
          <a:solidFill>
            <a:srgbClr val="7C3AED"/>
          </a:solidFill>
          <a:ln w="12700">
            <a:solidFill>
              <a:srgbClr val="7C3AED"/>
            </a:solidFill>
            <a:prstDash val="solid"/>
          </a:ln>
        </p:spPr>
      </p:sp>
      <p:sp>
        <p:nvSpPr>
          <p:cNvPr id="11" name="Text 9"/>
          <p:cNvSpPr/>
          <p:nvPr/>
        </p:nvSpPr>
        <p:spPr>
          <a:xfrm>
            <a:off x="2542032"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12" name="Text 10"/>
          <p:cNvSpPr/>
          <p:nvPr/>
        </p:nvSpPr>
        <p:spPr>
          <a:xfrm>
            <a:off x="2020824" y="166420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college</a:t>
            </a:r>
            <a:endParaRPr lang="en-US" sz="1100" dirty="0"/>
          </a:p>
        </p:txBody>
      </p:sp>
      <p:sp>
        <p:nvSpPr>
          <p:cNvPr id="13" name="Text 11"/>
          <p:cNvSpPr/>
          <p:nvPr/>
        </p:nvSpPr>
        <p:spPr>
          <a:xfrm>
            <a:off x="2020824" y="219456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school where you get a degree</a:t>
            </a:r>
            <a:endParaRPr lang="en-US" sz="900" dirty="0"/>
          </a:p>
        </p:txBody>
      </p:sp>
      <p:sp>
        <p:nvSpPr>
          <p:cNvPr id="14" name="Shape 12"/>
          <p:cNvSpPr/>
          <p:nvPr/>
        </p:nvSpPr>
        <p:spPr>
          <a:xfrm>
            <a:off x="3712464" y="1005840"/>
            <a:ext cx="1645920" cy="1737360"/>
          </a:xfrm>
          <a:prstGeom prst="rect">
            <a:avLst/>
          </a:prstGeom>
          <a:solidFill>
            <a:srgbClr val="EDE9FE"/>
          </a:solidFill>
          <a:ln w="12700">
            <a:solidFill>
              <a:srgbClr val="7C3AED"/>
            </a:solidFill>
            <a:prstDash val="solid"/>
          </a:ln>
        </p:spPr>
      </p:sp>
      <p:sp>
        <p:nvSpPr>
          <p:cNvPr id="15" name="Shape 13"/>
          <p:cNvSpPr/>
          <p:nvPr/>
        </p:nvSpPr>
        <p:spPr>
          <a:xfrm>
            <a:off x="4306824" y="1097280"/>
            <a:ext cx="457200" cy="457200"/>
          </a:xfrm>
          <a:prstGeom prst="ellipse">
            <a:avLst/>
          </a:prstGeom>
          <a:solidFill>
            <a:srgbClr val="7C3AED"/>
          </a:solidFill>
          <a:ln w="12700">
            <a:solidFill>
              <a:srgbClr val="7C3AED"/>
            </a:solidFill>
            <a:prstDash val="solid"/>
          </a:ln>
        </p:spPr>
      </p:sp>
      <p:sp>
        <p:nvSpPr>
          <p:cNvPr id="16" name="Text 14"/>
          <p:cNvSpPr/>
          <p:nvPr/>
        </p:nvSpPr>
        <p:spPr>
          <a:xfrm>
            <a:off x="4306824"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V</a:t>
            </a:r>
            <a:endParaRPr lang="en-US" sz="1400" dirty="0"/>
          </a:p>
        </p:txBody>
      </p:sp>
      <p:sp>
        <p:nvSpPr>
          <p:cNvPr id="17" name="Text 15"/>
          <p:cNvSpPr/>
          <p:nvPr/>
        </p:nvSpPr>
        <p:spPr>
          <a:xfrm>
            <a:off x="3785616" y="166420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drop out</a:t>
            </a:r>
            <a:endParaRPr lang="en-US" sz="1100" dirty="0"/>
          </a:p>
        </p:txBody>
      </p:sp>
      <p:sp>
        <p:nvSpPr>
          <p:cNvPr id="18" name="Text 16"/>
          <p:cNvSpPr/>
          <p:nvPr/>
        </p:nvSpPr>
        <p:spPr>
          <a:xfrm>
            <a:off x="3785616" y="219456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to stop and leave in the middle</a:t>
            </a:r>
            <a:endParaRPr lang="en-US" sz="900" dirty="0"/>
          </a:p>
        </p:txBody>
      </p:sp>
      <p:sp>
        <p:nvSpPr>
          <p:cNvPr id="19" name="Shape 17"/>
          <p:cNvSpPr/>
          <p:nvPr/>
        </p:nvSpPr>
        <p:spPr>
          <a:xfrm>
            <a:off x="5477256" y="1005840"/>
            <a:ext cx="1645920" cy="1737360"/>
          </a:xfrm>
          <a:prstGeom prst="rect">
            <a:avLst/>
          </a:prstGeom>
          <a:solidFill>
            <a:srgbClr val="EDE9FE"/>
          </a:solidFill>
          <a:ln w="12700">
            <a:solidFill>
              <a:srgbClr val="7C3AED"/>
            </a:solidFill>
            <a:prstDash val="solid"/>
          </a:ln>
        </p:spPr>
      </p:sp>
      <p:sp>
        <p:nvSpPr>
          <p:cNvPr id="20" name="Shape 18"/>
          <p:cNvSpPr/>
          <p:nvPr/>
        </p:nvSpPr>
        <p:spPr>
          <a:xfrm>
            <a:off x="6071616" y="1097280"/>
            <a:ext cx="457200" cy="457200"/>
          </a:xfrm>
          <a:prstGeom prst="ellipse">
            <a:avLst/>
          </a:prstGeom>
          <a:solidFill>
            <a:srgbClr val="7C3AED"/>
          </a:solidFill>
          <a:ln w="12700">
            <a:solidFill>
              <a:srgbClr val="7C3AED"/>
            </a:solidFill>
            <a:prstDash val="solid"/>
          </a:ln>
        </p:spPr>
      </p:sp>
      <p:sp>
        <p:nvSpPr>
          <p:cNvPr id="21" name="Text 19"/>
          <p:cNvSpPr/>
          <p:nvPr/>
        </p:nvSpPr>
        <p:spPr>
          <a:xfrm>
            <a:off x="6071616"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22" name="Text 20"/>
          <p:cNvSpPr/>
          <p:nvPr/>
        </p:nvSpPr>
        <p:spPr>
          <a:xfrm>
            <a:off x="5550408" y="166420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lecture</a:t>
            </a:r>
            <a:endParaRPr lang="en-US" sz="1100" dirty="0"/>
          </a:p>
        </p:txBody>
      </p:sp>
      <p:sp>
        <p:nvSpPr>
          <p:cNvPr id="23" name="Text 21"/>
          <p:cNvSpPr/>
          <p:nvPr/>
        </p:nvSpPr>
        <p:spPr>
          <a:xfrm>
            <a:off x="5550408" y="219456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presentation to a large group</a:t>
            </a:r>
            <a:endParaRPr lang="en-US" sz="900" dirty="0"/>
          </a:p>
        </p:txBody>
      </p:sp>
      <p:sp>
        <p:nvSpPr>
          <p:cNvPr id="24" name="Shape 22"/>
          <p:cNvSpPr/>
          <p:nvPr/>
        </p:nvSpPr>
        <p:spPr>
          <a:xfrm>
            <a:off x="7242048" y="1005840"/>
            <a:ext cx="1645920" cy="1737360"/>
          </a:xfrm>
          <a:prstGeom prst="rect">
            <a:avLst/>
          </a:prstGeom>
          <a:solidFill>
            <a:srgbClr val="EDE9FE"/>
          </a:solidFill>
          <a:ln w="12700">
            <a:solidFill>
              <a:srgbClr val="7C3AED"/>
            </a:solidFill>
            <a:prstDash val="solid"/>
          </a:ln>
        </p:spPr>
      </p:sp>
      <p:sp>
        <p:nvSpPr>
          <p:cNvPr id="25" name="Shape 23"/>
          <p:cNvSpPr/>
          <p:nvPr/>
        </p:nvSpPr>
        <p:spPr>
          <a:xfrm>
            <a:off x="7836408" y="1097280"/>
            <a:ext cx="457200" cy="457200"/>
          </a:xfrm>
          <a:prstGeom prst="ellipse">
            <a:avLst/>
          </a:prstGeom>
          <a:solidFill>
            <a:srgbClr val="7C3AED"/>
          </a:solidFill>
          <a:ln w="12700">
            <a:solidFill>
              <a:srgbClr val="7C3AED"/>
            </a:solidFill>
            <a:prstDash val="solid"/>
          </a:ln>
        </p:spPr>
      </p:sp>
      <p:sp>
        <p:nvSpPr>
          <p:cNvPr id="26" name="Text 24"/>
          <p:cNvSpPr/>
          <p:nvPr/>
        </p:nvSpPr>
        <p:spPr>
          <a:xfrm>
            <a:off x="7836408"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27" name="Text 25"/>
          <p:cNvSpPr/>
          <p:nvPr/>
        </p:nvSpPr>
        <p:spPr>
          <a:xfrm>
            <a:off x="7315200" y="166420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major</a:t>
            </a:r>
            <a:endParaRPr lang="en-US" sz="1100" dirty="0"/>
          </a:p>
        </p:txBody>
      </p:sp>
      <p:sp>
        <p:nvSpPr>
          <p:cNvPr id="28" name="Text 26"/>
          <p:cNvSpPr/>
          <p:nvPr/>
        </p:nvSpPr>
        <p:spPr>
          <a:xfrm>
            <a:off x="7315200" y="219456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main subject you study</a:t>
            </a:r>
            <a:endParaRPr lang="en-US" sz="900" dirty="0"/>
          </a:p>
        </p:txBody>
      </p:sp>
      <p:sp>
        <p:nvSpPr>
          <p:cNvPr id="29" name="Shape 27"/>
          <p:cNvSpPr/>
          <p:nvPr/>
        </p:nvSpPr>
        <p:spPr>
          <a:xfrm>
            <a:off x="182880" y="2926080"/>
            <a:ext cx="1645920" cy="1737360"/>
          </a:xfrm>
          <a:prstGeom prst="rect">
            <a:avLst/>
          </a:prstGeom>
          <a:solidFill>
            <a:srgbClr val="EDE9FE"/>
          </a:solidFill>
          <a:ln w="12700">
            <a:solidFill>
              <a:srgbClr val="7C3AED"/>
            </a:solidFill>
            <a:prstDash val="solid"/>
          </a:ln>
        </p:spPr>
      </p:sp>
      <p:sp>
        <p:nvSpPr>
          <p:cNvPr id="30" name="Shape 28"/>
          <p:cNvSpPr/>
          <p:nvPr/>
        </p:nvSpPr>
        <p:spPr>
          <a:xfrm>
            <a:off x="777240" y="3017520"/>
            <a:ext cx="457200" cy="457200"/>
          </a:xfrm>
          <a:prstGeom prst="ellipse">
            <a:avLst/>
          </a:prstGeom>
          <a:solidFill>
            <a:srgbClr val="7C3AED"/>
          </a:solidFill>
          <a:ln w="12700">
            <a:solidFill>
              <a:srgbClr val="7C3AED"/>
            </a:solidFill>
            <a:prstDash val="solid"/>
          </a:ln>
        </p:spPr>
      </p:sp>
      <p:sp>
        <p:nvSpPr>
          <p:cNvPr id="31" name="Text 29"/>
          <p:cNvSpPr/>
          <p:nvPr/>
        </p:nvSpPr>
        <p:spPr>
          <a:xfrm>
            <a:off x="777240" y="3017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32" name="Text 30"/>
          <p:cNvSpPr/>
          <p:nvPr/>
        </p:nvSpPr>
        <p:spPr>
          <a:xfrm>
            <a:off x="256032" y="358444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graduate student</a:t>
            </a:r>
            <a:endParaRPr lang="en-US" sz="1100" dirty="0"/>
          </a:p>
        </p:txBody>
      </p:sp>
      <p:sp>
        <p:nvSpPr>
          <p:cNvPr id="33" name="Text 31"/>
          <p:cNvSpPr/>
          <p:nvPr/>
        </p:nvSpPr>
        <p:spPr>
          <a:xfrm>
            <a:off x="256032" y="411480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studies after their first degree</a:t>
            </a:r>
            <a:endParaRPr lang="en-US" sz="900" dirty="0"/>
          </a:p>
        </p:txBody>
      </p:sp>
      <p:sp>
        <p:nvSpPr>
          <p:cNvPr id="34" name="Shape 32"/>
          <p:cNvSpPr/>
          <p:nvPr/>
        </p:nvSpPr>
        <p:spPr>
          <a:xfrm>
            <a:off x="1947672" y="2926080"/>
            <a:ext cx="1645920" cy="1737360"/>
          </a:xfrm>
          <a:prstGeom prst="rect">
            <a:avLst/>
          </a:prstGeom>
          <a:solidFill>
            <a:srgbClr val="EDE9FE"/>
          </a:solidFill>
          <a:ln w="12700">
            <a:solidFill>
              <a:srgbClr val="7C3AED"/>
            </a:solidFill>
            <a:prstDash val="solid"/>
          </a:ln>
        </p:spPr>
      </p:sp>
      <p:sp>
        <p:nvSpPr>
          <p:cNvPr id="35" name="Shape 33"/>
          <p:cNvSpPr/>
          <p:nvPr/>
        </p:nvSpPr>
        <p:spPr>
          <a:xfrm>
            <a:off x="2542032" y="3017520"/>
            <a:ext cx="457200" cy="457200"/>
          </a:xfrm>
          <a:prstGeom prst="ellipse">
            <a:avLst/>
          </a:prstGeom>
          <a:solidFill>
            <a:srgbClr val="7C3AED"/>
          </a:solidFill>
          <a:ln w="12700">
            <a:solidFill>
              <a:srgbClr val="7C3AED"/>
            </a:solidFill>
            <a:prstDash val="solid"/>
          </a:ln>
        </p:spPr>
      </p:sp>
      <p:sp>
        <p:nvSpPr>
          <p:cNvPr id="36" name="Text 34"/>
          <p:cNvSpPr/>
          <p:nvPr/>
        </p:nvSpPr>
        <p:spPr>
          <a:xfrm>
            <a:off x="2542032" y="3017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37" name="Text 35"/>
          <p:cNvSpPr/>
          <p:nvPr/>
        </p:nvSpPr>
        <p:spPr>
          <a:xfrm>
            <a:off x="2020824" y="358444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seminar</a:t>
            </a:r>
            <a:endParaRPr lang="en-US" sz="1100" dirty="0"/>
          </a:p>
        </p:txBody>
      </p:sp>
      <p:sp>
        <p:nvSpPr>
          <p:cNvPr id="38" name="Text 36"/>
          <p:cNvSpPr/>
          <p:nvPr/>
        </p:nvSpPr>
        <p:spPr>
          <a:xfrm>
            <a:off x="2020824" y="411480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small group of students + teacher</a:t>
            </a:r>
            <a:endParaRPr lang="en-US" sz="900" dirty="0"/>
          </a:p>
        </p:txBody>
      </p:sp>
      <p:sp>
        <p:nvSpPr>
          <p:cNvPr id="39" name="Shape 37"/>
          <p:cNvSpPr/>
          <p:nvPr/>
        </p:nvSpPr>
        <p:spPr>
          <a:xfrm>
            <a:off x="3712464" y="2926080"/>
            <a:ext cx="1645920" cy="1737360"/>
          </a:xfrm>
          <a:prstGeom prst="rect">
            <a:avLst/>
          </a:prstGeom>
          <a:solidFill>
            <a:srgbClr val="EDE9FE"/>
          </a:solidFill>
          <a:ln w="12700">
            <a:solidFill>
              <a:srgbClr val="7C3AED"/>
            </a:solidFill>
            <a:prstDash val="solid"/>
          </a:ln>
        </p:spPr>
      </p:sp>
      <p:sp>
        <p:nvSpPr>
          <p:cNvPr id="40" name="Shape 38"/>
          <p:cNvSpPr/>
          <p:nvPr/>
        </p:nvSpPr>
        <p:spPr>
          <a:xfrm>
            <a:off x="4306824" y="3017520"/>
            <a:ext cx="457200" cy="457200"/>
          </a:xfrm>
          <a:prstGeom prst="ellipse">
            <a:avLst/>
          </a:prstGeom>
          <a:solidFill>
            <a:srgbClr val="7C3AED"/>
          </a:solidFill>
          <a:ln w="12700">
            <a:solidFill>
              <a:srgbClr val="7C3AED"/>
            </a:solidFill>
            <a:prstDash val="solid"/>
          </a:ln>
        </p:spPr>
      </p:sp>
      <p:sp>
        <p:nvSpPr>
          <p:cNvPr id="41" name="Text 39"/>
          <p:cNvSpPr/>
          <p:nvPr/>
        </p:nvSpPr>
        <p:spPr>
          <a:xfrm>
            <a:off x="4306824" y="3017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42" name="Text 40"/>
          <p:cNvSpPr/>
          <p:nvPr/>
        </p:nvSpPr>
        <p:spPr>
          <a:xfrm>
            <a:off x="3785616" y="358444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freshman</a:t>
            </a:r>
            <a:endParaRPr lang="en-US" sz="1100" dirty="0"/>
          </a:p>
        </p:txBody>
      </p:sp>
      <p:sp>
        <p:nvSpPr>
          <p:cNvPr id="43" name="Text 41"/>
          <p:cNvSpPr/>
          <p:nvPr/>
        </p:nvSpPr>
        <p:spPr>
          <a:xfrm>
            <a:off x="3785616" y="411480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student in their first year</a:t>
            </a:r>
            <a:endParaRPr lang="en-US" sz="900" dirty="0"/>
          </a:p>
        </p:txBody>
      </p:sp>
      <p:sp>
        <p:nvSpPr>
          <p:cNvPr id="44" name="Shape 42"/>
          <p:cNvSpPr/>
          <p:nvPr/>
        </p:nvSpPr>
        <p:spPr>
          <a:xfrm>
            <a:off x="5477256" y="2926080"/>
            <a:ext cx="1645920" cy="1737360"/>
          </a:xfrm>
          <a:prstGeom prst="rect">
            <a:avLst/>
          </a:prstGeom>
          <a:solidFill>
            <a:srgbClr val="EDE9FE"/>
          </a:solidFill>
          <a:ln w="12700">
            <a:solidFill>
              <a:srgbClr val="7C3AED"/>
            </a:solidFill>
            <a:prstDash val="solid"/>
          </a:ln>
        </p:spPr>
      </p:sp>
      <p:sp>
        <p:nvSpPr>
          <p:cNvPr id="45" name="Shape 43"/>
          <p:cNvSpPr/>
          <p:nvPr/>
        </p:nvSpPr>
        <p:spPr>
          <a:xfrm>
            <a:off x="6071616" y="3017520"/>
            <a:ext cx="457200" cy="457200"/>
          </a:xfrm>
          <a:prstGeom prst="ellipse">
            <a:avLst/>
          </a:prstGeom>
          <a:solidFill>
            <a:srgbClr val="7C3AED"/>
          </a:solidFill>
          <a:ln w="12700">
            <a:solidFill>
              <a:srgbClr val="7C3AED"/>
            </a:solidFill>
            <a:prstDash val="solid"/>
          </a:ln>
        </p:spPr>
      </p:sp>
      <p:sp>
        <p:nvSpPr>
          <p:cNvPr id="46" name="Text 44"/>
          <p:cNvSpPr/>
          <p:nvPr/>
        </p:nvSpPr>
        <p:spPr>
          <a:xfrm>
            <a:off x="6071616" y="3017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47" name="Text 45"/>
          <p:cNvSpPr/>
          <p:nvPr/>
        </p:nvSpPr>
        <p:spPr>
          <a:xfrm>
            <a:off x="5550408" y="358444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scholarship</a:t>
            </a:r>
            <a:endParaRPr lang="en-US" sz="1100" dirty="0"/>
          </a:p>
        </p:txBody>
      </p:sp>
      <p:sp>
        <p:nvSpPr>
          <p:cNvPr id="48" name="Text 46"/>
          <p:cNvSpPr/>
          <p:nvPr/>
        </p:nvSpPr>
        <p:spPr>
          <a:xfrm>
            <a:off x="5550408" y="411480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money given to pay for studies</a:t>
            </a:r>
            <a:endParaRPr lang="en-US" sz="900" dirty="0"/>
          </a:p>
        </p:txBody>
      </p:sp>
      <p:sp>
        <p:nvSpPr>
          <p:cNvPr id="49" name="Shape 47"/>
          <p:cNvSpPr/>
          <p:nvPr/>
        </p:nvSpPr>
        <p:spPr>
          <a:xfrm>
            <a:off x="7242048" y="2926080"/>
            <a:ext cx="1645920" cy="1737360"/>
          </a:xfrm>
          <a:prstGeom prst="rect">
            <a:avLst/>
          </a:prstGeom>
          <a:solidFill>
            <a:srgbClr val="EDE9FE"/>
          </a:solidFill>
          <a:ln w="12700">
            <a:solidFill>
              <a:srgbClr val="7C3AED"/>
            </a:solidFill>
            <a:prstDash val="solid"/>
          </a:ln>
        </p:spPr>
      </p:sp>
      <p:sp>
        <p:nvSpPr>
          <p:cNvPr id="50" name="Shape 48"/>
          <p:cNvSpPr/>
          <p:nvPr/>
        </p:nvSpPr>
        <p:spPr>
          <a:xfrm>
            <a:off x="7836408" y="3017520"/>
            <a:ext cx="457200" cy="457200"/>
          </a:xfrm>
          <a:prstGeom prst="ellipse">
            <a:avLst/>
          </a:prstGeom>
          <a:solidFill>
            <a:srgbClr val="7C3AED"/>
          </a:solidFill>
          <a:ln w="12700">
            <a:solidFill>
              <a:srgbClr val="7C3AED"/>
            </a:solidFill>
            <a:prstDash val="solid"/>
          </a:ln>
        </p:spPr>
      </p:sp>
      <p:sp>
        <p:nvSpPr>
          <p:cNvPr id="51" name="Text 49"/>
          <p:cNvSpPr/>
          <p:nvPr/>
        </p:nvSpPr>
        <p:spPr>
          <a:xfrm>
            <a:off x="7836408" y="3017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N</a:t>
            </a:r>
            <a:endParaRPr lang="en-US" sz="1400" dirty="0"/>
          </a:p>
        </p:txBody>
      </p:sp>
      <p:sp>
        <p:nvSpPr>
          <p:cNvPr id="52" name="Text 50"/>
          <p:cNvSpPr/>
          <p:nvPr/>
        </p:nvSpPr>
        <p:spPr>
          <a:xfrm>
            <a:off x="7315200" y="3584448"/>
            <a:ext cx="1508760" cy="5029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degree</a:t>
            </a:r>
            <a:endParaRPr lang="en-US" sz="1100" dirty="0"/>
          </a:p>
        </p:txBody>
      </p:sp>
      <p:sp>
        <p:nvSpPr>
          <p:cNvPr id="53" name="Text 51"/>
          <p:cNvSpPr/>
          <p:nvPr/>
        </p:nvSpPr>
        <p:spPr>
          <a:xfrm>
            <a:off x="7315200" y="4114800"/>
            <a:ext cx="1508760" cy="457200"/>
          </a:xfrm>
          <a:prstGeom prst="rect">
            <a:avLst/>
          </a:prstGeom>
          <a:noFill/>
          <a:ln/>
        </p:spPr>
        <p:txBody>
          <a:bodyPr wrap="square" lIns="0" tIns="0" rIns="0" bIns="0" rtlCol="0" anchor="ctr"/>
          <a:lstStyle/>
          <a:p>
            <a:pPr marL="0" indent="0" algn="ctr">
              <a:buNone/>
            </a:pPr>
            <a:r>
              <a:rPr lang="en-US" sz="900" i="1" dirty="0">
                <a:solidFill>
                  <a:srgbClr val="1E293B"/>
                </a:solidFill>
                <a:latin typeface="Calibri" pitchFamily="34" charset="0"/>
                <a:ea typeface="Calibri" pitchFamily="34" charset="-122"/>
                <a:cs typeface="Calibri" pitchFamily="34" charset="-120"/>
              </a:rPr>
              <a:t>diploma you get after finishing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C2626"/>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GRAMMAR · SECTION 6</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Yes/No Questions &amp; Short Answers</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C2626"/>
          </a:solidFill>
          <a:ln w="12700">
            <a:solidFill>
              <a:srgbClr val="DC2626"/>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Yes/No Questions — The Golden Rule</a:t>
            </a:r>
            <a:endParaRPr lang="en-US" sz="2200" dirty="0"/>
          </a:p>
        </p:txBody>
      </p:sp>
      <p:sp>
        <p:nvSpPr>
          <p:cNvPr id="4" name="Shape 2"/>
          <p:cNvSpPr/>
          <p:nvPr/>
        </p:nvSpPr>
        <p:spPr>
          <a:xfrm>
            <a:off x="365760" y="777240"/>
            <a:ext cx="8412480" cy="685800"/>
          </a:xfrm>
          <a:prstGeom prst="rect">
            <a:avLst/>
          </a:prstGeom>
          <a:solidFill>
            <a:srgbClr val="FEE2E2"/>
          </a:solidFill>
          <a:ln w="12700">
            <a:solidFill>
              <a:srgbClr val="DC2626"/>
            </a:solidFill>
            <a:prstDash val="solid"/>
          </a:ln>
        </p:spPr>
      </p:sp>
      <p:sp>
        <p:nvSpPr>
          <p:cNvPr id="5" name="Text 3"/>
          <p:cNvSpPr/>
          <p:nvPr/>
        </p:nvSpPr>
        <p:spPr>
          <a:xfrm>
            <a:off x="548640" y="850392"/>
            <a:ext cx="8046720" cy="50292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  Golden Rule: Use the SAME auxiliary verb from the question in your short answer!</a:t>
            </a:r>
            <a:endParaRPr lang="en-US" sz="1400" dirty="0"/>
          </a:p>
        </p:txBody>
      </p:sp>
      <p:sp>
        <p:nvSpPr>
          <p:cNvPr id="6" name="Shape 4"/>
          <p:cNvSpPr/>
          <p:nvPr/>
        </p:nvSpPr>
        <p:spPr>
          <a:xfrm>
            <a:off x="365760" y="1600200"/>
            <a:ext cx="8412480" cy="365760"/>
          </a:xfrm>
          <a:prstGeom prst="rect">
            <a:avLst/>
          </a:prstGeom>
          <a:solidFill>
            <a:srgbClr val="DC2626"/>
          </a:solidFill>
          <a:ln w="12700">
            <a:solidFill>
              <a:srgbClr val="DC2626"/>
            </a:solidFill>
            <a:prstDash val="solid"/>
          </a:ln>
        </p:spPr>
      </p:sp>
      <p:sp>
        <p:nvSpPr>
          <p:cNvPr id="7" name="Text 5"/>
          <p:cNvSpPr/>
          <p:nvPr/>
        </p:nvSpPr>
        <p:spPr>
          <a:xfrm>
            <a:off x="548640" y="1645920"/>
            <a:ext cx="8046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  (am / is / are)</a:t>
            </a:r>
            <a:endParaRPr lang="en-US" sz="1300" dirty="0"/>
          </a:p>
        </p:txBody>
      </p:sp>
      <p:sp>
        <p:nvSpPr>
          <p:cNvPr id="8" name="Shape 6"/>
          <p:cNvSpPr/>
          <p:nvPr/>
        </p:nvSpPr>
        <p:spPr>
          <a:xfrm>
            <a:off x="365760" y="1965960"/>
            <a:ext cx="8412480" cy="365760"/>
          </a:xfrm>
          <a:prstGeom prst="rect">
            <a:avLst/>
          </a:prstGeom>
          <a:solidFill>
            <a:srgbClr val="F8FAFC"/>
          </a:solidFill>
          <a:ln w="12700">
            <a:solidFill>
              <a:srgbClr val="F8FAFC"/>
            </a:solidFill>
            <a:prstDash val="solid"/>
          </a:ln>
        </p:spPr>
      </p:sp>
      <p:sp>
        <p:nvSpPr>
          <p:cNvPr id="9" name="Text 7"/>
          <p:cNvSpPr/>
          <p:nvPr/>
        </p:nvSpPr>
        <p:spPr>
          <a:xfrm>
            <a:off x="548640" y="201168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Are you from California?</a:t>
            </a:r>
            <a:endParaRPr lang="en-US" sz="1200" dirty="0"/>
          </a:p>
        </p:txBody>
      </p:sp>
      <p:sp>
        <p:nvSpPr>
          <p:cNvPr id="10" name="Text 8"/>
          <p:cNvSpPr/>
          <p:nvPr/>
        </p:nvSpPr>
        <p:spPr>
          <a:xfrm>
            <a:off x="4206240" y="201168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I am.</a:t>
            </a:r>
            <a:endParaRPr lang="en-US" sz="1200" dirty="0"/>
          </a:p>
        </p:txBody>
      </p:sp>
      <p:sp>
        <p:nvSpPr>
          <p:cNvPr id="11" name="Text 9"/>
          <p:cNvSpPr/>
          <p:nvPr/>
        </p:nvSpPr>
        <p:spPr>
          <a:xfrm>
            <a:off x="6400800" y="201168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I'm not.</a:t>
            </a:r>
            <a:endParaRPr lang="en-US" sz="1200" dirty="0"/>
          </a:p>
        </p:txBody>
      </p:sp>
      <p:sp>
        <p:nvSpPr>
          <p:cNvPr id="12" name="Shape 10"/>
          <p:cNvSpPr/>
          <p:nvPr/>
        </p:nvSpPr>
        <p:spPr>
          <a:xfrm>
            <a:off x="365760" y="2331720"/>
            <a:ext cx="8412480" cy="365760"/>
          </a:xfrm>
          <a:prstGeom prst="rect">
            <a:avLst/>
          </a:prstGeom>
          <a:solidFill>
            <a:srgbClr val="F8FAFC"/>
          </a:solidFill>
          <a:ln w="12700">
            <a:solidFill>
              <a:srgbClr val="F8FAFC"/>
            </a:solidFill>
            <a:prstDash val="solid"/>
          </a:ln>
        </p:spPr>
      </p:sp>
      <p:sp>
        <p:nvSpPr>
          <p:cNvPr id="13" name="Text 11"/>
          <p:cNvSpPr/>
          <p:nvPr/>
        </p:nvSpPr>
        <p:spPr>
          <a:xfrm>
            <a:off x="548640" y="237744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Is it warm in Texas?</a:t>
            </a:r>
            <a:endParaRPr lang="en-US" sz="1200" dirty="0"/>
          </a:p>
        </p:txBody>
      </p:sp>
      <p:sp>
        <p:nvSpPr>
          <p:cNvPr id="14" name="Text 12"/>
          <p:cNvSpPr/>
          <p:nvPr/>
        </p:nvSpPr>
        <p:spPr>
          <a:xfrm>
            <a:off x="4206240" y="237744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it is.</a:t>
            </a:r>
            <a:endParaRPr lang="en-US" sz="1200" dirty="0"/>
          </a:p>
        </p:txBody>
      </p:sp>
      <p:sp>
        <p:nvSpPr>
          <p:cNvPr id="15" name="Text 13"/>
          <p:cNvSpPr/>
          <p:nvPr/>
        </p:nvSpPr>
        <p:spPr>
          <a:xfrm>
            <a:off x="6400800" y="237744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it isn't.</a:t>
            </a:r>
            <a:endParaRPr lang="en-US" sz="1200" dirty="0"/>
          </a:p>
        </p:txBody>
      </p:sp>
      <p:sp>
        <p:nvSpPr>
          <p:cNvPr id="16" name="Shape 14"/>
          <p:cNvSpPr/>
          <p:nvPr/>
        </p:nvSpPr>
        <p:spPr>
          <a:xfrm>
            <a:off x="365760" y="2697480"/>
            <a:ext cx="8412480" cy="365760"/>
          </a:xfrm>
          <a:prstGeom prst="rect">
            <a:avLst/>
          </a:prstGeom>
          <a:solidFill>
            <a:srgbClr val="F8FAFC"/>
          </a:solidFill>
          <a:ln w="12700">
            <a:solidFill>
              <a:srgbClr val="F8FAFC"/>
            </a:solidFill>
            <a:prstDash val="solid"/>
          </a:ln>
        </p:spPr>
      </p:sp>
      <p:sp>
        <p:nvSpPr>
          <p:cNvPr id="17" name="Text 15"/>
          <p:cNvSpPr/>
          <p:nvPr/>
        </p:nvSpPr>
        <p:spPr>
          <a:xfrm>
            <a:off x="548640" y="274320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Are they in Chicago?</a:t>
            </a:r>
            <a:endParaRPr lang="en-US" sz="1200" dirty="0"/>
          </a:p>
        </p:txBody>
      </p:sp>
      <p:sp>
        <p:nvSpPr>
          <p:cNvPr id="18" name="Text 16"/>
          <p:cNvSpPr/>
          <p:nvPr/>
        </p:nvSpPr>
        <p:spPr>
          <a:xfrm>
            <a:off x="4206240" y="274320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they are.</a:t>
            </a:r>
            <a:endParaRPr lang="en-US" sz="1200" dirty="0"/>
          </a:p>
        </p:txBody>
      </p:sp>
      <p:sp>
        <p:nvSpPr>
          <p:cNvPr id="19" name="Text 17"/>
          <p:cNvSpPr/>
          <p:nvPr/>
        </p:nvSpPr>
        <p:spPr>
          <a:xfrm>
            <a:off x="6400800" y="274320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they aren't.</a:t>
            </a:r>
            <a:endParaRPr lang="en-US" sz="1200" dirty="0"/>
          </a:p>
        </p:txBody>
      </p:sp>
      <p:sp>
        <p:nvSpPr>
          <p:cNvPr id="20" name="Shape 18"/>
          <p:cNvSpPr/>
          <p:nvPr/>
        </p:nvSpPr>
        <p:spPr>
          <a:xfrm>
            <a:off x="365760" y="3063240"/>
            <a:ext cx="8412480" cy="365760"/>
          </a:xfrm>
          <a:prstGeom prst="rect">
            <a:avLst/>
          </a:prstGeom>
          <a:solidFill>
            <a:srgbClr val="2563EB"/>
          </a:solidFill>
          <a:ln w="12700">
            <a:solidFill>
              <a:srgbClr val="2563EB"/>
            </a:solidFill>
            <a:prstDash val="solid"/>
          </a:ln>
        </p:spPr>
      </p:sp>
      <p:sp>
        <p:nvSpPr>
          <p:cNvPr id="21" name="Text 19"/>
          <p:cNvSpPr/>
          <p:nvPr/>
        </p:nvSpPr>
        <p:spPr>
          <a:xfrm>
            <a:off x="548640" y="3108960"/>
            <a:ext cx="8046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DO  (do / does / did)</a:t>
            </a:r>
            <a:endParaRPr lang="en-US" sz="1300" dirty="0"/>
          </a:p>
        </p:txBody>
      </p:sp>
      <p:sp>
        <p:nvSpPr>
          <p:cNvPr id="22" name="Shape 20"/>
          <p:cNvSpPr/>
          <p:nvPr/>
        </p:nvSpPr>
        <p:spPr>
          <a:xfrm>
            <a:off x="365760" y="3429000"/>
            <a:ext cx="8412480" cy="365760"/>
          </a:xfrm>
          <a:prstGeom prst="rect">
            <a:avLst/>
          </a:prstGeom>
          <a:solidFill>
            <a:srgbClr val="F8FAFC"/>
          </a:solidFill>
          <a:ln w="12700">
            <a:solidFill>
              <a:srgbClr val="F8FAFC"/>
            </a:solidFill>
            <a:prstDash val="solid"/>
          </a:ln>
        </p:spPr>
      </p:sp>
      <p:sp>
        <p:nvSpPr>
          <p:cNvPr id="23" name="Text 21"/>
          <p:cNvSpPr/>
          <p:nvPr/>
        </p:nvSpPr>
        <p:spPr>
          <a:xfrm>
            <a:off x="548640" y="347472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Do you like Chicago?</a:t>
            </a:r>
            <a:endParaRPr lang="en-US" sz="1200" dirty="0"/>
          </a:p>
        </p:txBody>
      </p:sp>
      <p:sp>
        <p:nvSpPr>
          <p:cNvPr id="24" name="Text 22"/>
          <p:cNvSpPr/>
          <p:nvPr/>
        </p:nvSpPr>
        <p:spPr>
          <a:xfrm>
            <a:off x="4206240" y="347472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I do.</a:t>
            </a:r>
            <a:endParaRPr lang="en-US" sz="1200" dirty="0"/>
          </a:p>
        </p:txBody>
      </p:sp>
      <p:sp>
        <p:nvSpPr>
          <p:cNvPr id="25" name="Text 23"/>
          <p:cNvSpPr/>
          <p:nvPr/>
        </p:nvSpPr>
        <p:spPr>
          <a:xfrm>
            <a:off x="6400800" y="347472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I don't.</a:t>
            </a:r>
            <a:endParaRPr lang="en-US" sz="1200" dirty="0"/>
          </a:p>
        </p:txBody>
      </p:sp>
      <p:sp>
        <p:nvSpPr>
          <p:cNvPr id="26" name="Shape 24"/>
          <p:cNvSpPr/>
          <p:nvPr/>
        </p:nvSpPr>
        <p:spPr>
          <a:xfrm>
            <a:off x="365760" y="3794760"/>
            <a:ext cx="8412480" cy="365760"/>
          </a:xfrm>
          <a:prstGeom prst="rect">
            <a:avLst/>
          </a:prstGeom>
          <a:solidFill>
            <a:srgbClr val="F8FAFC"/>
          </a:solidFill>
          <a:ln w="12700">
            <a:solidFill>
              <a:srgbClr val="F8FAFC"/>
            </a:solidFill>
            <a:prstDash val="solid"/>
          </a:ln>
        </p:spPr>
      </p:sp>
      <p:sp>
        <p:nvSpPr>
          <p:cNvPr id="27" name="Text 25"/>
          <p:cNvSpPr/>
          <p:nvPr/>
        </p:nvSpPr>
        <p:spPr>
          <a:xfrm>
            <a:off x="548640" y="384048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Does Angela like it?</a:t>
            </a:r>
            <a:endParaRPr lang="en-US" sz="1200" dirty="0"/>
          </a:p>
        </p:txBody>
      </p:sp>
      <p:sp>
        <p:nvSpPr>
          <p:cNvPr id="28" name="Text 26"/>
          <p:cNvSpPr/>
          <p:nvPr/>
        </p:nvSpPr>
        <p:spPr>
          <a:xfrm>
            <a:off x="4206240" y="384048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she does.</a:t>
            </a:r>
            <a:endParaRPr lang="en-US" sz="1200" dirty="0"/>
          </a:p>
        </p:txBody>
      </p:sp>
      <p:sp>
        <p:nvSpPr>
          <p:cNvPr id="29" name="Text 27"/>
          <p:cNvSpPr/>
          <p:nvPr/>
        </p:nvSpPr>
        <p:spPr>
          <a:xfrm>
            <a:off x="6400800" y="384048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she doesn't.</a:t>
            </a:r>
            <a:endParaRPr lang="en-US" sz="1200" dirty="0"/>
          </a:p>
        </p:txBody>
      </p:sp>
      <p:sp>
        <p:nvSpPr>
          <p:cNvPr id="30" name="Shape 28"/>
          <p:cNvSpPr/>
          <p:nvPr/>
        </p:nvSpPr>
        <p:spPr>
          <a:xfrm>
            <a:off x="365760" y="4160520"/>
            <a:ext cx="8412480" cy="365760"/>
          </a:xfrm>
          <a:prstGeom prst="rect">
            <a:avLst/>
          </a:prstGeom>
          <a:solidFill>
            <a:srgbClr val="F8FAFC"/>
          </a:solidFill>
          <a:ln w="12700">
            <a:solidFill>
              <a:srgbClr val="F8FAFC"/>
            </a:solidFill>
            <a:prstDash val="solid"/>
          </a:ln>
        </p:spPr>
      </p:sp>
      <p:sp>
        <p:nvSpPr>
          <p:cNvPr id="31" name="Text 29"/>
          <p:cNvSpPr/>
          <p:nvPr/>
        </p:nvSpPr>
        <p:spPr>
          <a:xfrm>
            <a:off x="548640" y="420624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Did they arrive?</a:t>
            </a:r>
            <a:endParaRPr lang="en-US" sz="1200" dirty="0"/>
          </a:p>
        </p:txBody>
      </p:sp>
      <p:sp>
        <p:nvSpPr>
          <p:cNvPr id="32" name="Text 30"/>
          <p:cNvSpPr/>
          <p:nvPr/>
        </p:nvSpPr>
        <p:spPr>
          <a:xfrm>
            <a:off x="4206240" y="420624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they did.</a:t>
            </a:r>
            <a:endParaRPr lang="en-US" sz="1200" dirty="0"/>
          </a:p>
        </p:txBody>
      </p:sp>
      <p:sp>
        <p:nvSpPr>
          <p:cNvPr id="33" name="Text 31"/>
          <p:cNvSpPr/>
          <p:nvPr/>
        </p:nvSpPr>
        <p:spPr>
          <a:xfrm>
            <a:off x="6400800" y="420624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they didn't.</a:t>
            </a:r>
            <a:endParaRPr lang="en-US" sz="1200" dirty="0"/>
          </a:p>
        </p:txBody>
      </p:sp>
      <p:sp>
        <p:nvSpPr>
          <p:cNvPr id="34" name="Shape 32"/>
          <p:cNvSpPr/>
          <p:nvPr/>
        </p:nvSpPr>
        <p:spPr>
          <a:xfrm>
            <a:off x="365760" y="4526280"/>
            <a:ext cx="8412480" cy="365760"/>
          </a:xfrm>
          <a:prstGeom prst="rect">
            <a:avLst/>
          </a:prstGeom>
          <a:solidFill>
            <a:srgbClr val="0D9488"/>
          </a:solidFill>
          <a:ln w="12700">
            <a:solidFill>
              <a:srgbClr val="0D9488"/>
            </a:solidFill>
            <a:prstDash val="solid"/>
          </a:ln>
        </p:spPr>
      </p:sp>
      <p:sp>
        <p:nvSpPr>
          <p:cNvPr id="35" name="Text 33"/>
          <p:cNvSpPr/>
          <p:nvPr/>
        </p:nvSpPr>
        <p:spPr>
          <a:xfrm>
            <a:off x="548640" y="4572000"/>
            <a:ext cx="8046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HAVE  (have / has)</a:t>
            </a:r>
            <a:endParaRPr lang="en-US" sz="1300" dirty="0"/>
          </a:p>
        </p:txBody>
      </p:sp>
      <p:sp>
        <p:nvSpPr>
          <p:cNvPr id="36" name="Shape 34"/>
          <p:cNvSpPr/>
          <p:nvPr/>
        </p:nvSpPr>
        <p:spPr>
          <a:xfrm>
            <a:off x="365760" y="4892040"/>
            <a:ext cx="8412480" cy="365760"/>
          </a:xfrm>
          <a:prstGeom prst="rect">
            <a:avLst/>
          </a:prstGeom>
          <a:solidFill>
            <a:srgbClr val="F8FAFC"/>
          </a:solidFill>
          <a:ln w="12700">
            <a:solidFill>
              <a:srgbClr val="F8FAFC"/>
            </a:solidFill>
            <a:prstDash val="solid"/>
          </a:ln>
        </p:spPr>
      </p:sp>
      <p:sp>
        <p:nvSpPr>
          <p:cNvPr id="37" name="Text 35"/>
          <p:cNvSpPr/>
          <p:nvPr/>
        </p:nvSpPr>
        <p:spPr>
          <a:xfrm>
            <a:off x="548640" y="493776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Have you been to the Grand Canyon?</a:t>
            </a:r>
            <a:endParaRPr lang="en-US" sz="1200" dirty="0"/>
          </a:p>
        </p:txBody>
      </p:sp>
      <p:sp>
        <p:nvSpPr>
          <p:cNvPr id="38" name="Text 36"/>
          <p:cNvSpPr/>
          <p:nvPr/>
        </p:nvSpPr>
        <p:spPr>
          <a:xfrm>
            <a:off x="4206240" y="493776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I have.</a:t>
            </a:r>
            <a:endParaRPr lang="en-US" sz="1200" dirty="0"/>
          </a:p>
        </p:txBody>
      </p:sp>
      <p:sp>
        <p:nvSpPr>
          <p:cNvPr id="39" name="Text 37"/>
          <p:cNvSpPr/>
          <p:nvPr/>
        </p:nvSpPr>
        <p:spPr>
          <a:xfrm>
            <a:off x="6400800" y="493776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I haven't.</a:t>
            </a:r>
            <a:endParaRPr lang="en-US" sz="1200" dirty="0"/>
          </a:p>
        </p:txBody>
      </p:sp>
      <p:sp>
        <p:nvSpPr>
          <p:cNvPr id="40" name="Shape 38"/>
          <p:cNvSpPr/>
          <p:nvPr/>
        </p:nvSpPr>
        <p:spPr>
          <a:xfrm>
            <a:off x="365760" y="5257800"/>
            <a:ext cx="8412480" cy="365760"/>
          </a:xfrm>
          <a:prstGeom prst="rect">
            <a:avLst/>
          </a:prstGeom>
          <a:solidFill>
            <a:srgbClr val="F8FAFC"/>
          </a:solidFill>
          <a:ln w="12700">
            <a:solidFill>
              <a:srgbClr val="F8FAFC"/>
            </a:solidFill>
            <a:prstDash val="solid"/>
          </a:ln>
        </p:spPr>
      </p:sp>
      <p:sp>
        <p:nvSpPr>
          <p:cNvPr id="41" name="Text 39"/>
          <p:cNvSpPr/>
          <p:nvPr/>
        </p:nvSpPr>
        <p:spPr>
          <a:xfrm>
            <a:off x="548640" y="5303520"/>
            <a:ext cx="3474720" cy="2743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Has she graduated?</a:t>
            </a:r>
            <a:endParaRPr lang="en-US" sz="1200" dirty="0"/>
          </a:p>
        </p:txBody>
      </p:sp>
      <p:sp>
        <p:nvSpPr>
          <p:cNvPr id="42" name="Text 40"/>
          <p:cNvSpPr/>
          <p:nvPr/>
        </p:nvSpPr>
        <p:spPr>
          <a:xfrm>
            <a:off x="4206240" y="5303520"/>
            <a:ext cx="20116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she has.</a:t>
            </a:r>
            <a:endParaRPr lang="en-US" sz="1200" dirty="0"/>
          </a:p>
        </p:txBody>
      </p:sp>
      <p:sp>
        <p:nvSpPr>
          <p:cNvPr id="43" name="Text 41"/>
          <p:cNvSpPr/>
          <p:nvPr/>
        </p:nvSpPr>
        <p:spPr>
          <a:xfrm>
            <a:off x="6400800" y="5303520"/>
            <a:ext cx="228600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No, she hasn't.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C2626"/>
          </a:solidFill>
          <a:ln w="12700">
            <a:solidFill>
              <a:srgbClr val="DC2626"/>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Yes/No Questions — Practice!</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Answer each question with a short answer. Use the correct auxiliary verb!</a:t>
            </a:r>
            <a:endParaRPr lang="en-US" sz="1300" dirty="0"/>
          </a:p>
        </p:txBody>
      </p:sp>
      <p:sp>
        <p:nvSpPr>
          <p:cNvPr id="5" name="Shape 3"/>
          <p:cNvSpPr/>
          <p:nvPr/>
        </p:nvSpPr>
        <p:spPr>
          <a:xfrm>
            <a:off x="365760" y="1234440"/>
            <a:ext cx="8412480" cy="530352"/>
          </a:xfrm>
          <a:prstGeom prst="rect">
            <a:avLst/>
          </a:prstGeom>
          <a:solidFill>
            <a:srgbClr val="FEE2E2"/>
          </a:solidFill>
          <a:ln w="12700">
            <a:solidFill>
              <a:srgbClr val="FEE2E2"/>
            </a:solidFill>
            <a:prstDash val="solid"/>
          </a:ln>
        </p:spPr>
      </p:sp>
      <p:sp>
        <p:nvSpPr>
          <p:cNvPr id="6" name="Text 4"/>
          <p:cNvSpPr/>
          <p:nvPr/>
        </p:nvSpPr>
        <p:spPr>
          <a:xfrm>
            <a:off x="548640" y="1289304"/>
            <a:ext cx="50292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1.  Are you from Japan?</a:t>
            </a:r>
            <a:endParaRPr lang="en-US" sz="1300" dirty="0"/>
          </a:p>
        </p:txBody>
      </p:sp>
      <p:sp>
        <p:nvSpPr>
          <p:cNvPr id="7" name="Text 5"/>
          <p:cNvSpPr/>
          <p:nvPr/>
        </p:nvSpPr>
        <p:spPr>
          <a:xfrm>
            <a:off x="5669280" y="1289304"/>
            <a:ext cx="1463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(yes / be)</a:t>
            </a:r>
            <a:endParaRPr lang="en-US" sz="1100" dirty="0"/>
          </a:p>
        </p:txBody>
      </p:sp>
      <p:sp>
        <p:nvSpPr>
          <p:cNvPr id="8" name="Text 6"/>
          <p:cNvSpPr/>
          <p:nvPr/>
        </p:nvSpPr>
        <p:spPr>
          <a:xfrm>
            <a:off x="7223760" y="1289304"/>
            <a:ext cx="1463040" cy="36576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I am.</a:t>
            </a:r>
            <a:endParaRPr lang="en-US" sz="1200" dirty="0"/>
          </a:p>
        </p:txBody>
      </p:sp>
      <p:sp>
        <p:nvSpPr>
          <p:cNvPr id="9" name="Shape 7"/>
          <p:cNvSpPr/>
          <p:nvPr/>
        </p:nvSpPr>
        <p:spPr>
          <a:xfrm>
            <a:off x="365760" y="1847088"/>
            <a:ext cx="8412480" cy="530352"/>
          </a:xfrm>
          <a:prstGeom prst="rect">
            <a:avLst/>
          </a:prstGeom>
          <a:solidFill>
            <a:srgbClr val="F8FAFC"/>
          </a:solidFill>
          <a:ln w="12700">
            <a:solidFill>
              <a:srgbClr val="F8FAFC"/>
            </a:solidFill>
            <a:prstDash val="solid"/>
          </a:ln>
        </p:spPr>
      </p:sp>
      <p:sp>
        <p:nvSpPr>
          <p:cNvPr id="10" name="Text 8"/>
          <p:cNvSpPr/>
          <p:nvPr/>
        </p:nvSpPr>
        <p:spPr>
          <a:xfrm>
            <a:off x="548640" y="1901952"/>
            <a:ext cx="50292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2.  Do you study English every day?</a:t>
            </a:r>
            <a:endParaRPr lang="en-US" sz="1300" dirty="0"/>
          </a:p>
        </p:txBody>
      </p:sp>
      <p:sp>
        <p:nvSpPr>
          <p:cNvPr id="11" name="Text 9"/>
          <p:cNvSpPr/>
          <p:nvPr/>
        </p:nvSpPr>
        <p:spPr>
          <a:xfrm>
            <a:off x="5669280" y="1901952"/>
            <a:ext cx="1463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(no / do)</a:t>
            </a:r>
            <a:endParaRPr lang="en-US" sz="1100" dirty="0"/>
          </a:p>
        </p:txBody>
      </p:sp>
      <p:sp>
        <p:nvSpPr>
          <p:cNvPr id="12" name="Text 10"/>
          <p:cNvSpPr/>
          <p:nvPr/>
        </p:nvSpPr>
        <p:spPr>
          <a:xfrm>
            <a:off x="7223760" y="1901952"/>
            <a:ext cx="1463040" cy="36576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No, I don't.</a:t>
            </a:r>
            <a:endParaRPr lang="en-US" sz="1200" dirty="0"/>
          </a:p>
        </p:txBody>
      </p:sp>
      <p:sp>
        <p:nvSpPr>
          <p:cNvPr id="13" name="Shape 11"/>
          <p:cNvSpPr/>
          <p:nvPr/>
        </p:nvSpPr>
        <p:spPr>
          <a:xfrm>
            <a:off x="365760" y="2459736"/>
            <a:ext cx="8412480" cy="530352"/>
          </a:xfrm>
          <a:prstGeom prst="rect">
            <a:avLst/>
          </a:prstGeom>
          <a:solidFill>
            <a:srgbClr val="FEE2E2"/>
          </a:solidFill>
          <a:ln w="12700">
            <a:solidFill>
              <a:srgbClr val="FEE2E2"/>
            </a:solidFill>
            <a:prstDash val="solid"/>
          </a:ln>
        </p:spPr>
      </p:sp>
      <p:sp>
        <p:nvSpPr>
          <p:cNvPr id="14" name="Text 12"/>
          <p:cNvSpPr/>
          <p:nvPr/>
        </p:nvSpPr>
        <p:spPr>
          <a:xfrm>
            <a:off x="548640" y="2514600"/>
            <a:ext cx="50292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3.  Has she ever visited London?</a:t>
            </a:r>
            <a:endParaRPr lang="en-US" sz="1300" dirty="0"/>
          </a:p>
        </p:txBody>
      </p:sp>
      <p:sp>
        <p:nvSpPr>
          <p:cNvPr id="15" name="Text 13"/>
          <p:cNvSpPr/>
          <p:nvPr/>
        </p:nvSpPr>
        <p:spPr>
          <a:xfrm>
            <a:off x="5669280" y="2514600"/>
            <a:ext cx="1463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(yes / have)</a:t>
            </a:r>
            <a:endParaRPr lang="en-US" sz="1100" dirty="0"/>
          </a:p>
        </p:txBody>
      </p:sp>
      <p:sp>
        <p:nvSpPr>
          <p:cNvPr id="16" name="Text 14"/>
          <p:cNvSpPr/>
          <p:nvPr/>
        </p:nvSpPr>
        <p:spPr>
          <a:xfrm>
            <a:off x="7223760" y="2514600"/>
            <a:ext cx="1463040" cy="36576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she has.</a:t>
            </a:r>
            <a:endParaRPr lang="en-US" sz="1200" dirty="0"/>
          </a:p>
        </p:txBody>
      </p:sp>
      <p:sp>
        <p:nvSpPr>
          <p:cNvPr id="17" name="Shape 15"/>
          <p:cNvSpPr/>
          <p:nvPr/>
        </p:nvSpPr>
        <p:spPr>
          <a:xfrm>
            <a:off x="365760" y="3072384"/>
            <a:ext cx="8412480" cy="530352"/>
          </a:xfrm>
          <a:prstGeom prst="rect">
            <a:avLst/>
          </a:prstGeom>
          <a:solidFill>
            <a:srgbClr val="F8FAFC"/>
          </a:solidFill>
          <a:ln w="12700">
            <a:solidFill>
              <a:srgbClr val="F8FAFC"/>
            </a:solidFill>
            <a:prstDash val="solid"/>
          </a:ln>
        </p:spPr>
      </p:sp>
      <p:sp>
        <p:nvSpPr>
          <p:cNvPr id="18" name="Text 16"/>
          <p:cNvSpPr/>
          <p:nvPr/>
        </p:nvSpPr>
        <p:spPr>
          <a:xfrm>
            <a:off x="548640" y="3127248"/>
            <a:ext cx="50292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4.  Did they watch the game?</a:t>
            </a:r>
            <a:endParaRPr lang="en-US" sz="1300" dirty="0"/>
          </a:p>
        </p:txBody>
      </p:sp>
      <p:sp>
        <p:nvSpPr>
          <p:cNvPr id="19" name="Text 17"/>
          <p:cNvSpPr/>
          <p:nvPr/>
        </p:nvSpPr>
        <p:spPr>
          <a:xfrm>
            <a:off x="5669280" y="3127248"/>
            <a:ext cx="1463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(no / do)</a:t>
            </a:r>
            <a:endParaRPr lang="en-US" sz="1100" dirty="0"/>
          </a:p>
        </p:txBody>
      </p:sp>
      <p:sp>
        <p:nvSpPr>
          <p:cNvPr id="20" name="Text 18"/>
          <p:cNvSpPr/>
          <p:nvPr/>
        </p:nvSpPr>
        <p:spPr>
          <a:xfrm>
            <a:off x="7223760" y="3127248"/>
            <a:ext cx="1463040" cy="36576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No, they didn't.</a:t>
            </a:r>
            <a:endParaRPr lang="en-US" sz="1200" dirty="0"/>
          </a:p>
        </p:txBody>
      </p:sp>
      <p:sp>
        <p:nvSpPr>
          <p:cNvPr id="21" name="Shape 19"/>
          <p:cNvSpPr/>
          <p:nvPr/>
        </p:nvSpPr>
        <p:spPr>
          <a:xfrm>
            <a:off x="365760" y="3685032"/>
            <a:ext cx="8412480" cy="530352"/>
          </a:xfrm>
          <a:prstGeom prst="rect">
            <a:avLst/>
          </a:prstGeom>
          <a:solidFill>
            <a:srgbClr val="FEE2E2"/>
          </a:solidFill>
          <a:ln w="12700">
            <a:solidFill>
              <a:srgbClr val="FEE2E2"/>
            </a:solidFill>
            <a:prstDash val="solid"/>
          </a:ln>
        </p:spPr>
      </p:sp>
      <p:sp>
        <p:nvSpPr>
          <p:cNvPr id="22" name="Text 20"/>
          <p:cNvSpPr/>
          <p:nvPr/>
        </p:nvSpPr>
        <p:spPr>
          <a:xfrm>
            <a:off x="548640" y="3739896"/>
            <a:ext cx="50292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5.  Is it cold in Canada?</a:t>
            </a:r>
            <a:endParaRPr lang="en-US" sz="1300" dirty="0"/>
          </a:p>
        </p:txBody>
      </p:sp>
      <p:sp>
        <p:nvSpPr>
          <p:cNvPr id="23" name="Text 21"/>
          <p:cNvSpPr/>
          <p:nvPr/>
        </p:nvSpPr>
        <p:spPr>
          <a:xfrm>
            <a:off x="5669280" y="3739896"/>
            <a:ext cx="1463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(yes / be)</a:t>
            </a:r>
            <a:endParaRPr lang="en-US" sz="1100" dirty="0"/>
          </a:p>
        </p:txBody>
      </p:sp>
      <p:sp>
        <p:nvSpPr>
          <p:cNvPr id="24" name="Text 22"/>
          <p:cNvSpPr/>
          <p:nvPr/>
        </p:nvSpPr>
        <p:spPr>
          <a:xfrm>
            <a:off x="7223760" y="3739896"/>
            <a:ext cx="1463040" cy="36576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Yes, it is.</a:t>
            </a:r>
            <a:endParaRPr lang="en-US" sz="1200" dirty="0"/>
          </a:p>
        </p:txBody>
      </p:sp>
      <p:sp>
        <p:nvSpPr>
          <p:cNvPr id="25" name="Shape 23"/>
          <p:cNvSpPr/>
          <p:nvPr/>
        </p:nvSpPr>
        <p:spPr>
          <a:xfrm>
            <a:off x="365760" y="4297680"/>
            <a:ext cx="8412480" cy="530352"/>
          </a:xfrm>
          <a:prstGeom prst="rect">
            <a:avLst/>
          </a:prstGeom>
          <a:solidFill>
            <a:srgbClr val="F8FAFC"/>
          </a:solidFill>
          <a:ln w="12700">
            <a:solidFill>
              <a:srgbClr val="F8FAFC"/>
            </a:solidFill>
            <a:prstDash val="solid"/>
          </a:ln>
        </p:spPr>
      </p:sp>
      <p:sp>
        <p:nvSpPr>
          <p:cNvPr id="26" name="Text 24"/>
          <p:cNvSpPr/>
          <p:nvPr/>
        </p:nvSpPr>
        <p:spPr>
          <a:xfrm>
            <a:off x="548640" y="4352544"/>
            <a:ext cx="50292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6.  Does he play tennis?</a:t>
            </a:r>
            <a:endParaRPr lang="en-US" sz="1300" dirty="0"/>
          </a:p>
        </p:txBody>
      </p:sp>
      <p:sp>
        <p:nvSpPr>
          <p:cNvPr id="27" name="Text 25"/>
          <p:cNvSpPr/>
          <p:nvPr/>
        </p:nvSpPr>
        <p:spPr>
          <a:xfrm>
            <a:off x="5669280" y="4352544"/>
            <a:ext cx="1463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(no / do)</a:t>
            </a:r>
            <a:endParaRPr lang="en-US" sz="1100" dirty="0"/>
          </a:p>
        </p:txBody>
      </p:sp>
      <p:sp>
        <p:nvSpPr>
          <p:cNvPr id="28" name="Text 26"/>
          <p:cNvSpPr/>
          <p:nvPr/>
        </p:nvSpPr>
        <p:spPr>
          <a:xfrm>
            <a:off x="7223760" y="4352544"/>
            <a:ext cx="1463040" cy="36576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No, he doesn't.</a:t>
            </a:r>
            <a:endParaRPr lang="en-US" sz="1200" dirty="0"/>
          </a:p>
        </p:txBody>
      </p:sp>
      <p:sp>
        <p:nvSpPr>
          <p:cNvPr id="29" name="Text 27"/>
          <p:cNvSpPr/>
          <p:nvPr/>
        </p:nvSpPr>
        <p:spPr>
          <a:xfrm>
            <a:off x="365760" y="4919472"/>
            <a:ext cx="8412480" cy="320040"/>
          </a:xfrm>
          <a:prstGeom prst="rect">
            <a:avLst/>
          </a:prstGeom>
          <a:noFill/>
          <a:ln/>
        </p:spPr>
        <p:txBody>
          <a:bodyPr wrap="square"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 Now write 3 original Yes/No questions to ask your partner!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sp>
      <p:sp>
        <p:nvSpPr>
          <p:cNvPr id="3" name="Text 1"/>
          <p:cNvSpPr/>
          <p:nvPr/>
        </p:nvSpPr>
        <p:spPr>
          <a:xfrm>
            <a:off x="731520" y="1280160"/>
            <a:ext cx="7772400" cy="457200"/>
          </a:xfrm>
          <a:prstGeom prst="rect">
            <a:avLst/>
          </a:prstGeom>
          <a:noFill/>
          <a:ln/>
        </p:spPr>
        <p:txBody>
          <a:bodyPr wrap="square" rtlCol="0" anchor="ctr"/>
          <a:lstStyle/>
          <a:p>
            <a:pPr marL="0" indent="0">
              <a:buNone/>
            </a:pPr>
            <a:r>
              <a:rPr lang="en-US" sz="1400" b="1" kern="0" spc="400" dirty="0">
                <a:solidFill>
                  <a:srgbClr val="BFDBFE"/>
                </a:solidFill>
                <a:latin typeface="Calibri" pitchFamily="34" charset="0"/>
                <a:ea typeface="Calibri" pitchFamily="34" charset="-122"/>
                <a:cs typeface="Calibri" pitchFamily="34" charset="-120"/>
              </a:rPr>
              <a:t>GRAMMAR · SECTION 7</a:t>
            </a:r>
            <a:endParaRPr lang="en-US" sz="1400" dirty="0"/>
          </a:p>
        </p:txBody>
      </p:sp>
      <p:sp>
        <p:nvSpPr>
          <p:cNvPr id="4" name="Text 2"/>
          <p:cNvSpPr/>
          <p:nvPr/>
        </p:nvSpPr>
        <p:spPr>
          <a:xfrm>
            <a:off x="731520" y="1737360"/>
            <a:ext cx="777240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Wh- Questions</a:t>
            </a:r>
            <a:endParaRPr lang="en-US"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 Questions — The Question Words</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These questions ask for INFORMATION — you cannot answer with just 'yes' or 'no'!</a:t>
            </a:r>
            <a:endParaRPr lang="en-US" sz="1300" dirty="0"/>
          </a:p>
        </p:txBody>
      </p:sp>
      <p:sp>
        <p:nvSpPr>
          <p:cNvPr id="5" name="Shape 3"/>
          <p:cNvSpPr/>
          <p:nvPr/>
        </p:nvSpPr>
        <p:spPr>
          <a:xfrm>
            <a:off x="274320" y="1234440"/>
            <a:ext cx="2743200" cy="1143000"/>
          </a:xfrm>
          <a:prstGeom prst="rect">
            <a:avLst/>
          </a:prstGeom>
          <a:solidFill>
            <a:srgbClr val="DBEAFE"/>
          </a:solidFill>
          <a:ln w="12700">
            <a:solidFill>
              <a:srgbClr val="1B3A6B"/>
            </a:solidFill>
            <a:prstDash val="solid"/>
          </a:ln>
        </p:spPr>
      </p:sp>
      <p:sp>
        <p:nvSpPr>
          <p:cNvPr id="6" name="Shape 4"/>
          <p:cNvSpPr/>
          <p:nvPr/>
        </p:nvSpPr>
        <p:spPr>
          <a:xfrm>
            <a:off x="274320" y="1234440"/>
            <a:ext cx="2743200" cy="411480"/>
          </a:xfrm>
          <a:prstGeom prst="rect">
            <a:avLst/>
          </a:prstGeom>
          <a:solidFill>
            <a:srgbClr val="1B3A6B"/>
          </a:solidFill>
          <a:ln w="12700">
            <a:solidFill>
              <a:srgbClr val="1B3A6B"/>
            </a:solidFill>
            <a:prstDash val="solid"/>
          </a:ln>
        </p:spPr>
      </p:sp>
      <p:sp>
        <p:nvSpPr>
          <p:cNvPr id="7" name="Text 5"/>
          <p:cNvSpPr/>
          <p:nvPr/>
        </p:nvSpPr>
        <p:spPr>
          <a:xfrm>
            <a:off x="365760" y="1289304"/>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Which</a:t>
            </a:r>
            <a:endParaRPr lang="en-US" sz="1400" dirty="0"/>
          </a:p>
        </p:txBody>
      </p:sp>
      <p:sp>
        <p:nvSpPr>
          <p:cNvPr id="8" name="Text 6"/>
          <p:cNvSpPr/>
          <p:nvPr/>
        </p:nvSpPr>
        <p:spPr>
          <a:xfrm>
            <a:off x="365760" y="1709928"/>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a CHOICE</a:t>
            </a:r>
            <a:endParaRPr lang="en-US" sz="1000" dirty="0"/>
          </a:p>
        </p:txBody>
      </p:sp>
      <p:sp>
        <p:nvSpPr>
          <p:cNvPr id="9" name="Text 7"/>
          <p:cNvSpPr/>
          <p:nvPr/>
        </p:nvSpPr>
        <p:spPr>
          <a:xfrm>
            <a:off x="365760" y="2011680"/>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Which country has the biggest population?</a:t>
            </a:r>
            <a:endParaRPr lang="en-US" sz="1000" dirty="0"/>
          </a:p>
        </p:txBody>
      </p:sp>
      <p:sp>
        <p:nvSpPr>
          <p:cNvPr id="10" name="Shape 8"/>
          <p:cNvSpPr/>
          <p:nvPr/>
        </p:nvSpPr>
        <p:spPr>
          <a:xfrm>
            <a:off x="3200400" y="1234440"/>
            <a:ext cx="2743200" cy="1143000"/>
          </a:xfrm>
          <a:prstGeom prst="rect">
            <a:avLst/>
          </a:prstGeom>
          <a:solidFill>
            <a:srgbClr val="DBEAFE"/>
          </a:solidFill>
          <a:ln w="12700">
            <a:solidFill>
              <a:srgbClr val="1B3A6B"/>
            </a:solidFill>
            <a:prstDash val="solid"/>
          </a:ln>
        </p:spPr>
      </p:sp>
      <p:sp>
        <p:nvSpPr>
          <p:cNvPr id="11" name="Shape 9"/>
          <p:cNvSpPr/>
          <p:nvPr/>
        </p:nvSpPr>
        <p:spPr>
          <a:xfrm>
            <a:off x="3200400" y="1234440"/>
            <a:ext cx="2743200" cy="411480"/>
          </a:xfrm>
          <a:prstGeom prst="rect">
            <a:avLst/>
          </a:prstGeom>
          <a:solidFill>
            <a:srgbClr val="1B3A6B"/>
          </a:solidFill>
          <a:ln w="12700">
            <a:solidFill>
              <a:srgbClr val="1B3A6B"/>
            </a:solidFill>
            <a:prstDash val="solid"/>
          </a:ln>
        </p:spPr>
      </p:sp>
      <p:sp>
        <p:nvSpPr>
          <p:cNvPr id="12" name="Text 10"/>
          <p:cNvSpPr/>
          <p:nvPr/>
        </p:nvSpPr>
        <p:spPr>
          <a:xfrm>
            <a:off x="3291840" y="1289304"/>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long</a:t>
            </a:r>
            <a:endParaRPr lang="en-US" sz="1400" dirty="0"/>
          </a:p>
        </p:txBody>
      </p:sp>
      <p:sp>
        <p:nvSpPr>
          <p:cNvPr id="13" name="Text 11"/>
          <p:cNvSpPr/>
          <p:nvPr/>
        </p:nvSpPr>
        <p:spPr>
          <a:xfrm>
            <a:off x="3291840" y="1709928"/>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LENGTH of time/distance</a:t>
            </a:r>
            <a:endParaRPr lang="en-US" sz="1000" dirty="0"/>
          </a:p>
        </p:txBody>
      </p:sp>
      <p:sp>
        <p:nvSpPr>
          <p:cNvPr id="14" name="Text 12"/>
          <p:cNvSpPr/>
          <p:nvPr/>
        </p:nvSpPr>
        <p:spPr>
          <a:xfrm>
            <a:off x="3291840" y="2011680"/>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How long is the movie?</a:t>
            </a:r>
            <a:endParaRPr lang="en-US" sz="1000" dirty="0"/>
          </a:p>
        </p:txBody>
      </p:sp>
      <p:sp>
        <p:nvSpPr>
          <p:cNvPr id="15" name="Shape 13"/>
          <p:cNvSpPr/>
          <p:nvPr/>
        </p:nvSpPr>
        <p:spPr>
          <a:xfrm>
            <a:off x="6126480" y="1234440"/>
            <a:ext cx="2743200" cy="1143000"/>
          </a:xfrm>
          <a:prstGeom prst="rect">
            <a:avLst/>
          </a:prstGeom>
          <a:solidFill>
            <a:srgbClr val="DBEAFE"/>
          </a:solidFill>
          <a:ln w="12700">
            <a:solidFill>
              <a:srgbClr val="1B3A6B"/>
            </a:solidFill>
            <a:prstDash val="solid"/>
          </a:ln>
        </p:spPr>
      </p:sp>
      <p:sp>
        <p:nvSpPr>
          <p:cNvPr id="16" name="Shape 14"/>
          <p:cNvSpPr/>
          <p:nvPr/>
        </p:nvSpPr>
        <p:spPr>
          <a:xfrm>
            <a:off x="6126480" y="1234440"/>
            <a:ext cx="2743200" cy="411480"/>
          </a:xfrm>
          <a:prstGeom prst="rect">
            <a:avLst/>
          </a:prstGeom>
          <a:solidFill>
            <a:srgbClr val="1B3A6B"/>
          </a:solidFill>
          <a:ln w="12700">
            <a:solidFill>
              <a:srgbClr val="1B3A6B"/>
            </a:solidFill>
            <a:prstDash val="solid"/>
          </a:ln>
        </p:spPr>
      </p:sp>
      <p:sp>
        <p:nvSpPr>
          <p:cNvPr id="17" name="Text 15"/>
          <p:cNvSpPr/>
          <p:nvPr/>
        </p:nvSpPr>
        <p:spPr>
          <a:xfrm>
            <a:off x="6217920" y="1289304"/>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often</a:t>
            </a:r>
            <a:endParaRPr lang="en-US" sz="1400" dirty="0"/>
          </a:p>
        </p:txBody>
      </p:sp>
      <p:sp>
        <p:nvSpPr>
          <p:cNvPr id="18" name="Text 16"/>
          <p:cNvSpPr/>
          <p:nvPr/>
        </p:nvSpPr>
        <p:spPr>
          <a:xfrm>
            <a:off x="6217920" y="1709928"/>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FREQUENCY</a:t>
            </a:r>
            <a:endParaRPr lang="en-US" sz="1000" dirty="0"/>
          </a:p>
        </p:txBody>
      </p:sp>
      <p:sp>
        <p:nvSpPr>
          <p:cNvPr id="19" name="Text 17"/>
          <p:cNvSpPr/>
          <p:nvPr/>
        </p:nvSpPr>
        <p:spPr>
          <a:xfrm>
            <a:off x="6217920" y="2011680"/>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How often is the World Cup held?</a:t>
            </a:r>
            <a:endParaRPr lang="en-US" sz="1000" dirty="0"/>
          </a:p>
        </p:txBody>
      </p:sp>
      <p:sp>
        <p:nvSpPr>
          <p:cNvPr id="20" name="Shape 18"/>
          <p:cNvSpPr/>
          <p:nvPr/>
        </p:nvSpPr>
        <p:spPr>
          <a:xfrm>
            <a:off x="274320" y="2496312"/>
            <a:ext cx="2743200" cy="1143000"/>
          </a:xfrm>
          <a:prstGeom prst="rect">
            <a:avLst/>
          </a:prstGeom>
          <a:solidFill>
            <a:srgbClr val="DBEAFE"/>
          </a:solidFill>
          <a:ln w="12700">
            <a:solidFill>
              <a:srgbClr val="1B3A6B"/>
            </a:solidFill>
            <a:prstDash val="solid"/>
          </a:ln>
        </p:spPr>
      </p:sp>
      <p:sp>
        <p:nvSpPr>
          <p:cNvPr id="21" name="Shape 19"/>
          <p:cNvSpPr/>
          <p:nvPr/>
        </p:nvSpPr>
        <p:spPr>
          <a:xfrm>
            <a:off x="274320" y="2496312"/>
            <a:ext cx="2743200" cy="411480"/>
          </a:xfrm>
          <a:prstGeom prst="rect">
            <a:avLst/>
          </a:prstGeom>
          <a:solidFill>
            <a:srgbClr val="1B3A6B"/>
          </a:solidFill>
          <a:ln w="12700">
            <a:solidFill>
              <a:srgbClr val="1B3A6B"/>
            </a:solidFill>
            <a:prstDash val="solid"/>
          </a:ln>
        </p:spPr>
      </p:sp>
      <p:sp>
        <p:nvSpPr>
          <p:cNvPr id="22" name="Text 20"/>
          <p:cNvSpPr/>
          <p:nvPr/>
        </p:nvSpPr>
        <p:spPr>
          <a:xfrm>
            <a:off x="365760" y="2551176"/>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far</a:t>
            </a:r>
            <a:endParaRPr lang="en-US" sz="1400" dirty="0"/>
          </a:p>
        </p:txBody>
      </p:sp>
      <p:sp>
        <p:nvSpPr>
          <p:cNvPr id="23" name="Text 21"/>
          <p:cNvSpPr/>
          <p:nvPr/>
        </p:nvSpPr>
        <p:spPr>
          <a:xfrm>
            <a:off x="365760" y="2971800"/>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DISTANCE</a:t>
            </a:r>
            <a:endParaRPr lang="en-US" sz="1000" dirty="0"/>
          </a:p>
        </p:txBody>
      </p:sp>
      <p:sp>
        <p:nvSpPr>
          <p:cNvPr id="24" name="Text 22"/>
          <p:cNvSpPr/>
          <p:nvPr/>
        </p:nvSpPr>
        <p:spPr>
          <a:xfrm>
            <a:off x="365760" y="3273552"/>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How far is it from Sydney to Perth?</a:t>
            </a:r>
            <a:endParaRPr lang="en-US" sz="1000" dirty="0"/>
          </a:p>
        </p:txBody>
      </p:sp>
      <p:sp>
        <p:nvSpPr>
          <p:cNvPr id="25" name="Shape 23"/>
          <p:cNvSpPr/>
          <p:nvPr/>
        </p:nvSpPr>
        <p:spPr>
          <a:xfrm>
            <a:off x="3200400" y="2496312"/>
            <a:ext cx="2743200" cy="1143000"/>
          </a:xfrm>
          <a:prstGeom prst="rect">
            <a:avLst/>
          </a:prstGeom>
          <a:solidFill>
            <a:srgbClr val="DBEAFE"/>
          </a:solidFill>
          <a:ln w="12700">
            <a:solidFill>
              <a:srgbClr val="1B3A6B"/>
            </a:solidFill>
            <a:prstDash val="solid"/>
          </a:ln>
        </p:spPr>
      </p:sp>
      <p:sp>
        <p:nvSpPr>
          <p:cNvPr id="26" name="Shape 24"/>
          <p:cNvSpPr/>
          <p:nvPr/>
        </p:nvSpPr>
        <p:spPr>
          <a:xfrm>
            <a:off x="3200400" y="2496312"/>
            <a:ext cx="2743200" cy="411480"/>
          </a:xfrm>
          <a:prstGeom prst="rect">
            <a:avLst/>
          </a:prstGeom>
          <a:solidFill>
            <a:srgbClr val="1B3A6B"/>
          </a:solidFill>
          <a:ln w="12700">
            <a:solidFill>
              <a:srgbClr val="1B3A6B"/>
            </a:solidFill>
            <a:prstDash val="solid"/>
          </a:ln>
        </p:spPr>
      </p:sp>
      <p:sp>
        <p:nvSpPr>
          <p:cNvPr id="27" name="Text 25"/>
          <p:cNvSpPr/>
          <p:nvPr/>
        </p:nvSpPr>
        <p:spPr>
          <a:xfrm>
            <a:off x="3291840" y="2551176"/>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much</a:t>
            </a:r>
            <a:endParaRPr lang="en-US" sz="1400" dirty="0"/>
          </a:p>
        </p:txBody>
      </p:sp>
      <p:sp>
        <p:nvSpPr>
          <p:cNvPr id="28" name="Text 26"/>
          <p:cNvSpPr/>
          <p:nvPr/>
        </p:nvSpPr>
        <p:spPr>
          <a:xfrm>
            <a:off x="3291840" y="2971800"/>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AMOUNT (uncountable)</a:t>
            </a:r>
            <a:endParaRPr lang="en-US" sz="1000" dirty="0"/>
          </a:p>
        </p:txBody>
      </p:sp>
      <p:sp>
        <p:nvSpPr>
          <p:cNvPr id="29" name="Text 27"/>
          <p:cNvSpPr/>
          <p:nvPr/>
        </p:nvSpPr>
        <p:spPr>
          <a:xfrm>
            <a:off x="3291840" y="3273552"/>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How much is a large coffee?</a:t>
            </a:r>
            <a:endParaRPr lang="en-US" sz="1000" dirty="0"/>
          </a:p>
        </p:txBody>
      </p:sp>
      <p:sp>
        <p:nvSpPr>
          <p:cNvPr id="30" name="Shape 28"/>
          <p:cNvSpPr/>
          <p:nvPr/>
        </p:nvSpPr>
        <p:spPr>
          <a:xfrm>
            <a:off x="6126480" y="2496312"/>
            <a:ext cx="2743200" cy="1143000"/>
          </a:xfrm>
          <a:prstGeom prst="rect">
            <a:avLst/>
          </a:prstGeom>
          <a:solidFill>
            <a:srgbClr val="DBEAFE"/>
          </a:solidFill>
          <a:ln w="12700">
            <a:solidFill>
              <a:srgbClr val="1B3A6B"/>
            </a:solidFill>
            <a:prstDash val="solid"/>
          </a:ln>
        </p:spPr>
      </p:sp>
      <p:sp>
        <p:nvSpPr>
          <p:cNvPr id="31" name="Shape 29"/>
          <p:cNvSpPr/>
          <p:nvPr/>
        </p:nvSpPr>
        <p:spPr>
          <a:xfrm>
            <a:off x="6126480" y="2496312"/>
            <a:ext cx="2743200" cy="411480"/>
          </a:xfrm>
          <a:prstGeom prst="rect">
            <a:avLst/>
          </a:prstGeom>
          <a:solidFill>
            <a:srgbClr val="1B3A6B"/>
          </a:solidFill>
          <a:ln w="12700">
            <a:solidFill>
              <a:srgbClr val="1B3A6B"/>
            </a:solidFill>
            <a:prstDash val="solid"/>
          </a:ln>
        </p:spPr>
      </p:sp>
      <p:sp>
        <p:nvSpPr>
          <p:cNvPr id="32" name="Text 30"/>
          <p:cNvSpPr/>
          <p:nvPr/>
        </p:nvSpPr>
        <p:spPr>
          <a:xfrm>
            <a:off x="6217920" y="2551176"/>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many</a:t>
            </a:r>
            <a:endParaRPr lang="en-US" sz="1400" dirty="0"/>
          </a:p>
        </p:txBody>
      </p:sp>
      <p:sp>
        <p:nvSpPr>
          <p:cNvPr id="33" name="Text 31"/>
          <p:cNvSpPr/>
          <p:nvPr/>
        </p:nvSpPr>
        <p:spPr>
          <a:xfrm>
            <a:off x="6217920" y="2971800"/>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QUANTITY (countable)</a:t>
            </a:r>
            <a:endParaRPr lang="en-US" sz="1000" dirty="0"/>
          </a:p>
        </p:txBody>
      </p:sp>
      <p:sp>
        <p:nvSpPr>
          <p:cNvPr id="34" name="Text 32"/>
          <p:cNvSpPr/>
          <p:nvPr/>
        </p:nvSpPr>
        <p:spPr>
          <a:xfrm>
            <a:off x="6217920" y="3273552"/>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How many states are in the U.S.?</a:t>
            </a:r>
            <a:endParaRPr lang="en-US" sz="1000" dirty="0"/>
          </a:p>
        </p:txBody>
      </p:sp>
      <p:sp>
        <p:nvSpPr>
          <p:cNvPr id="35" name="Shape 33"/>
          <p:cNvSpPr/>
          <p:nvPr/>
        </p:nvSpPr>
        <p:spPr>
          <a:xfrm>
            <a:off x="274320" y="3758184"/>
            <a:ext cx="2743200" cy="1143000"/>
          </a:xfrm>
          <a:prstGeom prst="rect">
            <a:avLst/>
          </a:prstGeom>
          <a:solidFill>
            <a:srgbClr val="DBEAFE"/>
          </a:solidFill>
          <a:ln w="12700">
            <a:solidFill>
              <a:srgbClr val="1B3A6B"/>
            </a:solidFill>
            <a:prstDash val="solid"/>
          </a:ln>
        </p:spPr>
      </p:sp>
      <p:sp>
        <p:nvSpPr>
          <p:cNvPr id="36" name="Shape 34"/>
          <p:cNvSpPr/>
          <p:nvPr/>
        </p:nvSpPr>
        <p:spPr>
          <a:xfrm>
            <a:off x="274320" y="3758184"/>
            <a:ext cx="2743200" cy="411480"/>
          </a:xfrm>
          <a:prstGeom prst="rect">
            <a:avLst/>
          </a:prstGeom>
          <a:solidFill>
            <a:srgbClr val="1B3A6B"/>
          </a:solidFill>
          <a:ln w="12700">
            <a:solidFill>
              <a:srgbClr val="1B3A6B"/>
            </a:solidFill>
            <a:prstDash val="solid"/>
          </a:ln>
        </p:spPr>
      </p:sp>
      <p:sp>
        <p:nvSpPr>
          <p:cNvPr id="37" name="Text 35"/>
          <p:cNvSpPr/>
          <p:nvPr/>
        </p:nvSpPr>
        <p:spPr>
          <a:xfrm>
            <a:off x="365760" y="3813048"/>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When / What time</a:t>
            </a:r>
            <a:endParaRPr lang="en-US" sz="1400" dirty="0"/>
          </a:p>
        </p:txBody>
      </p:sp>
      <p:sp>
        <p:nvSpPr>
          <p:cNvPr id="38" name="Text 36"/>
          <p:cNvSpPr/>
          <p:nvPr/>
        </p:nvSpPr>
        <p:spPr>
          <a:xfrm>
            <a:off x="365760" y="4233672"/>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TIME</a:t>
            </a:r>
            <a:endParaRPr lang="en-US" sz="1000" dirty="0"/>
          </a:p>
        </p:txBody>
      </p:sp>
      <p:sp>
        <p:nvSpPr>
          <p:cNvPr id="39" name="Text 37"/>
          <p:cNvSpPr/>
          <p:nvPr/>
        </p:nvSpPr>
        <p:spPr>
          <a:xfrm>
            <a:off x="365760" y="4535424"/>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When is the festival? / What time does the train leave?</a:t>
            </a:r>
            <a:endParaRPr lang="en-US" sz="1000" dirty="0"/>
          </a:p>
        </p:txBody>
      </p:sp>
      <p:sp>
        <p:nvSpPr>
          <p:cNvPr id="40" name="Shape 38"/>
          <p:cNvSpPr/>
          <p:nvPr/>
        </p:nvSpPr>
        <p:spPr>
          <a:xfrm>
            <a:off x="3200400" y="3758184"/>
            <a:ext cx="2743200" cy="1143000"/>
          </a:xfrm>
          <a:prstGeom prst="rect">
            <a:avLst/>
          </a:prstGeom>
          <a:solidFill>
            <a:srgbClr val="DBEAFE"/>
          </a:solidFill>
          <a:ln w="12700">
            <a:solidFill>
              <a:srgbClr val="1B3A6B"/>
            </a:solidFill>
            <a:prstDash val="solid"/>
          </a:ln>
        </p:spPr>
      </p:sp>
      <p:sp>
        <p:nvSpPr>
          <p:cNvPr id="41" name="Shape 39"/>
          <p:cNvSpPr/>
          <p:nvPr/>
        </p:nvSpPr>
        <p:spPr>
          <a:xfrm>
            <a:off x="3200400" y="3758184"/>
            <a:ext cx="2743200" cy="411480"/>
          </a:xfrm>
          <a:prstGeom prst="rect">
            <a:avLst/>
          </a:prstGeom>
          <a:solidFill>
            <a:srgbClr val="1B3A6B"/>
          </a:solidFill>
          <a:ln w="12700">
            <a:solidFill>
              <a:srgbClr val="1B3A6B"/>
            </a:solidFill>
            <a:prstDash val="solid"/>
          </a:ln>
        </p:spPr>
      </p:sp>
      <p:sp>
        <p:nvSpPr>
          <p:cNvPr id="42" name="Text 40"/>
          <p:cNvSpPr/>
          <p:nvPr/>
        </p:nvSpPr>
        <p:spPr>
          <a:xfrm>
            <a:off x="3291840" y="3813048"/>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Whose</a:t>
            </a:r>
            <a:endParaRPr lang="en-US" sz="1400" dirty="0"/>
          </a:p>
        </p:txBody>
      </p:sp>
      <p:sp>
        <p:nvSpPr>
          <p:cNvPr id="43" name="Text 41"/>
          <p:cNvSpPr/>
          <p:nvPr/>
        </p:nvSpPr>
        <p:spPr>
          <a:xfrm>
            <a:off x="3291840" y="4233672"/>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POSSESSION</a:t>
            </a:r>
            <a:endParaRPr lang="en-US" sz="1000" dirty="0"/>
          </a:p>
        </p:txBody>
      </p:sp>
      <p:sp>
        <p:nvSpPr>
          <p:cNvPr id="44" name="Text 42"/>
          <p:cNvSpPr/>
          <p:nvPr/>
        </p:nvSpPr>
        <p:spPr>
          <a:xfrm>
            <a:off x="3291840" y="4535424"/>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Whose car is that?</a:t>
            </a:r>
            <a:endParaRPr lang="en-US" sz="1000" dirty="0"/>
          </a:p>
        </p:txBody>
      </p:sp>
      <p:sp>
        <p:nvSpPr>
          <p:cNvPr id="45" name="Shape 43"/>
          <p:cNvSpPr/>
          <p:nvPr/>
        </p:nvSpPr>
        <p:spPr>
          <a:xfrm>
            <a:off x="6126480" y="3758184"/>
            <a:ext cx="2743200" cy="1143000"/>
          </a:xfrm>
          <a:prstGeom prst="rect">
            <a:avLst/>
          </a:prstGeom>
          <a:solidFill>
            <a:srgbClr val="DBEAFE"/>
          </a:solidFill>
          <a:ln w="12700">
            <a:solidFill>
              <a:srgbClr val="1B3A6B"/>
            </a:solidFill>
            <a:prstDash val="solid"/>
          </a:ln>
        </p:spPr>
      </p:sp>
      <p:sp>
        <p:nvSpPr>
          <p:cNvPr id="46" name="Shape 44"/>
          <p:cNvSpPr/>
          <p:nvPr/>
        </p:nvSpPr>
        <p:spPr>
          <a:xfrm>
            <a:off x="6126480" y="3758184"/>
            <a:ext cx="2743200" cy="411480"/>
          </a:xfrm>
          <a:prstGeom prst="rect">
            <a:avLst/>
          </a:prstGeom>
          <a:solidFill>
            <a:srgbClr val="1B3A6B"/>
          </a:solidFill>
          <a:ln w="12700">
            <a:solidFill>
              <a:srgbClr val="1B3A6B"/>
            </a:solidFill>
            <a:prstDash val="solid"/>
          </a:ln>
        </p:spPr>
      </p:sp>
      <p:sp>
        <p:nvSpPr>
          <p:cNvPr id="47" name="Text 45"/>
          <p:cNvSpPr/>
          <p:nvPr/>
        </p:nvSpPr>
        <p:spPr>
          <a:xfrm>
            <a:off x="6217920" y="3813048"/>
            <a:ext cx="2560320" cy="3017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Who</a:t>
            </a:r>
            <a:endParaRPr lang="en-US" sz="1400" dirty="0"/>
          </a:p>
        </p:txBody>
      </p:sp>
      <p:sp>
        <p:nvSpPr>
          <p:cNvPr id="48" name="Text 46"/>
          <p:cNvSpPr/>
          <p:nvPr/>
        </p:nvSpPr>
        <p:spPr>
          <a:xfrm>
            <a:off x="6217920" y="4233672"/>
            <a:ext cx="25603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asking about a PERSON</a:t>
            </a:r>
            <a:endParaRPr lang="en-US" sz="1000" dirty="0"/>
          </a:p>
        </p:txBody>
      </p:sp>
      <p:sp>
        <p:nvSpPr>
          <p:cNvPr id="49" name="Text 47"/>
          <p:cNvSpPr/>
          <p:nvPr/>
        </p:nvSpPr>
        <p:spPr>
          <a:xfrm>
            <a:off x="6217920" y="4535424"/>
            <a:ext cx="25603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Who's that over there?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 Questions — Choose the Right Word!</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Choose the correct question word from the box below:</a:t>
            </a:r>
            <a:endParaRPr lang="en-US" sz="1400" dirty="0"/>
          </a:p>
        </p:txBody>
      </p:sp>
      <p:sp>
        <p:nvSpPr>
          <p:cNvPr id="5" name="Shape 3"/>
          <p:cNvSpPr/>
          <p:nvPr/>
        </p:nvSpPr>
        <p:spPr>
          <a:xfrm>
            <a:off x="365760" y="1188720"/>
            <a:ext cx="8412480" cy="457200"/>
          </a:xfrm>
          <a:prstGeom prst="rect">
            <a:avLst/>
          </a:prstGeom>
          <a:solidFill>
            <a:srgbClr val="DBEAFE"/>
          </a:solidFill>
          <a:ln w="12700">
            <a:solidFill>
              <a:srgbClr val="1B3A6B"/>
            </a:solidFill>
            <a:prstDash val="solid"/>
          </a:ln>
        </p:spPr>
      </p:sp>
      <p:sp>
        <p:nvSpPr>
          <p:cNvPr id="6" name="Text 4"/>
          <p:cNvSpPr/>
          <p:nvPr/>
        </p:nvSpPr>
        <p:spPr>
          <a:xfrm>
            <a:off x="548640" y="1252728"/>
            <a:ext cx="8046720" cy="329184"/>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Word Box:  Who  /  Which  /  How long  /  How often  /  How far  /  How many  /  Whose  /  What time</a:t>
            </a:r>
            <a:endParaRPr lang="en-US" sz="1200" dirty="0"/>
          </a:p>
        </p:txBody>
      </p:sp>
      <p:sp>
        <p:nvSpPr>
          <p:cNvPr id="7" name="Shape 5"/>
          <p:cNvSpPr/>
          <p:nvPr/>
        </p:nvSpPr>
        <p:spPr>
          <a:xfrm>
            <a:off x="365760" y="1783080"/>
            <a:ext cx="8412480" cy="347472"/>
          </a:xfrm>
          <a:prstGeom prst="rect">
            <a:avLst/>
          </a:prstGeom>
          <a:solidFill>
            <a:srgbClr val="DBEAFE"/>
          </a:solidFill>
          <a:ln w="12700">
            <a:solidFill>
              <a:srgbClr val="DBEAFE"/>
            </a:solidFill>
            <a:prstDash val="solid"/>
          </a:ln>
        </p:spPr>
      </p:sp>
      <p:sp>
        <p:nvSpPr>
          <p:cNvPr id="8" name="Text 6"/>
          <p:cNvSpPr/>
          <p:nvPr/>
        </p:nvSpPr>
        <p:spPr>
          <a:xfrm>
            <a:off x="548640" y="1828800"/>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1.  ________ is your favourite sport — football or basketball?</a:t>
            </a:r>
            <a:endParaRPr lang="en-US" sz="1200" dirty="0"/>
          </a:p>
        </p:txBody>
      </p:sp>
      <p:sp>
        <p:nvSpPr>
          <p:cNvPr id="9" name="Text 7"/>
          <p:cNvSpPr/>
          <p:nvPr/>
        </p:nvSpPr>
        <p:spPr>
          <a:xfrm>
            <a:off x="7498080" y="1828800"/>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Which</a:t>
            </a:r>
            <a:endParaRPr lang="en-US" sz="1100" dirty="0"/>
          </a:p>
        </p:txBody>
      </p:sp>
      <p:sp>
        <p:nvSpPr>
          <p:cNvPr id="10" name="Shape 8"/>
          <p:cNvSpPr/>
          <p:nvPr/>
        </p:nvSpPr>
        <p:spPr>
          <a:xfrm>
            <a:off x="365760" y="2185416"/>
            <a:ext cx="8412480" cy="347472"/>
          </a:xfrm>
          <a:prstGeom prst="rect">
            <a:avLst/>
          </a:prstGeom>
          <a:solidFill>
            <a:srgbClr val="F8FAFC"/>
          </a:solidFill>
          <a:ln w="12700">
            <a:solidFill>
              <a:srgbClr val="F8FAFC"/>
            </a:solidFill>
            <a:prstDash val="solid"/>
          </a:ln>
        </p:spPr>
      </p:sp>
      <p:sp>
        <p:nvSpPr>
          <p:cNvPr id="11" name="Text 9"/>
          <p:cNvSpPr/>
          <p:nvPr/>
        </p:nvSpPr>
        <p:spPr>
          <a:xfrm>
            <a:off x="548640" y="2231136"/>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2.  ________ does the lesson start? At 9 a.m.?</a:t>
            </a:r>
            <a:endParaRPr lang="en-US" sz="1200" dirty="0"/>
          </a:p>
        </p:txBody>
      </p:sp>
      <p:sp>
        <p:nvSpPr>
          <p:cNvPr id="12" name="Text 10"/>
          <p:cNvSpPr/>
          <p:nvPr/>
        </p:nvSpPr>
        <p:spPr>
          <a:xfrm>
            <a:off x="7498080" y="2231136"/>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What time</a:t>
            </a:r>
            <a:endParaRPr lang="en-US" sz="1100" dirty="0"/>
          </a:p>
        </p:txBody>
      </p:sp>
      <p:sp>
        <p:nvSpPr>
          <p:cNvPr id="13" name="Shape 11"/>
          <p:cNvSpPr/>
          <p:nvPr/>
        </p:nvSpPr>
        <p:spPr>
          <a:xfrm>
            <a:off x="365760" y="2587752"/>
            <a:ext cx="8412480" cy="347472"/>
          </a:xfrm>
          <a:prstGeom prst="rect">
            <a:avLst/>
          </a:prstGeom>
          <a:solidFill>
            <a:srgbClr val="DBEAFE"/>
          </a:solidFill>
          <a:ln w="12700">
            <a:solidFill>
              <a:srgbClr val="DBEAFE"/>
            </a:solidFill>
            <a:prstDash val="solid"/>
          </a:ln>
        </p:spPr>
      </p:sp>
      <p:sp>
        <p:nvSpPr>
          <p:cNvPr id="14" name="Text 12"/>
          <p:cNvSpPr/>
          <p:nvPr/>
        </p:nvSpPr>
        <p:spPr>
          <a:xfrm>
            <a:off x="548640" y="2633472"/>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3.  ________ is it from your home to school?</a:t>
            </a:r>
            <a:endParaRPr lang="en-US" sz="1200" dirty="0"/>
          </a:p>
        </p:txBody>
      </p:sp>
      <p:sp>
        <p:nvSpPr>
          <p:cNvPr id="15" name="Text 13"/>
          <p:cNvSpPr/>
          <p:nvPr/>
        </p:nvSpPr>
        <p:spPr>
          <a:xfrm>
            <a:off x="7498080" y="2633472"/>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How far</a:t>
            </a:r>
            <a:endParaRPr lang="en-US" sz="1100" dirty="0"/>
          </a:p>
        </p:txBody>
      </p:sp>
      <p:sp>
        <p:nvSpPr>
          <p:cNvPr id="16" name="Shape 14"/>
          <p:cNvSpPr/>
          <p:nvPr/>
        </p:nvSpPr>
        <p:spPr>
          <a:xfrm>
            <a:off x="365760" y="2990088"/>
            <a:ext cx="8412480" cy="347472"/>
          </a:xfrm>
          <a:prstGeom prst="rect">
            <a:avLst/>
          </a:prstGeom>
          <a:solidFill>
            <a:srgbClr val="F8FAFC"/>
          </a:solidFill>
          <a:ln w="12700">
            <a:solidFill>
              <a:srgbClr val="F8FAFC"/>
            </a:solidFill>
            <a:prstDash val="solid"/>
          </a:ln>
        </p:spPr>
      </p:sp>
      <p:sp>
        <p:nvSpPr>
          <p:cNvPr id="17" name="Text 15"/>
          <p:cNvSpPr/>
          <p:nvPr/>
        </p:nvSpPr>
        <p:spPr>
          <a:xfrm>
            <a:off x="548640" y="3035808"/>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4.  ________ is that? Oh, that's my teacher!</a:t>
            </a:r>
            <a:endParaRPr lang="en-US" sz="1200" dirty="0"/>
          </a:p>
        </p:txBody>
      </p:sp>
      <p:sp>
        <p:nvSpPr>
          <p:cNvPr id="18" name="Text 16"/>
          <p:cNvSpPr/>
          <p:nvPr/>
        </p:nvSpPr>
        <p:spPr>
          <a:xfrm>
            <a:off x="7498080" y="3035808"/>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Who</a:t>
            </a:r>
            <a:endParaRPr lang="en-US" sz="1100" dirty="0"/>
          </a:p>
        </p:txBody>
      </p:sp>
      <p:sp>
        <p:nvSpPr>
          <p:cNvPr id="19" name="Shape 17"/>
          <p:cNvSpPr/>
          <p:nvPr/>
        </p:nvSpPr>
        <p:spPr>
          <a:xfrm>
            <a:off x="365760" y="3392424"/>
            <a:ext cx="8412480" cy="347472"/>
          </a:xfrm>
          <a:prstGeom prst="rect">
            <a:avLst/>
          </a:prstGeom>
          <a:solidFill>
            <a:srgbClr val="DBEAFE"/>
          </a:solidFill>
          <a:ln w="12700">
            <a:solidFill>
              <a:srgbClr val="DBEAFE"/>
            </a:solidFill>
            <a:prstDash val="solid"/>
          </a:ln>
        </p:spPr>
      </p:sp>
      <p:sp>
        <p:nvSpPr>
          <p:cNvPr id="20" name="Text 18"/>
          <p:cNvSpPr/>
          <p:nvPr/>
        </p:nvSpPr>
        <p:spPr>
          <a:xfrm>
            <a:off x="548640" y="3438144"/>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5.  ________ students are in your class?</a:t>
            </a:r>
            <a:endParaRPr lang="en-US" sz="1200" dirty="0"/>
          </a:p>
        </p:txBody>
      </p:sp>
      <p:sp>
        <p:nvSpPr>
          <p:cNvPr id="21" name="Text 19"/>
          <p:cNvSpPr/>
          <p:nvPr/>
        </p:nvSpPr>
        <p:spPr>
          <a:xfrm>
            <a:off x="7498080" y="3438144"/>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How many</a:t>
            </a:r>
            <a:endParaRPr lang="en-US" sz="1100" dirty="0"/>
          </a:p>
        </p:txBody>
      </p:sp>
      <p:sp>
        <p:nvSpPr>
          <p:cNvPr id="22" name="Shape 20"/>
          <p:cNvSpPr/>
          <p:nvPr/>
        </p:nvSpPr>
        <p:spPr>
          <a:xfrm>
            <a:off x="365760" y="3794760"/>
            <a:ext cx="8412480" cy="347472"/>
          </a:xfrm>
          <a:prstGeom prst="rect">
            <a:avLst/>
          </a:prstGeom>
          <a:solidFill>
            <a:srgbClr val="F8FAFC"/>
          </a:solidFill>
          <a:ln w="12700">
            <a:solidFill>
              <a:srgbClr val="F8FAFC"/>
            </a:solidFill>
            <a:prstDash val="solid"/>
          </a:ln>
        </p:spPr>
      </p:sp>
      <p:sp>
        <p:nvSpPr>
          <p:cNvPr id="23" name="Text 21"/>
          <p:cNvSpPr/>
          <p:nvPr/>
        </p:nvSpPr>
        <p:spPr>
          <a:xfrm>
            <a:off x="548640" y="3840480"/>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6.  ________ do you go to the gym? Twice a week.</a:t>
            </a:r>
            <a:endParaRPr lang="en-US" sz="1200" dirty="0"/>
          </a:p>
        </p:txBody>
      </p:sp>
      <p:sp>
        <p:nvSpPr>
          <p:cNvPr id="24" name="Text 22"/>
          <p:cNvSpPr/>
          <p:nvPr/>
        </p:nvSpPr>
        <p:spPr>
          <a:xfrm>
            <a:off x="7498080" y="3840480"/>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How often</a:t>
            </a:r>
            <a:endParaRPr lang="en-US" sz="1100" dirty="0"/>
          </a:p>
        </p:txBody>
      </p:sp>
      <p:sp>
        <p:nvSpPr>
          <p:cNvPr id="25" name="Shape 23"/>
          <p:cNvSpPr/>
          <p:nvPr/>
        </p:nvSpPr>
        <p:spPr>
          <a:xfrm>
            <a:off x="365760" y="4197096"/>
            <a:ext cx="8412480" cy="347472"/>
          </a:xfrm>
          <a:prstGeom prst="rect">
            <a:avLst/>
          </a:prstGeom>
          <a:solidFill>
            <a:srgbClr val="DBEAFE"/>
          </a:solidFill>
          <a:ln w="12700">
            <a:solidFill>
              <a:srgbClr val="DBEAFE"/>
            </a:solidFill>
            <a:prstDash val="solid"/>
          </a:ln>
        </p:spPr>
      </p:sp>
      <p:sp>
        <p:nvSpPr>
          <p:cNvPr id="26" name="Text 24"/>
          <p:cNvSpPr/>
          <p:nvPr/>
        </p:nvSpPr>
        <p:spPr>
          <a:xfrm>
            <a:off x="548640" y="4242816"/>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7.  ________ bag is that on the chair?</a:t>
            </a:r>
            <a:endParaRPr lang="en-US" sz="1200" dirty="0"/>
          </a:p>
        </p:txBody>
      </p:sp>
      <p:sp>
        <p:nvSpPr>
          <p:cNvPr id="27" name="Text 25"/>
          <p:cNvSpPr/>
          <p:nvPr/>
        </p:nvSpPr>
        <p:spPr>
          <a:xfrm>
            <a:off x="7498080" y="4242816"/>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Whose</a:t>
            </a:r>
            <a:endParaRPr lang="en-US" sz="1100" dirty="0"/>
          </a:p>
        </p:txBody>
      </p:sp>
      <p:sp>
        <p:nvSpPr>
          <p:cNvPr id="28" name="Shape 26"/>
          <p:cNvSpPr/>
          <p:nvPr/>
        </p:nvSpPr>
        <p:spPr>
          <a:xfrm>
            <a:off x="365760" y="4599432"/>
            <a:ext cx="8412480" cy="347472"/>
          </a:xfrm>
          <a:prstGeom prst="rect">
            <a:avLst/>
          </a:prstGeom>
          <a:solidFill>
            <a:srgbClr val="F8FAFC"/>
          </a:solidFill>
          <a:ln w="12700">
            <a:solidFill>
              <a:srgbClr val="F8FAFC"/>
            </a:solidFill>
            <a:prstDash val="solid"/>
          </a:ln>
        </p:spPr>
      </p:sp>
      <p:sp>
        <p:nvSpPr>
          <p:cNvPr id="29" name="Text 27"/>
          <p:cNvSpPr/>
          <p:nvPr/>
        </p:nvSpPr>
        <p:spPr>
          <a:xfrm>
            <a:off x="548640" y="4645152"/>
            <a:ext cx="6858000" cy="2560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8.  ________ is the flight? About 12 hours.</a:t>
            </a:r>
            <a:endParaRPr lang="en-US" sz="1200" dirty="0"/>
          </a:p>
        </p:txBody>
      </p:sp>
      <p:sp>
        <p:nvSpPr>
          <p:cNvPr id="30" name="Text 28"/>
          <p:cNvSpPr/>
          <p:nvPr/>
        </p:nvSpPr>
        <p:spPr>
          <a:xfrm>
            <a:off x="7498080" y="4645152"/>
            <a:ext cx="1188720" cy="25603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 How long</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A580C"/>
          </a:solidFill>
          <a:ln w="12700">
            <a:solidFill>
              <a:srgbClr val="EA580C"/>
            </a:solidFill>
            <a:prstDash val="solid"/>
          </a:ln>
        </p:spPr>
      </p:sp>
      <p:sp>
        <p:nvSpPr>
          <p:cNvPr id="3" name="Text 1"/>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Air Travel Overseas — Vocabulary</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These words are all connected to international air travel:</a:t>
            </a:r>
            <a:endParaRPr lang="en-US" sz="1300" dirty="0"/>
          </a:p>
        </p:txBody>
      </p:sp>
      <p:sp>
        <p:nvSpPr>
          <p:cNvPr id="5" name="Shape 3"/>
          <p:cNvSpPr/>
          <p:nvPr/>
        </p:nvSpPr>
        <p:spPr>
          <a:xfrm>
            <a:off x="274320" y="1234440"/>
            <a:ext cx="4206240" cy="822960"/>
          </a:xfrm>
          <a:prstGeom prst="rect">
            <a:avLst/>
          </a:prstGeom>
          <a:solidFill>
            <a:srgbClr val="FFEDD5"/>
          </a:solidFill>
          <a:ln w="12700">
            <a:solidFill>
              <a:srgbClr val="EA580C"/>
            </a:solidFill>
            <a:prstDash val="solid"/>
          </a:ln>
        </p:spPr>
      </p:sp>
      <p:sp>
        <p:nvSpPr>
          <p:cNvPr id="6" name="Shape 4"/>
          <p:cNvSpPr/>
          <p:nvPr/>
        </p:nvSpPr>
        <p:spPr>
          <a:xfrm>
            <a:off x="274320" y="1234440"/>
            <a:ext cx="91440" cy="822960"/>
          </a:xfrm>
          <a:prstGeom prst="rect">
            <a:avLst/>
          </a:prstGeom>
          <a:solidFill>
            <a:srgbClr val="EA580C"/>
          </a:solidFill>
          <a:ln w="12700">
            <a:solidFill>
              <a:srgbClr val="EA580C"/>
            </a:solidFill>
            <a:prstDash val="solid"/>
          </a:ln>
        </p:spPr>
      </p:sp>
      <p:sp>
        <p:nvSpPr>
          <p:cNvPr id="7" name="Text 5"/>
          <p:cNvSpPr/>
          <p:nvPr/>
        </p:nvSpPr>
        <p:spPr>
          <a:xfrm>
            <a:off x="457200" y="130759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passport control</a:t>
            </a:r>
            <a:endParaRPr lang="en-US" sz="1300" dirty="0"/>
          </a:p>
        </p:txBody>
      </p:sp>
      <p:sp>
        <p:nvSpPr>
          <p:cNvPr id="8" name="Text 6"/>
          <p:cNvSpPr/>
          <p:nvPr/>
        </p:nvSpPr>
        <p:spPr>
          <a:xfrm>
            <a:off x="457200" y="164592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where your passport is checked at the airport</a:t>
            </a:r>
            <a:endParaRPr lang="en-US" sz="1100" dirty="0"/>
          </a:p>
        </p:txBody>
      </p:sp>
      <p:sp>
        <p:nvSpPr>
          <p:cNvPr id="9" name="Shape 7"/>
          <p:cNvSpPr/>
          <p:nvPr/>
        </p:nvSpPr>
        <p:spPr>
          <a:xfrm>
            <a:off x="4709160" y="1234440"/>
            <a:ext cx="4206240" cy="822960"/>
          </a:xfrm>
          <a:prstGeom prst="rect">
            <a:avLst/>
          </a:prstGeom>
          <a:solidFill>
            <a:srgbClr val="FFEDD5"/>
          </a:solidFill>
          <a:ln w="12700">
            <a:solidFill>
              <a:srgbClr val="EA580C"/>
            </a:solidFill>
            <a:prstDash val="solid"/>
          </a:ln>
        </p:spPr>
      </p:sp>
      <p:sp>
        <p:nvSpPr>
          <p:cNvPr id="10" name="Shape 8"/>
          <p:cNvSpPr/>
          <p:nvPr/>
        </p:nvSpPr>
        <p:spPr>
          <a:xfrm>
            <a:off x="4709160" y="1234440"/>
            <a:ext cx="91440" cy="822960"/>
          </a:xfrm>
          <a:prstGeom prst="rect">
            <a:avLst/>
          </a:prstGeom>
          <a:solidFill>
            <a:srgbClr val="EA580C"/>
          </a:solidFill>
          <a:ln w="12700">
            <a:solidFill>
              <a:srgbClr val="EA580C"/>
            </a:solidFill>
            <a:prstDash val="solid"/>
          </a:ln>
        </p:spPr>
      </p:sp>
      <p:sp>
        <p:nvSpPr>
          <p:cNvPr id="11" name="Text 9"/>
          <p:cNvSpPr/>
          <p:nvPr/>
        </p:nvSpPr>
        <p:spPr>
          <a:xfrm>
            <a:off x="4892040" y="130759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visa</a:t>
            </a:r>
            <a:endParaRPr lang="en-US" sz="1300" dirty="0"/>
          </a:p>
        </p:txBody>
      </p:sp>
      <p:sp>
        <p:nvSpPr>
          <p:cNvPr id="12" name="Text 10"/>
          <p:cNvSpPr/>
          <p:nvPr/>
        </p:nvSpPr>
        <p:spPr>
          <a:xfrm>
            <a:off x="4892040" y="164592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official document needed to enter a country</a:t>
            </a:r>
            <a:endParaRPr lang="en-US" sz="1100" dirty="0"/>
          </a:p>
        </p:txBody>
      </p:sp>
      <p:sp>
        <p:nvSpPr>
          <p:cNvPr id="13" name="Shape 11"/>
          <p:cNvSpPr/>
          <p:nvPr/>
        </p:nvSpPr>
        <p:spPr>
          <a:xfrm>
            <a:off x="274320" y="2194560"/>
            <a:ext cx="4206240" cy="822960"/>
          </a:xfrm>
          <a:prstGeom prst="rect">
            <a:avLst/>
          </a:prstGeom>
          <a:solidFill>
            <a:srgbClr val="FFEDD5"/>
          </a:solidFill>
          <a:ln w="12700">
            <a:solidFill>
              <a:srgbClr val="EA580C"/>
            </a:solidFill>
            <a:prstDash val="solid"/>
          </a:ln>
        </p:spPr>
      </p:sp>
      <p:sp>
        <p:nvSpPr>
          <p:cNvPr id="14" name="Shape 12"/>
          <p:cNvSpPr/>
          <p:nvPr/>
        </p:nvSpPr>
        <p:spPr>
          <a:xfrm>
            <a:off x="274320" y="2194560"/>
            <a:ext cx="91440" cy="822960"/>
          </a:xfrm>
          <a:prstGeom prst="rect">
            <a:avLst/>
          </a:prstGeom>
          <a:solidFill>
            <a:srgbClr val="EA580C"/>
          </a:solidFill>
          <a:ln w="12700">
            <a:solidFill>
              <a:srgbClr val="EA580C"/>
            </a:solidFill>
            <a:prstDash val="solid"/>
          </a:ln>
        </p:spPr>
      </p:sp>
      <p:sp>
        <p:nvSpPr>
          <p:cNvPr id="15" name="Text 13"/>
          <p:cNvSpPr/>
          <p:nvPr/>
        </p:nvSpPr>
        <p:spPr>
          <a:xfrm>
            <a:off x="457200" y="226771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check-in desk</a:t>
            </a:r>
            <a:endParaRPr lang="en-US" sz="1300" dirty="0"/>
          </a:p>
        </p:txBody>
      </p:sp>
      <p:sp>
        <p:nvSpPr>
          <p:cNvPr id="16" name="Text 14"/>
          <p:cNvSpPr/>
          <p:nvPr/>
        </p:nvSpPr>
        <p:spPr>
          <a:xfrm>
            <a:off x="457200" y="260604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where you first show your ticket at the airport</a:t>
            </a:r>
            <a:endParaRPr lang="en-US" sz="1100" dirty="0"/>
          </a:p>
        </p:txBody>
      </p:sp>
      <p:sp>
        <p:nvSpPr>
          <p:cNvPr id="17" name="Shape 15"/>
          <p:cNvSpPr/>
          <p:nvPr/>
        </p:nvSpPr>
        <p:spPr>
          <a:xfrm>
            <a:off x="4709160" y="2194560"/>
            <a:ext cx="4206240" cy="822960"/>
          </a:xfrm>
          <a:prstGeom prst="rect">
            <a:avLst/>
          </a:prstGeom>
          <a:solidFill>
            <a:srgbClr val="FFEDD5"/>
          </a:solidFill>
          <a:ln w="12700">
            <a:solidFill>
              <a:srgbClr val="EA580C"/>
            </a:solidFill>
            <a:prstDash val="solid"/>
          </a:ln>
        </p:spPr>
      </p:sp>
      <p:sp>
        <p:nvSpPr>
          <p:cNvPr id="18" name="Shape 16"/>
          <p:cNvSpPr/>
          <p:nvPr/>
        </p:nvSpPr>
        <p:spPr>
          <a:xfrm>
            <a:off x="4709160" y="2194560"/>
            <a:ext cx="91440" cy="822960"/>
          </a:xfrm>
          <a:prstGeom prst="rect">
            <a:avLst/>
          </a:prstGeom>
          <a:solidFill>
            <a:srgbClr val="EA580C"/>
          </a:solidFill>
          <a:ln w="12700">
            <a:solidFill>
              <a:srgbClr val="EA580C"/>
            </a:solidFill>
            <a:prstDash val="solid"/>
          </a:ln>
        </p:spPr>
      </p:sp>
      <p:sp>
        <p:nvSpPr>
          <p:cNvPr id="19" name="Text 17"/>
          <p:cNvSpPr/>
          <p:nvPr/>
        </p:nvSpPr>
        <p:spPr>
          <a:xfrm>
            <a:off x="4892040" y="226771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customs</a:t>
            </a:r>
            <a:endParaRPr lang="en-US" sz="1300" dirty="0"/>
          </a:p>
        </p:txBody>
      </p:sp>
      <p:sp>
        <p:nvSpPr>
          <p:cNvPr id="20" name="Text 18"/>
          <p:cNvSpPr/>
          <p:nvPr/>
        </p:nvSpPr>
        <p:spPr>
          <a:xfrm>
            <a:off x="4892040" y="260604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where your luggage is checked for illegal items</a:t>
            </a:r>
            <a:endParaRPr lang="en-US" sz="1100" dirty="0"/>
          </a:p>
        </p:txBody>
      </p:sp>
      <p:sp>
        <p:nvSpPr>
          <p:cNvPr id="21" name="Shape 19"/>
          <p:cNvSpPr/>
          <p:nvPr/>
        </p:nvSpPr>
        <p:spPr>
          <a:xfrm>
            <a:off x="274320" y="3154680"/>
            <a:ext cx="4206240" cy="822960"/>
          </a:xfrm>
          <a:prstGeom prst="rect">
            <a:avLst/>
          </a:prstGeom>
          <a:solidFill>
            <a:srgbClr val="FFEDD5"/>
          </a:solidFill>
          <a:ln w="12700">
            <a:solidFill>
              <a:srgbClr val="EA580C"/>
            </a:solidFill>
            <a:prstDash val="solid"/>
          </a:ln>
        </p:spPr>
      </p:sp>
      <p:sp>
        <p:nvSpPr>
          <p:cNvPr id="22" name="Shape 20"/>
          <p:cNvSpPr/>
          <p:nvPr/>
        </p:nvSpPr>
        <p:spPr>
          <a:xfrm>
            <a:off x="274320" y="3154680"/>
            <a:ext cx="91440" cy="822960"/>
          </a:xfrm>
          <a:prstGeom prst="rect">
            <a:avLst/>
          </a:prstGeom>
          <a:solidFill>
            <a:srgbClr val="EA580C"/>
          </a:solidFill>
          <a:ln w="12700">
            <a:solidFill>
              <a:srgbClr val="EA580C"/>
            </a:solidFill>
            <a:prstDash val="solid"/>
          </a:ln>
        </p:spPr>
      </p:sp>
      <p:sp>
        <p:nvSpPr>
          <p:cNvPr id="23" name="Text 21"/>
          <p:cNvSpPr/>
          <p:nvPr/>
        </p:nvSpPr>
        <p:spPr>
          <a:xfrm>
            <a:off x="457200" y="322783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jet lag</a:t>
            </a:r>
            <a:endParaRPr lang="en-US" sz="1300" dirty="0"/>
          </a:p>
        </p:txBody>
      </p:sp>
      <p:sp>
        <p:nvSpPr>
          <p:cNvPr id="24" name="Text 22"/>
          <p:cNvSpPr/>
          <p:nvPr/>
        </p:nvSpPr>
        <p:spPr>
          <a:xfrm>
            <a:off x="457200" y="356616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tiredness after a long flight across time zones</a:t>
            </a:r>
            <a:endParaRPr lang="en-US" sz="1100" dirty="0"/>
          </a:p>
        </p:txBody>
      </p:sp>
      <p:sp>
        <p:nvSpPr>
          <p:cNvPr id="25" name="Shape 23"/>
          <p:cNvSpPr/>
          <p:nvPr/>
        </p:nvSpPr>
        <p:spPr>
          <a:xfrm>
            <a:off x="4709160" y="3154680"/>
            <a:ext cx="4206240" cy="822960"/>
          </a:xfrm>
          <a:prstGeom prst="rect">
            <a:avLst/>
          </a:prstGeom>
          <a:solidFill>
            <a:srgbClr val="FFEDD5"/>
          </a:solidFill>
          <a:ln w="12700">
            <a:solidFill>
              <a:srgbClr val="EA580C"/>
            </a:solidFill>
            <a:prstDash val="solid"/>
          </a:ln>
        </p:spPr>
      </p:sp>
      <p:sp>
        <p:nvSpPr>
          <p:cNvPr id="26" name="Shape 24"/>
          <p:cNvSpPr/>
          <p:nvPr/>
        </p:nvSpPr>
        <p:spPr>
          <a:xfrm>
            <a:off x="4709160" y="3154680"/>
            <a:ext cx="91440" cy="822960"/>
          </a:xfrm>
          <a:prstGeom prst="rect">
            <a:avLst/>
          </a:prstGeom>
          <a:solidFill>
            <a:srgbClr val="EA580C"/>
          </a:solidFill>
          <a:ln w="12700">
            <a:solidFill>
              <a:srgbClr val="EA580C"/>
            </a:solidFill>
            <a:prstDash val="solid"/>
          </a:ln>
        </p:spPr>
      </p:sp>
      <p:sp>
        <p:nvSpPr>
          <p:cNvPr id="27" name="Text 25"/>
          <p:cNvSpPr/>
          <p:nvPr/>
        </p:nvSpPr>
        <p:spPr>
          <a:xfrm>
            <a:off x="4892040" y="322783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on board</a:t>
            </a:r>
            <a:endParaRPr lang="en-US" sz="1300" dirty="0"/>
          </a:p>
        </p:txBody>
      </p:sp>
      <p:sp>
        <p:nvSpPr>
          <p:cNvPr id="28" name="Text 26"/>
          <p:cNvSpPr/>
          <p:nvPr/>
        </p:nvSpPr>
        <p:spPr>
          <a:xfrm>
            <a:off x="4892040" y="356616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when you are inside a plane, train, or ship</a:t>
            </a:r>
            <a:endParaRPr lang="en-US" sz="1100" dirty="0"/>
          </a:p>
        </p:txBody>
      </p:sp>
      <p:sp>
        <p:nvSpPr>
          <p:cNvPr id="29" name="Shape 27"/>
          <p:cNvSpPr/>
          <p:nvPr/>
        </p:nvSpPr>
        <p:spPr>
          <a:xfrm>
            <a:off x="274320" y="4114800"/>
            <a:ext cx="4206240" cy="822960"/>
          </a:xfrm>
          <a:prstGeom prst="rect">
            <a:avLst/>
          </a:prstGeom>
          <a:solidFill>
            <a:srgbClr val="FFEDD5"/>
          </a:solidFill>
          <a:ln w="12700">
            <a:solidFill>
              <a:srgbClr val="EA580C"/>
            </a:solidFill>
            <a:prstDash val="solid"/>
          </a:ln>
        </p:spPr>
      </p:sp>
      <p:sp>
        <p:nvSpPr>
          <p:cNvPr id="30" name="Shape 28"/>
          <p:cNvSpPr/>
          <p:nvPr/>
        </p:nvSpPr>
        <p:spPr>
          <a:xfrm>
            <a:off x="274320" y="4114800"/>
            <a:ext cx="91440" cy="822960"/>
          </a:xfrm>
          <a:prstGeom prst="rect">
            <a:avLst/>
          </a:prstGeom>
          <a:solidFill>
            <a:srgbClr val="EA580C"/>
          </a:solidFill>
          <a:ln w="12700">
            <a:solidFill>
              <a:srgbClr val="EA580C"/>
            </a:solidFill>
            <a:prstDash val="solid"/>
          </a:ln>
        </p:spPr>
      </p:sp>
      <p:sp>
        <p:nvSpPr>
          <p:cNvPr id="31" name="Text 29"/>
          <p:cNvSpPr/>
          <p:nvPr/>
        </p:nvSpPr>
        <p:spPr>
          <a:xfrm>
            <a:off x="457200" y="418795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luggage</a:t>
            </a:r>
            <a:endParaRPr lang="en-US" sz="1300" dirty="0"/>
          </a:p>
        </p:txBody>
      </p:sp>
      <p:sp>
        <p:nvSpPr>
          <p:cNvPr id="32" name="Text 30"/>
          <p:cNvSpPr/>
          <p:nvPr/>
        </p:nvSpPr>
        <p:spPr>
          <a:xfrm>
            <a:off x="457200" y="452628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the bags and suitcases you travel with</a:t>
            </a:r>
            <a:endParaRPr lang="en-US" sz="1100" dirty="0"/>
          </a:p>
        </p:txBody>
      </p:sp>
      <p:sp>
        <p:nvSpPr>
          <p:cNvPr id="33" name="Shape 31"/>
          <p:cNvSpPr/>
          <p:nvPr/>
        </p:nvSpPr>
        <p:spPr>
          <a:xfrm>
            <a:off x="4709160" y="4114800"/>
            <a:ext cx="4206240" cy="822960"/>
          </a:xfrm>
          <a:prstGeom prst="rect">
            <a:avLst/>
          </a:prstGeom>
          <a:solidFill>
            <a:srgbClr val="FFEDD5"/>
          </a:solidFill>
          <a:ln w="12700">
            <a:solidFill>
              <a:srgbClr val="EA580C"/>
            </a:solidFill>
            <a:prstDash val="solid"/>
          </a:ln>
        </p:spPr>
      </p:sp>
      <p:sp>
        <p:nvSpPr>
          <p:cNvPr id="34" name="Shape 32"/>
          <p:cNvSpPr/>
          <p:nvPr/>
        </p:nvSpPr>
        <p:spPr>
          <a:xfrm>
            <a:off x="4709160" y="4114800"/>
            <a:ext cx="91440" cy="822960"/>
          </a:xfrm>
          <a:prstGeom prst="rect">
            <a:avLst/>
          </a:prstGeom>
          <a:solidFill>
            <a:srgbClr val="EA580C"/>
          </a:solidFill>
          <a:ln w="12700">
            <a:solidFill>
              <a:srgbClr val="EA580C"/>
            </a:solidFill>
            <a:prstDash val="solid"/>
          </a:ln>
        </p:spPr>
      </p:sp>
      <p:sp>
        <p:nvSpPr>
          <p:cNvPr id="35" name="Text 33"/>
          <p:cNvSpPr/>
          <p:nvPr/>
        </p:nvSpPr>
        <p:spPr>
          <a:xfrm>
            <a:off x="4892040" y="4187952"/>
            <a:ext cx="3840480" cy="292608"/>
          </a:xfrm>
          <a:prstGeom prst="rect">
            <a:avLst/>
          </a:prstGeom>
          <a:noFill/>
          <a:ln/>
        </p:spPr>
        <p:txBody>
          <a:bodyPr wrap="square" lIns="0" tIns="0" rIns="0" bIns="0"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delay</a:t>
            </a:r>
            <a:endParaRPr lang="en-US" sz="1300" dirty="0"/>
          </a:p>
        </p:txBody>
      </p:sp>
      <p:sp>
        <p:nvSpPr>
          <p:cNvPr id="36" name="Text 34"/>
          <p:cNvSpPr/>
          <p:nvPr/>
        </p:nvSpPr>
        <p:spPr>
          <a:xfrm>
            <a:off x="4892040" y="4526280"/>
            <a:ext cx="3840480" cy="32004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when something is later than scheduled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2563EB">
              <a:alpha val="30000"/>
            </a:srgbClr>
          </a:solidFill>
          <a:ln w="12700">
            <a:solidFill>
              <a:srgbClr val="2563EB">
                <a:alpha val="30000"/>
              </a:srgbClr>
            </a:solidFill>
            <a:prstDash val="solid"/>
          </a:ln>
        </p:spPr>
      </p:sp>
      <p:sp>
        <p:nvSpPr>
          <p:cNvPr id="3" name="Shape 1"/>
          <p:cNvSpPr/>
          <p:nvPr/>
        </p:nvSpPr>
        <p:spPr>
          <a:xfrm>
            <a:off x="-457200" y="3200400"/>
            <a:ext cx="2286000" cy="2286000"/>
          </a:xfrm>
          <a:prstGeom prst="ellipse">
            <a:avLst/>
          </a:prstGeom>
          <a:solidFill>
            <a:srgbClr val="0D9488">
              <a:alpha val="35000"/>
            </a:srgbClr>
          </a:solidFill>
          <a:ln w="12700">
            <a:solidFill>
              <a:srgbClr val="0D9488">
                <a:alpha val="35000"/>
              </a:srgbClr>
            </a:solidFill>
            <a:prstDash val="solid"/>
          </a:ln>
        </p:spPr>
      </p:sp>
      <p:sp>
        <p:nvSpPr>
          <p:cNvPr id="4" name="Text 2"/>
          <p:cNvSpPr/>
          <p:nvPr/>
        </p:nvSpPr>
        <p:spPr>
          <a:xfrm>
            <a:off x="457200" y="274320"/>
            <a:ext cx="8229600" cy="5943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  Lesson Summary</a:t>
            </a:r>
            <a:endParaRPr lang="en-US" sz="2800" dirty="0"/>
          </a:p>
        </p:txBody>
      </p:sp>
      <p:sp>
        <p:nvSpPr>
          <p:cNvPr id="5" name="Text 3"/>
          <p:cNvSpPr/>
          <p:nvPr/>
        </p:nvSpPr>
        <p:spPr>
          <a:xfrm>
            <a:off x="640080" y="1005840"/>
            <a:ext cx="7863840" cy="475488"/>
          </a:xfrm>
          <a:prstGeom prst="rect">
            <a:avLst/>
          </a:prstGeom>
          <a:noFill/>
          <a:ln/>
        </p:spPr>
        <p:txBody>
          <a:bodyPr wrap="square" lIns="0" tIns="0" rIns="0" bIns="0" rtlCol="0" anchor="ctr"/>
          <a:lstStyle/>
          <a:p>
            <a:pPr marL="0" indent="0">
              <a:buNone/>
            </a:pPr>
            <a:r>
              <a:rPr lang="en-US" sz="1300" dirty="0">
                <a:solidFill>
                  <a:srgbClr val="BFDBFE"/>
                </a:solidFill>
                <a:latin typeface="Calibri" pitchFamily="34" charset="0"/>
                <a:ea typeface="Calibri" pitchFamily="34" charset="-122"/>
                <a:cs typeface="Calibri" pitchFamily="34" charset="-120"/>
              </a:rPr>
              <a:t>✅  Comparative adjectives (+er / more) with all spelling rules</a:t>
            </a:r>
            <a:endParaRPr lang="en-US" sz="1300" dirty="0"/>
          </a:p>
        </p:txBody>
      </p:sp>
      <p:sp>
        <p:nvSpPr>
          <p:cNvPr id="6" name="Text 4"/>
          <p:cNvSpPr/>
          <p:nvPr/>
        </p:nvSpPr>
        <p:spPr>
          <a:xfrm>
            <a:off x="640080" y="1554480"/>
            <a:ext cx="7863840" cy="475488"/>
          </a:xfrm>
          <a:prstGeom prst="rect">
            <a:avLst/>
          </a:prstGeom>
          <a:noFill/>
          <a:ln/>
        </p:spPr>
        <p:txBody>
          <a:bodyPr wrap="square" lIns="0" tIns="0" rIns="0" bIns="0" rtlCol="0" anchor="ctr"/>
          <a:lstStyle/>
          <a:p>
            <a:pPr marL="0" indent="0">
              <a:buNone/>
            </a:pPr>
            <a:r>
              <a:rPr lang="en-US" sz="1300" dirty="0">
                <a:solidFill>
                  <a:srgbClr val="99F6E4"/>
                </a:solidFill>
                <a:latin typeface="Calibri" pitchFamily="34" charset="0"/>
                <a:ea typeface="Calibri" pitchFamily="34" charset="-122"/>
                <a:cs typeface="Calibri" pitchFamily="34" charset="-120"/>
              </a:rPr>
              <a:t>✅  Hobbies vocabulary: go sailing, take up, give up, keen on, can't stand</a:t>
            </a:r>
            <a:endParaRPr lang="en-US" sz="1300" dirty="0"/>
          </a:p>
        </p:txBody>
      </p:sp>
      <p:sp>
        <p:nvSpPr>
          <p:cNvPr id="7" name="Text 5"/>
          <p:cNvSpPr/>
          <p:nvPr/>
        </p:nvSpPr>
        <p:spPr>
          <a:xfrm>
            <a:off x="640080" y="2103120"/>
            <a:ext cx="7863840" cy="475488"/>
          </a:xfrm>
          <a:prstGeom prst="rect">
            <a:avLst/>
          </a:prstGeom>
          <a:noFill/>
          <a:ln/>
        </p:spPr>
        <p:txBody>
          <a:bodyPr wrap="square" lIns="0" tIns="0" rIns="0" bIns="0" rtlCol="0" anchor="ctr"/>
          <a:lstStyle/>
          <a:p>
            <a:pPr marL="0" indent="0">
              <a:buNone/>
            </a:pPr>
            <a:r>
              <a:rPr lang="en-US" sz="1300" dirty="0">
                <a:solidFill>
                  <a:srgbClr val="BFDBFE"/>
                </a:solidFill>
                <a:latin typeface="Calibri" pitchFamily="34" charset="0"/>
                <a:ea typeface="Calibri" pitchFamily="34" charset="-122"/>
                <a:cs typeface="Calibri" pitchFamily="34" charset="-120"/>
              </a:rPr>
              <a:t>✅  Sports vocabulary: racket, court, coach, sneakers, score, winner</a:t>
            </a:r>
            <a:endParaRPr lang="en-US" sz="1300" dirty="0"/>
          </a:p>
        </p:txBody>
      </p:sp>
      <p:sp>
        <p:nvSpPr>
          <p:cNvPr id="8" name="Text 6"/>
          <p:cNvSpPr/>
          <p:nvPr/>
        </p:nvSpPr>
        <p:spPr>
          <a:xfrm>
            <a:off x="640080" y="2651760"/>
            <a:ext cx="7863840" cy="475488"/>
          </a:xfrm>
          <a:prstGeom prst="rect">
            <a:avLst/>
          </a:prstGeom>
          <a:noFill/>
          <a:ln/>
        </p:spPr>
        <p:txBody>
          <a:bodyPr wrap="square" lIns="0" tIns="0" rIns="0" bIns="0" rtlCol="0" anchor="ctr"/>
          <a:lstStyle/>
          <a:p>
            <a:pPr marL="0" indent="0">
              <a:buNone/>
            </a:pPr>
            <a:r>
              <a:rPr lang="en-US" sz="1300" dirty="0">
                <a:solidFill>
                  <a:srgbClr val="99F6E4"/>
                </a:solidFill>
                <a:latin typeface="Calibri" pitchFamily="34" charset="0"/>
                <a:ea typeface="Calibri" pitchFamily="34" charset="-122"/>
                <a:cs typeface="Calibri" pitchFamily="34" charset="-120"/>
              </a:rPr>
              <a:t>✅  Sightseeing &amp; airport: museum, souvenir, gate, boarding pass, departure lounge</a:t>
            </a:r>
            <a:endParaRPr lang="en-US" sz="1300" dirty="0"/>
          </a:p>
        </p:txBody>
      </p:sp>
      <p:sp>
        <p:nvSpPr>
          <p:cNvPr id="9" name="Text 7"/>
          <p:cNvSpPr/>
          <p:nvPr/>
        </p:nvSpPr>
        <p:spPr>
          <a:xfrm>
            <a:off x="640080" y="3200400"/>
            <a:ext cx="7863840" cy="475488"/>
          </a:xfrm>
          <a:prstGeom prst="rect">
            <a:avLst/>
          </a:prstGeom>
          <a:noFill/>
          <a:ln/>
        </p:spPr>
        <p:txBody>
          <a:bodyPr wrap="square" lIns="0" tIns="0" rIns="0" bIns="0" rtlCol="0" anchor="ctr"/>
          <a:lstStyle/>
          <a:p>
            <a:pPr marL="0" indent="0">
              <a:buNone/>
            </a:pPr>
            <a:r>
              <a:rPr lang="en-US" sz="1300" dirty="0">
                <a:solidFill>
                  <a:srgbClr val="BFDBFE"/>
                </a:solidFill>
                <a:latin typeface="Calibri" pitchFamily="34" charset="0"/>
                <a:ea typeface="Calibri" pitchFamily="34" charset="-122"/>
                <a:cs typeface="Calibri" pitchFamily="34" charset="-120"/>
              </a:rPr>
              <a:t>✅  College vocabulary: graduate, major, scholarship, freshman, degree</a:t>
            </a:r>
            <a:endParaRPr lang="en-US" sz="1300" dirty="0"/>
          </a:p>
        </p:txBody>
      </p:sp>
      <p:sp>
        <p:nvSpPr>
          <p:cNvPr id="10" name="Text 8"/>
          <p:cNvSpPr/>
          <p:nvPr/>
        </p:nvSpPr>
        <p:spPr>
          <a:xfrm>
            <a:off x="640080" y="3749040"/>
            <a:ext cx="7863840" cy="475488"/>
          </a:xfrm>
          <a:prstGeom prst="rect">
            <a:avLst/>
          </a:prstGeom>
          <a:noFill/>
          <a:ln/>
        </p:spPr>
        <p:txBody>
          <a:bodyPr wrap="square" lIns="0" tIns="0" rIns="0" bIns="0" rtlCol="0" anchor="ctr"/>
          <a:lstStyle/>
          <a:p>
            <a:pPr marL="0" indent="0">
              <a:buNone/>
            </a:pPr>
            <a:r>
              <a:rPr lang="en-US" sz="1300" dirty="0">
                <a:solidFill>
                  <a:srgbClr val="99F6E4"/>
                </a:solidFill>
                <a:latin typeface="Calibri" pitchFamily="34" charset="0"/>
                <a:ea typeface="Calibri" pitchFamily="34" charset="-122"/>
                <a:cs typeface="Calibri" pitchFamily="34" charset="-120"/>
              </a:rPr>
              <a:t>✅  Yes/No questions with short answers using BE, DO, HAVE</a:t>
            </a:r>
            <a:endParaRPr lang="en-US" sz="1300" dirty="0"/>
          </a:p>
        </p:txBody>
      </p:sp>
      <p:sp>
        <p:nvSpPr>
          <p:cNvPr id="11" name="Text 9"/>
          <p:cNvSpPr/>
          <p:nvPr/>
        </p:nvSpPr>
        <p:spPr>
          <a:xfrm>
            <a:off x="640080" y="4297680"/>
            <a:ext cx="7863840" cy="475488"/>
          </a:xfrm>
          <a:prstGeom prst="rect">
            <a:avLst/>
          </a:prstGeom>
          <a:noFill/>
          <a:ln/>
        </p:spPr>
        <p:txBody>
          <a:bodyPr wrap="square" lIns="0" tIns="0" rIns="0" bIns="0" rtlCol="0" anchor="ctr"/>
          <a:lstStyle/>
          <a:p>
            <a:pPr marL="0" indent="0">
              <a:buNone/>
            </a:pPr>
            <a:r>
              <a:rPr lang="en-US" sz="1300" dirty="0">
                <a:solidFill>
                  <a:srgbClr val="BFDBFE"/>
                </a:solidFill>
                <a:latin typeface="Calibri" pitchFamily="34" charset="0"/>
                <a:ea typeface="Calibri" pitchFamily="34" charset="-122"/>
                <a:cs typeface="Calibri" pitchFamily="34" charset="-120"/>
              </a:rPr>
              <a:t>✅  Wh- questions: Which / How long / How often / How far / Whose / Who</a:t>
            </a:r>
            <a:endParaRPr lang="en-US" sz="1300" dirty="0"/>
          </a:p>
        </p:txBody>
      </p:sp>
      <p:sp>
        <p:nvSpPr>
          <p:cNvPr id="12" name="Text 10"/>
          <p:cNvSpPr/>
          <p:nvPr/>
        </p:nvSpPr>
        <p:spPr>
          <a:xfrm>
            <a:off x="457200" y="4663440"/>
            <a:ext cx="8229600" cy="365760"/>
          </a:xfrm>
          <a:prstGeom prst="rect">
            <a:avLst/>
          </a:prstGeom>
          <a:noFill/>
          <a:ln/>
        </p:spPr>
        <p:txBody>
          <a:bodyPr wrap="square" rtlCol="0" anchor="ctr"/>
          <a:lstStyle/>
          <a:p>
            <a:pPr marL="0" indent="0" algn="ctr">
              <a:buNone/>
            </a:pPr>
            <a:r>
              <a:rPr lang="en-US" sz="1400" b="1" dirty="0">
                <a:solidFill>
                  <a:srgbClr val="EAB308"/>
                </a:solidFill>
                <a:latin typeface="Calibri" pitchFamily="34" charset="0"/>
                <a:ea typeface="Calibri" pitchFamily="34" charset="-122"/>
                <a:cs typeface="Calibri" pitchFamily="34" charset="-120"/>
              </a:rPr>
              <a:t>Now complete your worksheet to review everything!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Review Lesson</dc:title>
  <dc:subject>PptxGenJS Presentation</dc:subject>
  <dc:creator>PptxGenJS</dc:creator>
  <cp:lastModifiedBy>Tokozile Roberts</cp:lastModifiedBy>
  <cp:revision>2</cp:revision>
  <dcterms:created xsi:type="dcterms:W3CDTF">2026-04-26T02:51:23Z</dcterms:created>
  <dcterms:modified xsi:type="dcterms:W3CDTF">2026-04-26T04:11:58Z</dcterms:modified>
</cp:coreProperties>
</file>