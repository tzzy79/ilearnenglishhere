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43501F7-FE63-411C-8F66-C4FD45C183DC}" v="15" dt="2026-06-02T01:49:26.15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ny Roberts" userId="4x7IC4wa8wEvzBWALRIP0eIJ9JEcvBnfNw6IdbxhyHY=" providerId="None" clId="Web-{043501F7-FE63-411C-8F66-C4FD45C183DC}"/>
    <pc:docChg chg="modSld modMainMaster">
      <pc:chgData name="Tony Roberts" userId="4x7IC4wa8wEvzBWALRIP0eIJ9JEcvBnfNw6IdbxhyHY=" providerId="None" clId="Web-{043501F7-FE63-411C-8F66-C4FD45C183DC}" dt="2026-06-02T01:49:26.152" v="14"/>
      <pc:docMkLst>
        <pc:docMk/>
      </pc:docMkLst>
      <pc:sldChg chg="modTransition">
        <pc:chgData name="Tony Roberts" userId="4x7IC4wa8wEvzBWALRIP0eIJ9JEcvBnfNw6IdbxhyHY=" providerId="None" clId="Web-{043501F7-FE63-411C-8F66-C4FD45C183DC}" dt="2026-06-02T01:49:26.152" v="14"/>
        <pc:sldMkLst>
          <pc:docMk/>
          <pc:sldMk cId="0" sldId="256"/>
        </pc:sldMkLst>
      </pc:sldChg>
      <pc:sldChg chg="modTransition">
        <pc:chgData name="Tony Roberts" userId="4x7IC4wa8wEvzBWALRIP0eIJ9JEcvBnfNw6IdbxhyHY=" providerId="None" clId="Web-{043501F7-FE63-411C-8F66-C4FD45C183DC}" dt="2026-06-02T01:49:26.152" v="14"/>
        <pc:sldMkLst>
          <pc:docMk/>
          <pc:sldMk cId="0" sldId="257"/>
        </pc:sldMkLst>
      </pc:sldChg>
      <pc:sldChg chg="modTransition">
        <pc:chgData name="Tony Roberts" userId="4x7IC4wa8wEvzBWALRIP0eIJ9JEcvBnfNw6IdbxhyHY=" providerId="None" clId="Web-{043501F7-FE63-411C-8F66-C4FD45C183DC}" dt="2026-06-02T01:49:26.152" v="14"/>
        <pc:sldMkLst>
          <pc:docMk/>
          <pc:sldMk cId="0" sldId="258"/>
        </pc:sldMkLst>
      </pc:sldChg>
      <pc:sldChg chg="modTransition">
        <pc:chgData name="Tony Roberts" userId="4x7IC4wa8wEvzBWALRIP0eIJ9JEcvBnfNw6IdbxhyHY=" providerId="None" clId="Web-{043501F7-FE63-411C-8F66-C4FD45C183DC}" dt="2026-06-02T01:49:26.152" v="14"/>
        <pc:sldMkLst>
          <pc:docMk/>
          <pc:sldMk cId="0" sldId="259"/>
        </pc:sldMkLst>
      </pc:sldChg>
      <pc:sldChg chg="modTransition">
        <pc:chgData name="Tony Roberts" userId="4x7IC4wa8wEvzBWALRIP0eIJ9JEcvBnfNw6IdbxhyHY=" providerId="None" clId="Web-{043501F7-FE63-411C-8F66-C4FD45C183DC}" dt="2026-06-02T01:49:26.152" v="14"/>
        <pc:sldMkLst>
          <pc:docMk/>
          <pc:sldMk cId="0" sldId="260"/>
        </pc:sldMkLst>
      </pc:sldChg>
      <pc:sldChg chg="modTransition">
        <pc:chgData name="Tony Roberts" userId="4x7IC4wa8wEvzBWALRIP0eIJ9JEcvBnfNw6IdbxhyHY=" providerId="None" clId="Web-{043501F7-FE63-411C-8F66-C4FD45C183DC}" dt="2026-06-02T01:49:26.152" v="14"/>
        <pc:sldMkLst>
          <pc:docMk/>
          <pc:sldMk cId="0" sldId="261"/>
        </pc:sldMkLst>
      </pc:sldChg>
      <pc:sldChg chg="modTransition">
        <pc:chgData name="Tony Roberts" userId="4x7IC4wa8wEvzBWALRIP0eIJ9JEcvBnfNw6IdbxhyHY=" providerId="None" clId="Web-{043501F7-FE63-411C-8F66-C4FD45C183DC}" dt="2026-06-02T01:49:26.152" v="14"/>
        <pc:sldMkLst>
          <pc:docMk/>
          <pc:sldMk cId="0" sldId="262"/>
        </pc:sldMkLst>
      </pc:sldChg>
      <pc:sldChg chg="modTransition">
        <pc:chgData name="Tony Roberts" userId="4x7IC4wa8wEvzBWALRIP0eIJ9JEcvBnfNw6IdbxhyHY=" providerId="None" clId="Web-{043501F7-FE63-411C-8F66-C4FD45C183DC}" dt="2026-06-02T01:49:26.152" v="14"/>
        <pc:sldMkLst>
          <pc:docMk/>
          <pc:sldMk cId="0" sldId="263"/>
        </pc:sldMkLst>
      </pc:sldChg>
      <pc:sldChg chg="modTransition">
        <pc:chgData name="Tony Roberts" userId="4x7IC4wa8wEvzBWALRIP0eIJ9JEcvBnfNw6IdbxhyHY=" providerId="None" clId="Web-{043501F7-FE63-411C-8F66-C4FD45C183DC}" dt="2026-06-02T01:49:26.152" v="14"/>
        <pc:sldMkLst>
          <pc:docMk/>
          <pc:sldMk cId="0" sldId="264"/>
        </pc:sldMkLst>
      </pc:sldChg>
      <pc:sldChg chg="modTransition">
        <pc:chgData name="Tony Roberts" userId="4x7IC4wa8wEvzBWALRIP0eIJ9JEcvBnfNw6IdbxhyHY=" providerId="None" clId="Web-{043501F7-FE63-411C-8F66-C4FD45C183DC}" dt="2026-06-02T01:49:26.152" v="14"/>
        <pc:sldMkLst>
          <pc:docMk/>
          <pc:sldMk cId="0" sldId="265"/>
        </pc:sldMkLst>
      </pc:sldChg>
      <pc:sldChg chg="modTransition">
        <pc:chgData name="Tony Roberts" userId="4x7IC4wa8wEvzBWALRIP0eIJ9JEcvBnfNw6IdbxhyHY=" providerId="None" clId="Web-{043501F7-FE63-411C-8F66-C4FD45C183DC}" dt="2026-06-02T01:49:26.152" v="14"/>
        <pc:sldMkLst>
          <pc:docMk/>
          <pc:sldMk cId="0" sldId="266"/>
        </pc:sldMkLst>
      </pc:sldChg>
      <pc:sldChg chg="modTransition">
        <pc:chgData name="Tony Roberts" userId="4x7IC4wa8wEvzBWALRIP0eIJ9JEcvBnfNw6IdbxhyHY=" providerId="None" clId="Web-{043501F7-FE63-411C-8F66-C4FD45C183DC}" dt="2026-06-02T01:49:26.152" v="14"/>
        <pc:sldMkLst>
          <pc:docMk/>
          <pc:sldMk cId="0" sldId="267"/>
        </pc:sldMkLst>
      </pc:sldChg>
      <pc:sldChg chg="modTransition">
        <pc:chgData name="Tony Roberts" userId="4x7IC4wa8wEvzBWALRIP0eIJ9JEcvBnfNw6IdbxhyHY=" providerId="None" clId="Web-{043501F7-FE63-411C-8F66-C4FD45C183DC}" dt="2026-06-02T01:49:26.152" v="14"/>
        <pc:sldMkLst>
          <pc:docMk/>
          <pc:sldMk cId="0" sldId="268"/>
        </pc:sldMkLst>
      </pc:sldChg>
      <pc:sldChg chg="modTransition">
        <pc:chgData name="Tony Roberts" userId="4x7IC4wa8wEvzBWALRIP0eIJ9JEcvBnfNw6IdbxhyHY=" providerId="None" clId="Web-{043501F7-FE63-411C-8F66-C4FD45C183DC}" dt="2026-06-02T01:49:26.152" v="14"/>
        <pc:sldMkLst>
          <pc:docMk/>
          <pc:sldMk cId="0" sldId="269"/>
        </pc:sldMkLst>
      </pc:sldChg>
      <pc:sldChg chg="modTransition">
        <pc:chgData name="Tony Roberts" userId="4x7IC4wa8wEvzBWALRIP0eIJ9JEcvBnfNw6IdbxhyHY=" providerId="None" clId="Web-{043501F7-FE63-411C-8F66-C4FD45C183DC}" dt="2026-06-02T01:49:26.152" v="14"/>
        <pc:sldMkLst>
          <pc:docMk/>
          <pc:sldMk cId="0" sldId="270"/>
        </pc:sldMkLst>
      </pc:sldChg>
      <pc:sldChg chg="modTransition">
        <pc:chgData name="Tony Roberts" userId="4x7IC4wa8wEvzBWALRIP0eIJ9JEcvBnfNw6IdbxhyHY=" providerId="None" clId="Web-{043501F7-FE63-411C-8F66-C4FD45C183DC}" dt="2026-06-02T01:49:26.152" v="14"/>
        <pc:sldMkLst>
          <pc:docMk/>
          <pc:sldMk cId="0" sldId="271"/>
        </pc:sldMkLst>
      </pc:sldChg>
      <pc:sldChg chg="modTransition">
        <pc:chgData name="Tony Roberts" userId="4x7IC4wa8wEvzBWALRIP0eIJ9JEcvBnfNw6IdbxhyHY=" providerId="None" clId="Web-{043501F7-FE63-411C-8F66-C4FD45C183DC}" dt="2026-06-02T01:49:26.152" v="14"/>
        <pc:sldMkLst>
          <pc:docMk/>
          <pc:sldMk cId="0" sldId="272"/>
        </pc:sldMkLst>
      </pc:sldChg>
      <pc:sldChg chg="modTransition">
        <pc:chgData name="Tony Roberts" userId="4x7IC4wa8wEvzBWALRIP0eIJ9JEcvBnfNw6IdbxhyHY=" providerId="None" clId="Web-{043501F7-FE63-411C-8F66-C4FD45C183DC}" dt="2026-06-02T01:49:26.152" v="14"/>
        <pc:sldMkLst>
          <pc:docMk/>
          <pc:sldMk cId="0" sldId="273"/>
        </pc:sldMkLst>
      </pc:sldChg>
      <pc:sldChg chg="modTransition">
        <pc:chgData name="Tony Roberts" userId="4x7IC4wa8wEvzBWALRIP0eIJ9JEcvBnfNw6IdbxhyHY=" providerId="None" clId="Web-{043501F7-FE63-411C-8F66-C4FD45C183DC}" dt="2026-06-02T01:49:26.152" v="14"/>
        <pc:sldMkLst>
          <pc:docMk/>
          <pc:sldMk cId="0" sldId="274"/>
        </pc:sldMkLst>
      </pc:sldChg>
      <pc:sldChg chg="modTransition">
        <pc:chgData name="Tony Roberts" userId="4x7IC4wa8wEvzBWALRIP0eIJ9JEcvBnfNw6IdbxhyHY=" providerId="None" clId="Web-{043501F7-FE63-411C-8F66-C4FD45C183DC}" dt="2026-06-02T01:49:26.152" v="14"/>
        <pc:sldMkLst>
          <pc:docMk/>
          <pc:sldMk cId="0" sldId="275"/>
        </pc:sldMkLst>
      </pc:sldChg>
      <pc:sldChg chg="modTransition">
        <pc:chgData name="Tony Roberts" userId="4x7IC4wa8wEvzBWALRIP0eIJ9JEcvBnfNw6IdbxhyHY=" providerId="None" clId="Web-{043501F7-FE63-411C-8F66-C4FD45C183DC}" dt="2026-06-02T01:49:26.152" v="14"/>
        <pc:sldMkLst>
          <pc:docMk/>
          <pc:sldMk cId="0" sldId="276"/>
        </pc:sldMkLst>
      </pc:sldChg>
      <pc:sldChg chg="modTransition">
        <pc:chgData name="Tony Roberts" userId="4x7IC4wa8wEvzBWALRIP0eIJ9JEcvBnfNw6IdbxhyHY=" providerId="None" clId="Web-{043501F7-FE63-411C-8F66-C4FD45C183DC}" dt="2026-06-02T01:49:26.152" v="14"/>
        <pc:sldMkLst>
          <pc:docMk/>
          <pc:sldMk cId="0" sldId="277"/>
        </pc:sldMkLst>
      </pc:sldChg>
      <pc:sldChg chg="modTransition">
        <pc:chgData name="Tony Roberts" userId="4x7IC4wa8wEvzBWALRIP0eIJ9JEcvBnfNw6IdbxhyHY=" providerId="None" clId="Web-{043501F7-FE63-411C-8F66-C4FD45C183DC}" dt="2026-06-02T01:49:26.152" v="14"/>
        <pc:sldMkLst>
          <pc:docMk/>
          <pc:sldMk cId="0" sldId="278"/>
        </pc:sldMkLst>
      </pc:sldChg>
      <pc:sldChg chg="modTransition">
        <pc:chgData name="Tony Roberts" userId="4x7IC4wa8wEvzBWALRIP0eIJ9JEcvBnfNw6IdbxhyHY=" providerId="None" clId="Web-{043501F7-FE63-411C-8F66-C4FD45C183DC}" dt="2026-06-02T01:49:26.152" v="14"/>
        <pc:sldMkLst>
          <pc:docMk/>
          <pc:sldMk cId="0" sldId="279"/>
        </pc:sldMkLst>
      </pc:sldChg>
      <pc:sldChg chg="modTransition">
        <pc:chgData name="Tony Roberts" userId="4x7IC4wa8wEvzBWALRIP0eIJ9JEcvBnfNw6IdbxhyHY=" providerId="None" clId="Web-{043501F7-FE63-411C-8F66-C4FD45C183DC}" dt="2026-06-02T01:49:26.152" v="14"/>
        <pc:sldMkLst>
          <pc:docMk/>
          <pc:sldMk cId="0" sldId="280"/>
        </pc:sldMkLst>
      </pc:sldChg>
      <pc:sldChg chg="modTransition">
        <pc:chgData name="Tony Roberts" userId="4x7IC4wa8wEvzBWALRIP0eIJ9JEcvBnfNw6IdbxhyHY=" providerId="None" clId="Web-{043501F7-FE63-411C-8F66-C4FD45C183DC}" dt="2026-06-02T01:49:26.152" v="14"/>
        <pc:sldMkLst>
          <pc:docMk/>
          <pc:sldMk cId="0" sldId="281"/>
        </pc:sldMkLst>
      </pc:sldChg>
      <pc:sldChg chg="modTransition">
        <pc:chgData name="Tony Roberts" userId="4x7IC4wa8wEvzBWALRIP0eIJ9JEcvBnfNw6IdbxhyHY=" providerId="None" clId="Web-{043501F7-FE63-411C-8F66-C4FD45C183DC}" dt="2026-06-02T01:49:26.152" v="14"/>
        <pc:sldMkLst>
          <pc:docMk/>
          <pc:sldMk cId="0" sldId="282"/>
        </pc:sldMkLst>
      </pc:sldChg>
      <pc:sldChg chg="modTransition">
        <pc:chgData name="Tony Roberts" userId="4x7IC4wa8wEvzBWALRIP0eIJ9JEcvBnfNw6IdbxhyHY=" providerId="None" clId="Web-{043501F7-FE63-411C-8F66-C4FD45C183DC}" dt="2026-06-02T01:49:26.152" v="14"/>
        <pc:sldMkLst>
          <pc:docMk/>
          <pc:sldMk cId="0" sldId="283"/>
        </pc:sldMkLst>
      </pc:sldChg>
      <pc:sldChg chg="modTransition">
        <pc:chgData name="Tony Roberts" userId="4x7IC4wa8wEvzBWALRIP0eIJ9JEcvBnfNw6IdbxhyHY=" providerId="None" clId="Web-{043501F7-FE63-411C-8F66-C4FD45C183DC}" dt="2026-06-02T01:49:26.152" v="14"/>
        <pc:sldMkLst>
          <pc:docMk/>
          <pc:sldMk cId="0" sldId="284"/>
        </pc:sldMkLst>
      </pc:sldChg>
      <pc:sldMasterChg chg="modTransition modSldLayout">
        <pc:chgData name="Tony Roberts" userId="4x7IC4wa8wEvzBWALRIP0eIJ9JEcvBnfNw6IdbxhyHY=" providerId="None" clId="Web-{043501F7-FE63-411C-8F66-C4FD45C183DC}" dt="2026-06-02T01:49:26.152" v="14"/>
        <pc:sldMasterMkLst>
          <pc:docMk/>
          <pc:sldMasterMk cId="0" sldId="2147483648"/>
        </pc:sldMasterMkLst>
        <pc:sldLayoutChg chg="modTransition">
          <pc:chgData name="Tony Roberts" userId="4x7IC4wa8wEvzBWALRIP0eIJ9JEcvBnfNw6IdbxhyHY=" providerId="None" clId="Web-{043501F7-FE63-411C-8F66-C4FD45C183DC}" dt="2026-06-02T01:49:26.152" v="14"/>
          <pc:sldLayoutMkLst>
            <pc:docMk/>
            <pc:sldMasterMk cId="0" sldId="2147483648"/>
            <pc:sldLayoutMk cId="0" sldId="2147483649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73D27A-C73C-D042-B853-584C779999CA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623C1E-397F-1E4B-925F-9D1C703520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77286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92024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MODULE 2: FITNESS &amp; HEALTH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Blueprint 4  •  Units 3–5  •  Beginner–Intermediate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0D8D0"/>
                </a:solidFill>
              </a:rPr>
              <a:t>5 Lessons  •  Grammar + Vocabulary + Speaking + Reading + Listening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2103120"/>
            <a:ext cx="1600200" cy="2606040"/>
          </a:xfrm>
          <a:prstGeom prst="roundRect">
            <a:avLst>
              <a:gd name="adj" fmla="val 5143"/>
            </a:avLst>
          </a:prstGeom>
          <a:solidFill>
            <a:srgbClr val="E8621A"/>
          </a:solidFill>
          <a:ln w="12700">
            <a:solidFill>
              <a:srgbClr val="E8621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2130552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L1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9184" y="2560320"/>
            <a:ext cx="1490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Watching Sports on TV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9184" y="3246120"/>
            <a:ext cx="14904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F5F3"/>
                </a:solidFill>
              </a:rPr>
              <a:t>Olympic Sports · Gerunds &amp; Infinitives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011680" y="2103120"/>
            <a:ext cx="1600200" cy="2606040"/>
          </a:xfrm>
          <a:prstGeom prst="roundRect">
            <a:avLst>
              <a:gd name="adj" fmla="val 5143"/>
            </a:avLst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011680" y="2130552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L2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066544" y="2560320"/>
            <a:ext cx="1490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We'd Better Show Up Early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066544" y="3246120"/>
            <a:ext cx="14904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F5F3"/>
                </a:solidFill>
              </a:rPr>
              <a:t>Fitness Vocab · Suggestions &amp; Advice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749040" y="2103120"/>
            <a:ext cx="1600200" cy="2606040"/>
          </a:xfrm>
          <a:prstGeom prst="roundRect">
            <a:avLst>
              <a:gd name="adj" fmla="val 5143"/>
            </a:avLst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749040" y="2130552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L3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803904" y="2560320"/>
            <a:ext cx="1490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I Want to Get in Shape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803904" y="3246120"/>
            <a:ext cx="14904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F5F3"/>
                </a:solidFill>
              </a:rPr>
              <a:t>Future Continuous Tense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0" y="2103120"/>
            <a:ext cx="1600200" cy="2606040"/>
          </a:xfrm>
          <a:prstGeom prst="roundRect">
            <a:avLst>
              <a:gd name="adj" fmla="val 5143"/>
            </a:avLst>
          </a:prstGeom>
          <a:solidFill>
            <a:srgbClr val="4A2060"/>
          </a:solidFill>
          <a:ln w="12700">
            <a:solidFill>
              <a:srgbClr val="4A206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486400" y="2130552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L4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541264" y="2560320"/>
            <a:ext cx="1490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Fitness Tips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541264" y="3246120"/>
            <a:ext cx="14904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F5F3"/>
                </a:solidFill>
              </a:rPr>
              <a:t>Empty It/That Clauses · The Workout Guide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223760" y="2103120"/>
            <a:ext cx="1600200" cy="2606040"/>
          </a:xfrm>
          <a:prstGeom prst="roundRect">
            <a:avLst>
              <a:gd name="adj" fmla="val 5143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223760" y="2130552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L5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278624" y="2560320"/>
            <a:ext cx="1490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It's Very Painful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278624" y="3246120"/>
            <a:ext cx="14904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F5F3"/>
                </a:solidFill>
              </a:rPr>
              <a:t>Body Parts · Intensifiers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4828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7A8FA6"/>
                </a:solidFill>
              </a:rPr>
              <a:t>Teacher resource — Blueprint 4 by Peggy Anderson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E8621A"/>
          </a:solidFill>
          <a:ln w="12700">
            <a:solidFill>
              <a:srgbClr val="E862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0"/>
            <a:ext cx="8641080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" y="1645920"/>
            <a:ext cx="4754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LESSON 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128016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Watching Sports on TV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77240" y="26060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E8621A"/>
                </a:solidFill>
              </a:rPr>
              <a:t>Vocabulary: Olympic Sports  •  Grammar: Gerunds &amp; Infinitives  •  Speaking: Watching Sports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E8621A"/>
          </a:solidFill>
          <a:ln w="12700">
            <a:solidFill>
              <a:srgbClr val="E862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26680" y="128016"/>
            <a:ext cx="1234440" cy="402336"/>
          </a:xfrm>
          <a:prstGeom prst="roundRect">
            <a:avLst>
              <a:gd name="adj" fmla="val 20455"/>
            </a:avLst>
          </a:prstGeom>
          <a:solidFill>
            <a:srgbClr val="E8621A"/>
          </a:solidFill>
          <a:ln w="12700">
            <a:solidFill>
              <a:srgbClr val="E8621A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726680" y="128016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L1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9144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Olympic Sports — Vocabulary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20040" y="69494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A8FA6"/>
                </a:solidFill>
              </a:rPr>
              <a:t>Learn the names, actions, and descriptions of major Olympic sports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950976"/>
            <a:ext cx="8503920" cy="2286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" y="1078992"/>
            <a:ext cx="2011680" cy="1645920"/>
          </a:xfrm>
          <a:prstGeom prst="roundRect">
            <a:avLst>
              <a:gd name="adj" fmla="val 5000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6032" y="11430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🏃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20040" y="1591056"/>
            <a:ext cx="1883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A623"/>
                </a:solidFill>
              </a:rPr>
              <a:t>RUNNING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0040" y="1938528"/>
            <a:ext cx="1883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8D8E8"/>
                </a:solidFill>
              </a:rPr>
              <a:t>You run on a track. Sprinters run 100m; marathon runners run 42km.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432304" y="1078992"/>
            <a:ext cx="2011680" cy="1645920"/>
          </a:xfrm>
          <a:prstGeom prst="roundRect">
            <a:avLst>
              <a:gd name="adj" fmla="val 5000"/>
            </a:avLst>
          </a:prstGeom>
          <a:solidFill>
            <a:srgbClr val="243557"/>
          </a:solidFill>
          <a:ln w="12700">
            <a:solidFill>
              <a:srgbClr val="243557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432304" y="11430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🏊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496312" y="1591056"/>
            <a:ext cx="1883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A623"/>
                </a:solidFill>
              </a:rPr>
              <a:t>SWIMMING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496312" y="1938528"/>
            <a:ext cx="1883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8D8E8"/>
                </a:solidFill>
              </a:rPr>
              <a:t>Swimmers race in a pool. Events include freestyle, backstroke, and butterfly.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608576" y="1078992"/>
            <a:ext cx="2011680" cy="1645920"/>
          </a:xfrm>
          <a:prstGeom prst="roundRect">
            <a:avLst>
              <a:gd name="adj" fmla="val 5000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608576" y="11430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🚴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672584" y="1591056"/>
            <a:ext cx="1883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A623"/>
                </a:solidFill>
              </a:rPr>
              <a:t>CYCLING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672584" y="1938528"/>
            <a:ext cx="1883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8D8E8"/>
                </a:solidFill>
              </a:rPr>
              <a:t>Riders race on bikes — on tracks, roads, or mountains.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784848" y="1078992"/>
            <a:ext cx="2011680" cy="1645920"/>
          </a:xfrm>
          <a:prstGeom prst="roundRect">
            <a:avLst>
              <a:gd name="adj" fmla="val 5000"/>
            </a:avLst>
          </a:prstGeom>
          <a:solidFill>
            <a:srgbClr val="243557"/>
          </a:solidFill>
          <a:ln w="12700">
            <a:solidFill>
              <a:srgbClr val="243557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784848" y="11430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🥊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848856" y="1591056"/>
            <a:ext cx="1883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A623"/>
                </a:solidFill>
              </a:rPr>
              <a:t>BOXING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848856" y="1938528"/>
            <a:ext cx="1883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8D8E8"/>
                </a:solidFill>
              </a:rPr>
              <a:t>Two fighters punch each other using gloved fists in a ring.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56032" y="2889504"/>
            <a:ext cx="2011680" cy="1645920"/>
          </a:xfrm>
          <a:prstGeom prst="roundRect">
            <a:avLst>
              <a:gd name="adj" fmla="val 5000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256032" y="295351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🤸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320040" y="3401568"/>
            <a:ext cx="1883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A623"/>
                </a:solidFill>
              </a:rPr>
              <a:t>GYMNASTICS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20040" y="3749040"/>
            <a:ext cx="1883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8D8E8"/>
                </a:solidFill>
              </a:rPr>
              <a:t>Athletes perform flips, balances, and routines on bars, beams, and floors.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432304" y="2889504"/>
            <a:ext cx="2011680" cy="1645920"/>
          </a:xfrm>
          <a:prstGeom prst="roundRect">
            <a:avLst>
              <a:gd name="adj" fmla="val 5000"/>
            </a:avLst>
          </a:prstGeom>
          <a:solidFill>
            <a:srgbClr val="243557"/>
          </a:solidFill>
          <a:ln w="12700">
            <a:solidFill>
              <a:srgbClr val="243557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2432304" y="295351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⚽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2496312" y="3401568"/>
            <a:ext cx="1883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A623"/>
                </a:solidFill>
              </a:rPr>
              <a:t>FOOTBALL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2496312" y="3749040"/>
            <a:ext cx="1883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8D8E8"/>
                </a:solidFill>
              </a:rPr>
              <a:t>Two teams of 11 kick a ball to score goals. Most popular sport on Earth.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608576" y="2889504"/>
            <a:ext cx="2011680" cy="1645920"/>
          </a:xfrm>
          <a:prstGeom prst="roundRect">
            <a:avLst>
              <a:gd name="adj" fmla="val 5000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608576" y="295351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🏋️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4672584" y="3401568"/>
            <a:ext cx="1883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A623"/>
                </a:solidFill>
              </a:rPr>
              <a:t>WEIGHTLIFTING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672584" y="3749040"/>
            <a:ext cx="1883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8D8E8"/>
                </a:solidFill>
              </a:rPr>
              <a:t>Athletes lift barbells as heavy as possible above their heads.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784848" y="2889504"/>
            <a:ext cx="2011680" cy="1645920"/>
          </a:xfrm>
          <a:prstGeom prst="roundRect">
            <a:avLst>
              <a:gd name="adj" fmla="val 5000"/>
            </a:avLst>
          </a:prstGeom>
          <a:solidFill>
            <a:srgbClr val="243557"/>
          </a:solidFill>
          <a:ln w="12700">
            <a:solidFill>
              <a:srgbClr val="243557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784848" y="295351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🎾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6848856" y="3401568"/>
            <a:ext cx="1883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A623"/>
                </a:solidFill>
              </a:rPr>
              <a:t>TENNIS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848856" y="3749040"/>
            <a:ext cx="1883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8D8E8"/>
                </a:solidFill>
              </a:rPr>
              <a:t>Players hit a ball over a net with a racket. Singles or doubles.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256032" y="484632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7A8FA6"/>
                </a:solidFill>
              </a:rPr>
              <a:t>👉  Practise:  "I enjoy watching _____ because it is _____ ."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E8621A"/>
          </a:solidFill>
          <a:ln w="12700">
            <a:solidFill>
              <a:srgbClr val="E862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26680" y="128016"/>
            <a:ext cx="1234440" cy="402336"/>
          </a:xfrm>
          <a:prstGeom prst="roundRect">
            <a:avLst>
              <a:gd name="adj" fmla="val 20455"/>
            </a:avLst>
          </a:prstGeom>
          <a:solidFill>
            <a:srgbClr val="E8621A"/>
          </a:solidFill>
          <a:ln w="12700">
            <a:solidFill>
              <a:srgbClr val="E8621A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726680" y="128016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L1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9144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Grammar: Gerunds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20040" y="69494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A8FA6"/>
                </a:solidFill>
              </a:rPr>
              <a:t>A gerund is a verb used as a noun — it always ends in -ing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950976"/>
            <a:ext cx="8503920" cy="2286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" y="1024128"/>
            <a:ext cx="8631936" cy="530352"/>
          </a:xfrm>
          <a:prstGeom prst="roundRect">
            <a:avLst>
              <a:gd name="adj" fmla="val 15517"/>
            </a:avLst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6032" y="1024128"/>
            <a:ext cx="86319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A GERUND = verb + ing — it acts like a NOUN in the sentence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56032" y="1664208"/>
            <a:ext cx="2697480" cy="2834640"/>
          </a:xfrm>
          <a:prstGeom prst="roundRect">
            <a:avLst>
              <a:gd name="adj" fmla="val 3051"/>
            </a:avLst>
          </a:prstGeom>
          <a:solidFill>
            <a:srgbClr val="E8621A"/>
          </a:solidFill>
          <a:ln w="12700">
            <a:solidFill>
              <a:srgbClr val="E8621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47472" y="1719072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</a:rPr>
              <a:t>As the SUBJECT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7472" y="2194560"/>
            <a:ext cx="2514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The sentence starts with a gerund.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Swimming is great exercise.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Running builds stamina.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090672" y="1664208"/>
            <a:ext cx="2697480" cy="2834640"/>
          </a:xfrm>
          <a:prstGeom prst="roundRect">
            <a:avLst>
              <a:gd name="adj" fmla="val 3051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182112" y="1719072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</a:rPr>
              <a:t>After VERB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182112" y="2194560"/>
            <a:ext cx="2514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After verbs like like, enjoy, love, hate, keep, finish, avoid, practise, suggest, consider.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I enjoy watching football.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She loves playing tennis.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925312" y="1664208"/>
            <a:ext cx="2697480" cy="2834640"/>
          </a:xfrm>
          <a:prstGeom prst="roundRect">
            <a:avLst>
              <a:gd name="adj" fmla="val 3051"/>
            </a:avLst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016752" y="1719072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</a:rPr>
              <a:t>After PREPOSITION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016752" y="2194560"/>
            <a:ext cx="2514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After prepositions: be good at, interested in, think about, tired of, look forward to.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He is good at boxing.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I'm interested in cycling.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56032" y="4645152"/>
            <a:ext cx="8631936" cy="438912"/>
          </a:xfrm>
          <a:prstGeom prst="roundRect">
            <a:avLst>
              <a:gd name="adj" fmla="val 18750"/>
            </a:avLst>
          </a:prstGeom>
          <a:solidFill>
            <a:srgbClr val="243557"/>
          </a:solidFill>
          <a:ln w="12700">
            <a:solidFill>
              <a:srgbClr val="243557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56032" y="4645152"/>
            <a:ext cx="86319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A623"/>
                </a:solidFill>
              </a:rPr>
              <a:t>⚠️  SPELLING:  run → running (double consonant)  •  make → making (drop e)  •  play → playing (just add -ing)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E8621A"/>
          </a:solidFill>
          <a:ln w="12700">
            <a:solidFill>
              <a:srgbClr val="E862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26680" y="128016"/>
            <a:ext cx="1234440" cy="402336"/>
          </a:xfrm>
          <a:prstGeom prst="roundRect">
            <a:avLst>
              <a:gd name="adj" fmla="val 20455"/>
            </a:avLst>
          </a:prstGeom>
          <a:solidFill>
            <a:srgbClr val="E8621A"/>
          </a:solidFill>
          <a:ln w="12700">
            <a:solidFill>
              <a:srgbClr val="E8621A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726680" y="128016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L1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9144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Grammar: Infinitives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20040" y="69494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A8FA6"/>
                </a:solidFill>
              </a:rPr>
              <a:t>An infinitive = to + base verb — used after specific verbs and adjectives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950976"/>
            <a:ext cx="8503920" cy="2286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" y="1024128"/>
            <a:ext cx="8631936" cy="457200"/>
          </a:xfrm>
          <a:prstGeom prst="roundRect">
            <a:avLst>
              <a:gd name="adj" fmla="val 18000"/>
            </a:avLst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6032" y="1024128"/>
            <a:ext cx="8631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INFINITIVE = to + base verb (no -s, no -ed, no -ing)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56032" y="1591056"/>
            <a:ext cx="2697480" cy="2606040"/>
          </a:xfrm>
          <a:prstGeom prst="roundRect">
            <a:avLst>
              <a:gd name="adj" fmla="val 3158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47472" y="164592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A623"/>
                </a:solidFill>
              </a:rPr>
              <a:t>After WANT / NEED / HOPE / DECIDE / PLAN / CHOOSE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47472" y="2286000"/>
            <a:ext cx="2514600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I want to get fit.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She needs to rest.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They decided to join the gym.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He plans to run a marathon.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090672" y="1591056"/>
            <a:ext cx="2697480" cy="2606040"/>
          </a:xfrm>
          <a:prstGeom prst="roundRect">
            <a:avLst>
              <a:gd name="adj" fmla="val 3158"/>
            </a:avLst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182112" y="164592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A623"/>
                </a:solidFill>
              </a:rPr>
              <a:t>After ADJECTIVES (it is + adj + to)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182112" y="2286000"/>
            <a:ext cx="2514600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It is important to exercise.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It is easy to stay fit.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It is hard to run every day.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It is fun to play football.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925312" y="1591056"/>
            <a:ext cx="2697480" cy="2606040"/>
          </a:xfrm>
          <a:prstGeom prst="roundRect">
            <a:avLst>
              <a:gd name="adj" fmla="val 3158"/>
            </a:avLst>
          </a:prstGeom>
          <a:solidFill>
            <a:srgbClr val="4A2060"/>
          </a:solidFill>
          <a:ln w="12700">
            <a:solidFill>
              <a:srgbClr val="4A206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016752" y="164592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A623"/>
                </a:solidFill>
              </a:rPr>
              <a:t>After QUESTION WORDS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016752" y="2286000"/>
            <a:ext cx="2514600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I don't know what to do.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She learned how to swim.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Tell me where to go.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I know when to stop.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56032" y="4315968"/>
            <a:ext cx="8631936" cy="749808"/>
          </a:xfrm>
          <a:prstGeom prst="roundRect">
            <a:avLst>
              <a:gd name="adj" fmla="val 10976"/>
            </a:avLst>
          </a:prstGeom>
          <a:solidFill>
            <a:srgbClr val="243557"/>
          </a:solidFill>
          <a:ln w="12700">
            <a:solidFill>
              <a:srgbClr val="243557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47472" y="4352544"/>
            <a:ext cx="84490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⚠️  DO NOT add -ing or -s to the infinitive verb:   ✅ want to play   ❌ want to playing   ❌ want to plays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E8621A"/>
          </a:solidFill>
          <a:ln w="12700">
            <a:solidFill>
              <a:srgbClr val="E862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26680" y="128016"/>
            <a:ext cx="1234440" cy="402336"/>
          </a:xfrm>
          <a:prstGeom prst="roundRect">
            <a:avLst>
              <a:gd name="adj" fmla="val 20455"/>
            </a:avLst>
          </a:prstGeom>
          <a:solidFill>
            <a:srgbClr val="E8621A"/>
          </a:solidFill>
          <a:ln w="12700">
            <a:solidFill>
              <a:srgbClr val="E8621A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726680" y="128016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L1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9144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Gerunds vs Infinitives — Choose the Right Form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20040" y="69494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A8FA6"/>
                </a:solidFill>
              </a:rPr>
              <a:t>Some verbs only take gerunds. Some only take infinitives. Some take BOTH.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950976"/>
            <a:ext cx="8503920" cy="2286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" y="1024128"/>
            <a:ext cx="2743200" cy="4005072"/>
          </a:xfrm>
          <a:prstGeom prst="roundRect">
            <a:avLst>
              <a:gd name="adj" fmla="val 3000"/>
            </a:avLst>
          </a:prstGeom>
          <a:solidFill>
            <a:srgbClr val="E8621A"/>
          </a:solidFill>
          <a:ln w="12700">
            <a:solidFill>
              <a:srgbClr val="E8621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7472" y="1078992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</a:rPr>
              <a:t>GERUND ONLY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</a:rPr>
              <a:t>verb + -ing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84048" y="1682496"/>
            <a:ext cx="1188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enjoy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finish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avoid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practise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consider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keep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stop*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mentally picture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47472" y="3639312"/>
            <a:ext cx="2560320" cy="1234440"/>
          </a:xfrm>
          <a:prstGeom prst="roundRect">
            <a:avLst>
              <a:gd name="adj" fmla="val 6667"/>
            </a:avLst>
          </a:prstGeom>
          <a:solidFill>
            <a:srgbClr val="0D1E36"/>
          </a:solidFill>
          <a:ln w="12700">
            <a:solidFill>
              <a:srgbClr val="0D1E36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02336" y="3675888"/>
            <a:ext cx="2450592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D0E8E4"/>
                </a:solidFill>
              </a:rPr>
              <a:t>"I enjoy running."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D0E8E4"/>
                </a:solidFill>
              </a:rPr>
              <a:t>"She finished training."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D0E8E4"/>
                </a:solidFill>
              </a:rPr>
              <a:t>"He avoids eating junk food."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108960" y="1024128"/>
            <a:ext cx="2743200" cy="4005072"/>
          </a:xfrm>
          <a:prstGeom prst="roundRect">
            <a:avLst>
              <a:gd name="adj" fmla="val 3000"/>
            </a:avLst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200400" y="1078992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</a:rPr>
              <a:t>INFINITIVE ONLY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</a:rPr>
              <a:t>to + verb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36976" y="1682496"/>
            <a:ext cx="1188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want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need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hope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decide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plan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manage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refuse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learn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0" y="3639312"/>
            <a:ext cx="2560320" cy="1234440"/>
          </a:xfrm>
          <a:prstGeom prst="roundRect">
            <a:avLst>
              <a:gd name="adj" fmla="val 6667"/>
            </a:avLst>
          </a:prstGeom>
          <a:solidFill>
            <a:srgbClr val="0D1E36"/>
          </a:solidFill>
          <a:ln w="12700">
            <a:solidFill>
              <a:srgbClr val="0D1E36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255264" y="3675888"/>
            <a:ext cx="2450592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D0E8E4"/>
                </a:solidFill>
              </a:rPr>
              <a:t>"I want to get fit."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D0E8E4"/>
                </a:solidFill>
              </a:rPr>
              <a:t>"She needs to rest."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D0E8E4"/>
                </a:solidFill>
              </a:rPr>
              <a:t>"He refused to give up."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961888" y="1024128"/>
            <a:ext cx="2743200" cy="4005072"/>
          </a:xfrm>
          <a:prstGeom prst="roundRect">
            <a:avLst>
              <a:gd name="adj" fmla="val 3000"/>
            </a:avLst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053328" y="1078992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</a:rPr>
              <a:t>EITHER — meaning changes!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089904" y="1682496"/>
            <a:ext cx="1188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remember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forget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try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stop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regret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053328" y="3639312"/>
            <a:ext cx="2560320" cy="1234440"/>
          </a:xfrm>
          <a:prstGeom prst="roundRect">
            <a:avLst>
              <a:gd name="adj" fmla="val 6667"/>
            </a:avLst>
          </a:prstGeom>
          <a:solidFill>
            <a:srgbClr val="0D1E36"/>
          </a:solidFill>
          <a:ln w="12700">
            <a:solidFill>
              <a:srgbClr val="0D1E36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108192" y="3675888"/>
            <a:ext cx="2450592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D0E8E4"/>
                </a:solidFill>
              </a:rPr>
              <a:t>STOP + ing = quit doing it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D0E8E4"/>
                </a:solidFill>
              </a:rPr>
              <a:t>"I stopped smoking."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D0E8E4"/>
                </a:solidFill>
              </a:rPr>
              <a:t>STOP + to = pause to do it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D0E8E4"/>
                </a:solidFill>
              </a:rPr>
              <a:t>"I stopped to drink water."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56032" y="5138928"/>
            <a:ext cx="8631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A8FA6"/>
                </a:solidFill>
              </a:rPr>
              <a:t>🔑  RULE: After like / love / hate / start / begin / continue — both forms are possible with NO change in meaning!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E8621A"/>
          </a:solidFill>
          <a:ln w="12700">
            <a:solidFill>
              <a:srgbClr val="E862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26680" y="128016"/>
            <a:ext cx="1234440" cy="402336"/>
          </a:xfrm>
          <a:prstGeom prst="roundRect">
            <a:avLst>
              <a:gd name="adj" fmla="val 20455"/>
            </a:avLst>
          </a:prstGeom>
          <a:solidFill>
            <a:srgbClr val="E8621A"/>
          </a:solidFill>
          <a:ln w="12700">
            <a:solidFill>
              <a:srgbClr val="E8621A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726680" y="128016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L1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9144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Speaking: Talking About Watching Sports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20040" y="69494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A8FA6"/>
                </a:solidFill>
              </a:rPr>
              <a:t>Real conversations about sports on TV — useful phrases and structures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950976"/>
            <a:ext cx="8503920" cy="2286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" y="1024128"/>
            <a:ext cx="8631936" cy="1783080"/>
          </a:xfrm>
          <a:prstGeom prst="roundRect">
            <a:avLst>
              <a:gd name="adj" fmla="val 4615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02336" y="106984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</a:rPr>
              <a:t>📺  DIALOGUE MODEL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02336" y="1426464"/>
            <a:ext cx="41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</a:rPr>
              <a:t>A: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1426464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Do you enjoy watching sports on TV?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02336" y="1755648"/>
            <a:ext cx="41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</a:rPr>
              <a:t>B: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1755648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Yes, I love watching football. It's so exciting! Do you?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02336" y="2084832"/>
            <a:ext cx="41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</a:rPr>
              <a:t>A: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2084832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I prefer watching gymnastics because the athletes are amazing.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02336" y="2414016"/>
            <a:ext cx="41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</a:rPr>
              <a:t>B: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2960" y="2414016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Really? I find it hard to follow. I tend to watch tennis instead.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56032" y="2944368"/>
            <a:ext cx="4206240" cy="548640"/>
          </a:xfrm>
          <a:prstGeom prst="roundRect">
            <a:avLst>
              <a:gd name="adj" fmla="val 15000"/>
            </a:avLst>
          </a:prstGeom>
          <a:solidFill>
            <a:srgbClr val="243557"/>
          </a:solidFill>
          <a:ln w="12700">
            <a:solidFill>
              <a:srgbClr val="243557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65760" y="2980944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FFFFFF"/>
                </a:solidFill>
              </a:rPr>
              <a:t>"I enjoy watching…"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072384" y="3017520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A623"/>
                </a:solidFill>
              </a:rPr>
              <a:t>gerund after enjoy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26864" y="2944368"/>
            <a:ext cx="4206240" cy="548640"/>
          </a:xfrm>
          <a:prstGeom prst="roundRect">
            <a:avLst>
              <a:gd name="adj" fmla="val 15000"/>
            </a:avLst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736592" y="2980944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FFFFFF"/>
                </a:solidFill>
              </a:rPr>
              <a:t>"I love / hate watching…"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443216" y="3017520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A623"/>
                </a:solidFill>
              </a:rPr>
              <a:t>gerund after love/hate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56032" y="3566160"/>
            <a:ext cx="4206240" cy="548640"/>
          </a:xfrm>
          <a:prstGeom prst="roundRect">
            <a:avLst>
              <a:gd name="adj" fmla="val 15000"/>
            </a:avLst>
          </a:prstGeom>
          <a:solidFill>
            <a:srgbClr val="243557"/>
          </a:solidFill>
          <a:ln w="12700">
            <a:solidFill>
              <a:srgbClr val="243557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65760" y="3602736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FFFFFF"/>
                </a:solidFill>
              </a:rPr>
              <a:t>"I prefer watching… to playing…"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072384" y="3639312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A623"/>
                </a:solidFill>
              </a:rPr>
              <a:t>compare two activities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626864" y="3566160"/>
            <a:ext cx="4206240" cy="548640"/>
          </a:xfrm>
          <a:prstGeom prst="roundRect">
            <a:avLst>
              <a:gd name="adj" fmla="val 15000"/>
            </a:avLst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736592" y="3602736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FFFFFF"/>
                </a:solidFill>
              </a:rPr>
              <a:t>"I find it exciting / boring"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443216" y="3639312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A623"/>
                </a:solidFill>
              </a:rPr>
              <a:t>opinion about a sport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56032" y="4187952"/>
            <a:ext cx="4206240" cy="548640"/>
          </a:xfrm>
          <a:prstGeom prst="roundRect">
            <a:avLst>
              <a:gd name="adj" fmla="val 15000"/>
            </a:avLst>
          </a:prstGeom>
          <a:solidFill>
            <a:srgbClr val="243557"/>
          </a:solidFill>
          <a:ln w="12700">
            <a:solidFill>
              <a:srgbClr val="243557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365760" y="4224528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FFFFFF"/>
                </a:solidFill>
              </a:rPr>
              <a:t>"I tend to watch…"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072384" y="4261104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A623"/>
                </a:solidFill>
              </a:rPr>
              <a:t>habit or preference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626864" y="4187952"/>
            <a:ext cx="4206240" cy="548640"/>
          </a:xfrm>
          <a:prstGeom prst="roundRect">
            <a:avLst>
              <a:gd name="adj" fmla="val 15000"/>
            </a:avLst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736592" y="4224528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FFFFFF"/>
                </a:solidFill>
              </a:rPr>
              <a:t>"It is exciting because…"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443216" y="4261104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A623"/>
                </a:solidFill>
              </a:rPr>
              <a:t>give a reason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0"/>
            <a:ext cx="8641080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" y="1645920"/>
            <a:ext cx="4754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LESSON 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128016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We'd Better Show Up Early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77240" y="26060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0A7E8C"/>
                </a:solidFill>
              </a:rPr>
              <a:t>Vocabulary: Fitness &amp; Exercise  •  Grammar: Suggestions &amp; Advice  •  Speaking: Let's Catch a Game!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26680" y="128016"/>
            <a:ext cx="1234440" cy="402336"/>
          </a:xfrm>
          <a:prstGeom prst="roundRect">
            <a:avLst>
              <a:gd name="adj" fmla="val 20455"/>
            </a:avLst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726680" y="128016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L2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9144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Fitness &amp; Exercise Vocabulary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20040" y="69494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A8FA6"/>
                </a:solidFill>
              </a:rPr>
              <a:t>Words you need to talk about staying fit and healthy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950976"/>
            <a:ext cx="8503920" cy="2286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" y="1024128"/>
            <a:ext cx="4206240" cy="868680"/>
          </a:xfrm>
          <a:prstGeom prst="roundRect">
            <a:avLst>
              <a:gd name="adj" fmla="val 9474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7472" y="1097280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🏋️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14400" y="109728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</a:rPr>
              <a:t>WORK OUT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144475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8E8"/>
                </a:solidFill>
              </a:rPr>
              <a:t>to exercise at the gym or at home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542032" y="1097280"/>
            <a:ext cx="18105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</a:rPr>
              <a:t>"I work out three times a week."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26864" y="1024128"/>
            <a:ext cx="4206240" cy="868680"/>
          </a:xfrm>
          <a:prstGeom prst="roundRect">
            <a:avLst>
              <a:gd name="adj" fmla="val 9474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18304" y="1097280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🥗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285232" y="109728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</a:rPr>
              <a:t>DIET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285232" y="144475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8E8"/>
                </a:solidFill>
              </a:rPr>
              <a:t>the food you eat regularly; or to eat less to lose weight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912864" y="1097280"/>
            <a:ext cx="18105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</a:rPr>
              <a:t>"She is on a healthy diet."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56032" y="1984248"/>
            <a:ext cx="4206240" cy="868680"/>
          </a:xfrm>
          <a:prstGeom prst="roundRect">
            <a:avLst>
              <a:gd name="adj" fmla="val 9474"/>
            </a:avLst>
          </a:prstGeom>
          <a:solidFill>
            <a:srgbClr val="243557"/>
          </a:solidFill>
          <a:ln w="12700">
            <a:solidFill>
              <a:srgbClr val="243557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2057400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🏃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14400" y="205740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</a:rPr>
              <a:t>GET IN SHAPE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14400" y="240487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8E8"/>
                </a:solidFill>
              </a:rPr>
              <a:t>to become fit and healthy through exercise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542032" y="2057400"/>
            <a:ext cx="18105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</a:rPr>
              <a:t>"I want to get in shape before summer."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26864" y="1984248"/>
            <a:ext cx="4206240" cy="868680"/>
          </a:xfrm>
          <a:prstGeom prst="roundRect">
            <a:avLst>
              <a:gd name="adj" fmla="val 9474"/>
            </a:avLst>
          </a:prstGeom>
          <a:solidFill>
            <a:srgbClr val="243557"/>
          </a:solidFill>
          <a:ln w="12700">
            <a:solidFill>
              <a:srgbClr val="243557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718304" y="2057400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💪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5285232" y="205740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</a:rPr>
              <a:t>BUILD MUSCLE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285232" y="240487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8E8"/>
                </a:solidFill>
              </a:rPr>
              <a:t>to make your muscles bigger and stronger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912864" y="2057400"/>
            <a:ext cx="18105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</a:rPr>
              <a:t>"He lifts weights to build muscle."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56032" y="2944368"/>
            <a:ext cx="4206240" cy="868680"/>
          </a:xfrm>
          <a:prstGeom prst="roundRect">
            <a:avLst>
              <a:gd name="adj" fmla="val 9474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347472" y="3017520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🔥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914400" y="301752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</a:rPr>
              <a:t>BURN CALORIES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14400" y="336499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8E8"/>
                </a:solidFill>
              </a:rPr>
              <a:t>to use energy through physical activity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2542032" y="3017520"/>
            <a:ext cx="18105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</a:rPr>
              <a:t>"Running burns a lot of calories."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626864" y="2944368"/>
            <a:ext cx="4206240" cy="868680"/>
          </a:xfrm>
          <a:prstGeom prst="roundRect">
            <a:avLst>
              <a:gd name="adj" fmla="val 9474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718304" y="3017520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🧘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5285232" y="301752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</a:rPr>
              <a:t>STRETCH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285232" y="336499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8E8"/>
                </a:solidFill>
              </a:rPr>
              <a:t>to lengthen muscles before/after exercise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912864" y="3017520"/>
            <a:ext cx="18105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</a:rPr>
              <a:t>"Always stretch before running."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56032" y="3904488"/>
            <a:ext cx="4206240" cy="868680"/>
          </a:xfrm>
          <a:prstGeom prst="roundRect">
            <a:avLst>
              <a:gd name="adj" fmla="val 9474"/>
            </a:avLst>
          </a:prstGeom>
          <a:solidFill>
            <a:srgbClr val="243557"/>
          </a:solidFill>
          <a:ln w="12700">
            <a:solidFill>
              <a:srgbClr val="243557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347472" y="3977640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🩺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914400" y="397764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</a:rPr>
              <a:t>STAY FIT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914400" y="432511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8E8"/>
                </a:solidFill>
              </a:rPr>
              <a:t>to maintain good physical health over time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2542032" y="3977640"/>
            <a:ext cx="18105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</a:rPr>
              <a:t>"Playing sport helps you stay fit."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626864" y="3904488"/>
            <a:ext cx="4206240" cy="868680"/>
          </a:xfrm>
          <a:prstGeom prst="roundRect">
            <a:avLst>
              <a:gd name="adj" fmla="val 9474"/>
            </a:avLst>
          </a:prstGeom>
          <a:solidFill>
            <a:srgbClr val="243557"/>
          </a:solidFill>
          <a:ln w="12700">
            <a:solidFill>
              <a:srgbClr val="243557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4718304" y="3977640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45" name="Text 43"/>
          <p:cNvSpPr/>
          <p:nvPr/>
        </p:nvSpPr>
        <p:spPr>
          <a:xfrm>
            <a:off x="5285232" y="397764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</a:rPr>
              <a:t>WARM UP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5285232" y="432511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8E8"/>
                </a:solidFill>
              </a:rPr>
              <a:t>light exercise done before the main workout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6912864" y="3977640"/>
            <a:ext cx="18105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</a:rPr>
              <a:t>"A 5-minute warm-up prevents injuries."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26680" y="128016"/>
            <a:ext cx="1234440" cy="402336"/>
          </a:xfrm>
          <a:prstGeom prst="roundRect">
            <a:avLst>
              <a:gd name="adj" fmla="val 20455"/>
            </a:avLst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726680" y="128016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L2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9144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Grammar: Suggestions &amp; Advice — Complete Guide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20040" y="69494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A8FA6"/>
                </a:solidFill>
              </a:rPr>
              <a:t>Five different ways to give suggestions and advice in English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950976"/>
            <a:ext cx="8503920" cy="2286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" y="1024128"/>
            <a:ext cx="2697480" cy="2121408"/>
          </a:xfrm>
          <a:prstGeom prst="roundRect">
            <a:avLst>
              <a:gd name="adj" fmla="val 3879"/>
            </a:avLst>
          </a:prstGeom>
          <a:solidFill>
            <a:srgbClr val="E8621A"/>
          </a:solidFill>
          <a:ln w="12700">
            <a:solidFill>
              <a:srgbClr val="E8621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7472" y="1097280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</a:rPr>
              <a:t>LET'S + base verb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47472" y="1554480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5F3"/>
                </a:solidFill>
              </a:rPr>
              <a:t>Suggests doing something TOGETHER. Includes yourself and the other person.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47472" y="2048256"/>
            <a:ext cx="25146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</a:rPr>
              <a:t>Let's go to the gym.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</a:rPr>
              <a:t>Let's watch the game tonight.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</a:rPr>
              <a:t>Let's grab a bite first.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090672" y="1024128"/>
            <a:ext cx="2697480" cy="2121408"/>
          </a:xfrm>
          <a:prstGeom prst="roundRect">
            <a:avLst>
              <a:gd name="adj" fmla="val 3879"/>
            </a:avLst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182112" y="1097280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</a:rPr>
              <a:t>YOU SHOULD + base verb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182112" y="1554480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5F3"/>
                </a:solidFill>
              </a:rPr>
              <a:t>Gives polite advice to another person. Mild — they can choose.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182112" y="2048256"/>
            <a:ext cx="25146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</a:rPr>
              <a:t>You should drink more water.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</a:rPr>
              <a:t>You should try yoga.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</a:rPr>
              <a:t>You should get more sleep.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925312" y="1024128"/>
            <a:ext cx="2697480" cy="2121408"/>
          </a:xfrm>
          <a:prstGeom prst="roundRect">
            <a:avLst>
              <a:gd name="adj" fmla="val 3879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016752" y="1097280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</a:rPr>
              <a:t>WE'D BETTER + base verb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16752" y="1554480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5F3"/>
                </a:solidFill>
              </a:rPr>
              <a:t>Strong recommendation — warns that something bad may happen otherwise.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16752" y="2048256"/>
            <a:ext cx="25146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</a:rPr>
              <a:t>We'd better leave now or we'll be late.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</a:rPr>
              <a:t>We'd better book tickets early.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</a:rPr>
              <a:t>You'd better rest — you look sick.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673352" y="3310128"/>
            <a:ext cx="2633472" cy="1737360"/>
          </a:xfrm>
          <a:prstGeom prst="roundRect">
            <a:avLst>
              <a:gd name="adj" fmla="val 4737"/>
            </a:avLst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764792" y="3383280"/>
            <a:ext cx="24505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</a:rPr>
              <a:t>WHY DON'T WE/YOU + base verb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764792" y="3840480"/>
            <a:ext cx="24505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5F3"/>
                </a:solidFill>
              </a:rPr>
              <a:t>Friendly suggestion — sounds relaxed and casual.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764792" y="4334256"/>
            <a:ext cx="2450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</a:rPr>
              <a:t>Why don't we go for a run?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</a:rPr>
              <a:t>Why don't you try swimming?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</a:rPr>
              <a:t>Why don't we sign up together?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07992" y="3310128"/>
            <a:ext cx="2633472" cy="1737360"/>
          </a:xfrm>
          <a:prstGeom prst="roundRect">
            <a:avLst>
              <a:gd name="adj" fmla="val 4737"/>
            </a:avLst>
          </a:prstGeom>
          <a:solidFill>
            <a:srgbClr val="4A2060"/>
          </a:solidFill>
          <a:ln w="12700">
            <a:solidFill>
              <a:srgbClr val="4A206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599432" y="3383280"/>
            <a:ext cx="24505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</a:rPr>
              <a:t>HOW ABOUT / WHAT ABOUT + gerund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99432" y="3840480"/>
            <a:ext cx="24505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5F3"/>
                </a:solidFill>
              </a:rPr>
              <a:t>Offering an idea — softer and more open.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99432" y="4334256"/>
            <a:ext cx="2450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</a:rPr>
              <a:t>How about joining a team?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</a:rPr>
              <a:t>What about trying the new gym?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</a:rPr>
              <a:t>How about going for a walk?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26680" y="128016"/>
            <a:ext cx="1234440" cy="402336"/>
          </a:xfrm>
          <a:prstGeom prst="roundRect">
            <a:avLst>
              <a:gd name="adj" fmla="val 20455"/>
            </a:avLst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726680" y="128016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L2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9144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Grammar: Modal Verbs for Advice &amp; Obligation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20040" y="69494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A8FA6"/>
                </a:solidFill>
              </a:rPr>
              <a:t>Modals express how strong the advice or necessity is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950976"/>
            <a:ext cx="8503920" cy="2286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" y="1024128"/>
            <a:ext cx="8631936" cy="475488"/>
          </a:xfrm>
          <a:prstGeom prst="roundRect">
            <a:avLst>
              <a:gd name="adj" fmla="val 17308"/>
            </a:avLst>
          </a:prstGeom>
          <a:solidFill>
            <a:srgbClr val="243557"/>
          </a:solidFill>
          <a:ln w="12700">
            <a:solidFill>
              <a:srgbClr val="243557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6032" y="1024128"/>
            <a:ext cx="86319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A623"/>
                </a:solidFill>
              </a:rPr>
              <a:t>Modal verbs do NOT change form — never add -s, -ed, or -ing. Always followed by BASE verb.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56032" y="1627632"/>
            <a:ext cx="4206240" cy="1024128"/>
          </a:xfrm>
          <a:prstGeom prst="roundRect">
            <a:avLst>
              <a:gd name="adj" fmla="val 8036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84048" y="1700784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</a:rPr>
              <a:t>SHOULD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267712" y="170078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7E8C"/>
                </a:solidFill>
              </a:rPr>
              <a:t>Advice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84048" y="2121408"/>
            <a:ext cx="3877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</a:rPr>
              <a:t>"You should exercise more."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84048" y="2432304"/>
            <a:ext cx="38770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FA6"/>
                </a:solidFill>
              </a:rPr>
              <a:t>Mild — good idea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626864" y="1627632"/>
            <a:ext cx="4206240" cy="1024128"/>
          </a:xfrm>
          <a:prstGeom prst="roundRect">
            <a:avLst>
              <a:gd name="adj" fmla="val 8036"/>
            </a:avLst>
          </a:prstGeom>
          <a:solidFill>
            <a:srgbClr val="243557"/>
          </a:solidFill>
          <a:ln w="12700">
            <a:solidFill>
              <a:srgbClr val="243557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754880" y="1700784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</a:rPr>
              <a:t>MUST / HAVE TO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638544" y="170078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7E8C"/>
                </a:solidFill>
              </a:rPr>
              <a:t>Strong obligation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754880" y="2121408"/>
            <a:ext cx="3877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</a:rPr>
              <a:t>"You must wear a helmet."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54880" y="2432304"/>
            <a:ext cx="38770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FA6"/>
                </a:solidFill>
              </a:rPr>
              <a:t>Very strong — necessary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56032" y="2743200"/>
            <a:ext cx="4206240" cy="1024128"/>
          </a:xfrm>
          <a:prstGeom prst="roundRect">
            <a:avLst>
              <a:gd name="adj" fmla="val 8036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84048" y="2816352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</a:rPr>
              <a:t>OUGHT TO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267712" y="281635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7E8C"/>
                </a:solidFill>
              </a:rPr>
              <a:t>Moral advice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84048" y="3236976"/>
            <a:ext cx="3877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</a:rPr>
              <a:t>"You ought to warm up first."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84048" y="3547872"/>
            <a:ext cx="38770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FA6"/>
                </a:solidFill>
              </a:rPr>
              <a:t>Slightly formal version of should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626864" y="2743200"/>
            <a:ext cx="4206240" cy="1024128"/>
          </a:xfrm>
          <a:prstGeom prst="roundRect">
            <a:avLst>
              <a:gd name="adj" fmla="val 8036"/>
            </a:avLst>
          </a:prstGeom>
          <a:solidFill>
            <a:srgbClr val="243557"/>
          </a:solidFill>
          <a:ln w="12700">
            <a:solidFill>
              <a:srgbClr val="243557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754880" y="2816352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</a:rPr>
              <a:t>NEED TO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638544" y="281635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7E8C"/>
                </a:solidFill>
              </a:rPr>
              <a:t>Practical necessity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754880" y="3236976"/>
            <a:ext cx="3877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</a:rPr>
              <a:t>"You need to drink water."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754880" y="3547872"/>
            <a:ext cx="38770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FA6"/>
                </a:solidFill>
              </a:rPr>
              <a:t>Focus on practical need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56032" y="3858768"/>
            <a:ext cx="4206240" cy="1024128"/>
          </a:xfrm>
          <a:prstGeom prst="roundRect">
            <a:avLst>
              <a:gd name="adj" fmla="val 8036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384048" y="393192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</a:rPr>
              <a:t>HAD BETTER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2267712" y="393192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7E8C"/>
                </a:solidFill>
              </a:rPr>
              <a:t>Urgent warning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84048" y="4352544"/>
            <a:ext cx="3877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</a:rPr>
              <a:t>"You'd better stop — you'll get hurt."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84048" y="4663440"/>
            <a:ext cx="38770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FA6"/>
                </a:solidFill>
              </a:rPr>
              <a:t>Strongest — implies consequence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626864" y="3858768"/>
            <a:ext cx="4206240" cy="1024128"/>
          </a:xfrm>
          <a:prstGeom prst="roundRect">
            <a:avLst>
              <a:gd name="adj" fmla="val 8036"/>
            </a:avLst>
          </a:prstGeom>
          <a:solidFill>
            <a:srgbClr val="243557"/>
          </a:solidFill>
          <a:ln w="12700">
            <a:solidFill>
              <a:srgbClr val="243557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754880" y="393192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</a:rPr>
              <a:t>COULD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638544" y="393192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7E8C"/>
                </a:solidFill>
              </a:rPr>
              <a:t>Gentle suggestion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754880" y="4352544"/>
            <a:ext cx="3877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</a:rPr>
              <a:t>"You could try swimming."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754880" y="4663440"/>
            <a:ext cx="38770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FA6"/>
                </a:solidFill>
              </a:rPr>
              <a:t>Very soft — just an idea</a:t>
            </a:r>
            <a:endParaRPr lang="en-US" sz="9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26680" y="128016"/>
            <a:ext cx="1234440" cy="402336"/>
          </a:xfrm>
          <a:prstGeom prst="roundRect">
            <a:avLst>
              <a:gd name="adj" fmla="val 20455"/>
            </a:avLst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726680" y="128016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L2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9144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Grammar: Suggestions with That Clauses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20040" y="69494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A8FA6"/>
                </a:solidFill>
              </a:rPr>
              <a:t>Suggest + recommend + insist can be followed by a that clause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950976"/>
            <a:ext cx="8503920" cy="2286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" y="1024128"/>
            <a:ext cx="8631936" cy="502920"/>
          </a:xfrm>
          <a:prstGeom prst="roundRect">
            <a:avLst>
              <a:gd name="adj" fmla="val 16364"/>
            </a:avLst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6032" y="1024128"/>
            <a:ext cx="8631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SUGGEST / RECOMMEND / INSIST  +  that  +  subject  +  BASE VERB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56032" y="1645920"/>
            <a:ext cx="8631936" cy="1554480"/>
          </a:xfrm>
          <a:prstGeom prst="roundRect">
            <a:avLst>
              <a:gd name="adj" fmla="val 5294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02336" y="1700784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📌  KEY RULE: After suggest/recommend/insist + that, we use the BASE VERB (no -s, -ed, or 'to').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This is called the SUBJUNCTIVE form. It is the same for all subjects (I, he, she, they…).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02336" y="237744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</a:rPr>
              <a:t>"The doctor suggested that she exercise every day."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132320" y="23774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A623"/>
                </a:solidFill>
              </a:rPr>
              <a:t>✅  (not: exercises / to exercise)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02336" y="269748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</a:rPr>
              <a:t>"I recommend that he drink more water."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132320" y="269748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A623"/>
                </a:solidFill>
              </a:rPr>
              <a:t>✅  (not: drinks / to drink)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02336" y="301752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</a:rPr>
              <a:t>"The coach insists that we arrive on time."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132320" y="301752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A623"/>
                </a:solidFill>
              </a:rPr>
              <a:t>✅  (not: arrives / to arrive)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56032" y="3401568"/>
            <a:ext cx="4160520" cy="1572768"/>
          </a:xfrm>
          <a:prstGeom prst="roundRect">
            <a:avLst>
              <a:gd name="adj" fmla="val 5233"/>
            </a:avLst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02336" y="345643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Affirmative: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02336" y="3822192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</a:rPr>
              <a:t>"I suggest that you join a gym."</a:t>
            </a: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</a:rPr>
              <a:t>"She recommends that we try yoga."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27448" y="3401568"/>
            <a:ext cx="4160520" cy="1572768"/>
          </a:xfrm>
          <a:prstGeom prst="roundRect">
            <a:avLst>
              <a:gd name="adj" fmla="val 5233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873752" y="345643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Negative: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73752" y="3822192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</a:rPr>
              <a:t>"I suggest that you not skip warm-up."</a:t>
            </a: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</a:rPr>
              <a:t>"She insists that he not overtrain."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26680" y="128016"/>
            <a:ext cx="1234440" cy="402336"/>
          </a:xfrm>
          <a:prstGeom prst="roundRect">
            <a:avLst>
              <a:gd name="adj" fmla="val 20455"/>
            </a:avLst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726680" y="128016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L2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9144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Speaking: Let's Catch a Game!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20040" y="69494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A8FA6"/>
                </a:solidFill>
              </a:rPr>
              <a:t>How to invite someone to watch a sports event and plan a trip together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950976"/>
            <a:ext cx="8503920" cy="2286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" y="1024128"/>
            <a:ext cx="8631936" cy="1965960"/>
          </a:xfrm>
          <a:prstGeom prst="roundRect">
            <a:avLst>
              <a:gd name="adj" fmla="val 4186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02336" y="1078992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</a:rPr>
              <a:t>💬  SAMPLE CONVERSATION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02336" y="1444752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</a:rPr>
              <a:t>A: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144475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Hey, there's a football match on Saturday. Let's catch the game!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02336" y="1764792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</a:rPr>
              <a:t>B: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176479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That sounds great! What time does it start?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02336" y="2084832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</a:rPr>
              <a:t>A: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960" y="208483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At 7pm. We'd better leave by 6 — the stadium gets packed.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02336" y="2404872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</a:rPr>
              <a:t>B: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22960" y="240487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Good idea. Why don't we grab dinner first? How about that sports bar?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02336" y="2724912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</a:rPr>
              <a:t>A: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" y="272491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Perfect. You should book a table — it'll be busy.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56032" y="3127248"/>
            <a:ext cx="2011680" cy="1938528"/>
          </a:xfrm>
          <a:prstGeom prst="roundRect">
            <a:avLst>
              <a:gd name="adj" fmla="val 4245"/>
            </a:avLst>
          </a:prstGeom>
          <a:solidFill>
            <a:srgbClr val="E8621A"/>
          </a:solidFill>
          <a:ln w="12700">
            <a:solidFill>
              <a:srgbClr val="E8621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47472" y="318211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</a:rPr>
              <a:t>INVITE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47472" y="3611880"/>
            <a:ext cx="182880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FFFFFF"/>
                </a:solidFill>
              </a:rPr>
              <a:t>Let's catch the game!</a:t>
            </a:r>
            <a:endParaRPr lang="en-US" sz="1050" dirty="0"/>
          </a:p>
          <a:p>
            <a:pPr marL="0" indent="0">
              <a:buNone/>
            </a:pPr>
            <a:r>
              <a:rPr lang="en-US" sz="1050" i="1" dirty="0">
                <a:solidFill>
                  <a:srgbClr val="FFFFFF"/>
                </a:solidFill>
              </a:rPr>
              <a:t>How about watching it together?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404872" y="3127248"/>
            <a:ext cx="2011680" cy="1938528"/>
          </a:xfrm>
          <a:prstGeom prst="roundRect">
            <a:avLst>
              <a:gd name="adj" fmla="val 4245"/>
            </a:avLst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2496312" y="318211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</a:rPr>
              <a:t>SUGGEST TIME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496312" y="3611880"/>
            <a:ext cx="182880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FFFFFF"/>
                </a:solidFill>
              </a:rPr>
              <a:t>We'd better leave early.</a:t>
            </a:r>
            <a:endParaRPr lang="en-US" sz="1050" dirty="0"/>
          </a:p>
          <a:p>
            <a:pPr marL="0" indent="0">
              <a:buNone/>
            </a:pPr>
            <a:r>
              <a:rPr lang="en-US" sz="1050" i="1" dirty="0">
                <a:solidFill>
                  <a:srgbClr val="FFFFFF"/>
                </a:solidFill>
              </a:rPr>
              <a:t>Why don't we meet at 6?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553712" y="3127248"/>
            <a:ext cx="2011680" cy="1938528"/>
          </a:xfrm>
          <a:prstGeom prst="roundRect">
            <a:avLst>
              <a:gd name="adj" fmla="val 4245"/>
            </a:avLst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645152" y="318211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</a:rPr>
              <a:t>GIVE ADVICE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645152" y="3611880"/>
            <a:ext cx="182880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FFFFFF"/>
                </a:solidFill>
              </a:rPr>
              <a:t>You should book tickets.</a:t>
            </a:r>
            <a:endParaRPr lang="en-US" sz="1050" dirty="0"/>
          </a:p>
          <a:p>
            <a:pPr marL="0" indent="0">
              <a:buNone/>
            </a:pPr>
            <a:r>
              <a:rPr lang="en-US" sz="1050" i="1" dirty="0">
                <a:solidFill>
                  <a:srgbClr val="FFFFFF"/>
                </a:solidFill>
              </a:rPr>
              <a:t>We ought to arrive early.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702552" y="3127248"/>
            <a:ext cx="2011680" cy="1938528"/>
          </a:xfrm>
          <a:prstGeom prst="roundRect">
            <a:avLst>
              <a:gd name="adj" fmla="val 4245"/>
            </a:avLst>
          </a:prstGeom>
          <a:solidFill>
            <a:srgbClr val="4A2060"/>
          </a:solidFill>
          <a:ln w="12700">
            <a:solidFill>
              <a:srgbClr val="4A206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793992" y="318211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</a:rPr>
              <a:t>RESPOND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793992" y="3611880"/>
            <a:ext cx="182880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FFFFFF"/>
                </a:solidFill>
              </a:rPr>
              <a:t>That sounds great!</a:t>
            </a:r>
            <a:endParaRPr lang="en-US" sz="1050" dirty="0"/>
          </a:p>
          <a:p>
            <a:pPr marL="0" indent="0">
              <a:buNone/>
            </a:pPr>
            <a:r>
              <a:rPr lang="en-US" sz="1050" i="1" dirty="0">
                <a:solidFill>
                  <a:srgbClr val="FFFFFF"/>
                </a:solidFill>
              </a:rPr>
              <a:t>I'd love to! / Good idea!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0"/>
            <a:ext cx="8641080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" y="1645920"/>
            <a:ext cx="4754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LESSON 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128016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 Want to Get in Shape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77240" y="26060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1A7A4A"/>
                </a:solidFill>
              </a:rPr>
              <a:t>Listening: Information Completion  •  Grammar: Future Continuous  •  Speaking: What will you be doing?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26680" y="128016"/>
            <a:ext cx="1234440" cy="402336"/>
          </a:xfrm>
          <a:prstGeom prst="roundRect">
            <a:avLst>
              <a:gd name="adj" fmla="val 20455"/>
            </a:avLst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726680" y="128016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L3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9144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Listening: Information Completion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20040" y="69494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A8FA6"/>
                </a:solidFill>
              </a:rPr>
              <a:t>A key exam and real-world skill — listening for specific details to fill in gaps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950976"/>
            <a:ext cx="8503920" cy="2286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" y="1024128"/>
            <a:ext cx="8631936" cy="475488"/>
          </a:xfrm>
          <a:prstGeom prst="roundRect">
            <a:avLst>
              <a:gd name="adj" fmla="val 17308"/>
            </a:avLst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6032" y="1024128"/>
            <a:ext cx="86319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STRATEGY: Read the questions FIRST — know what to listen for before the audio plays!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56032" y="1627632"/>
            <a:ext cx="2697480" cy="2212848"/>
          </a:xfrm>
          <a:prstGeom prst="roundRect">
            <a:avLst>
              <a:gd name="adj" fmla="val 3719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1682496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</a:rPr>
              <a:t>1. BEFORE listening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" y="2157984"/>
            <a:ext cx="246888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Read all questions carefully. Predict what type of answer is needed — a name? a number? a time? a place? an activity?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090672" y="1627632"/>
            <a:ext cx="2697480" cy="2212848"/>
          </a:xfrm>
          <a:prstGeom prst="roundRect">
            <a:avLst>
              <a:gd name="adj" fmla="val 3719"/>
            </a:avLst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200400" y="1682496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</a:rPr>
              <a:t>2. WHILE listening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00400" y="2157984"/>
            <a:ext cx="246888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Focus on the gaps. Listen for KEYWORDS from the questions. Don't panic if you miss one — keep going!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925312" y="1627632"/>
            <a:ext cx="2697480" cy="2212848"/>
          </a:xfrm>
          <a:prstGeom prst="roundRect">
            <a:avLst>
              <a:gd name="adj" fmla="val 3719"/>
            </a:avLst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035040" y="1682496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</a:rPr>
              <a:t>3. AFTER listening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035040" y="2157984"/>
            <a:ext cx="246888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Check your spelling. Re-read your answers — do they make grammatical sense in the sentence?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56032" y="3931920"/>
            <a:ext cx="8631936" cy="1115568"/>
          </a:xfrm>
          <a:prstGeom prst="roundRect">
            <a:avLst>
              <a:gd name="adj" fmla="val 7377"/>
            </a:avLst>
          </a:prstGeom>
          <a:solidFill>
            <a:srgbClr val="243557"/>
          </a:solidFill>
          <a:ln w="12700">
            <a:solidFill>
              <a:srgbClr val="243557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02336" y="398678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</a:rPr>
              <a:t>SAMPLE TASK: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02336" y="4334256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</a:rPr>
              <a:t>Maria works out ___(1)___ times a week. She usually goes to the gym in the ___(2)___. Her favourite activity is ___(3)___ because it helps her ___(4)___.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26680" y="128016"/>
            <a:ext cx="1234440" cy="402336"/>
          </a:xfrm>
          <a:prstGeom prst="roundRect">
            <a:avLst>
              <a:gd name="adj" fmla="val 20455"/>
            </a:avLst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726680" y="128016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L3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9144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Grammar: Future Continuous — Form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20040" y="69494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A8FA6"/>
                </a:solidFill>
              </a:rPr>
              <a:t>Use the future continuous to talk about actions in progress at a specific future time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950976"/>
            <a:ext cx="8503920" cy="2286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" y="1024128"/>
            <a:ext cx="8631936" cy="502920"/>
          </a:xfrm>
          <a:prstGeom prst="roundRect">
            <a:avLst>
              <a:gd name="adj" fmla="val 16364"/>
            </a:avLst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6032" y="1024128"/>
            <a:ext cx="8631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FORM:  will be + verb-ing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56032" y="1664208"/>
            <a:ext cx="2697480" cy="3246120"/>
          </a:xfrm>
          <a:prstGeom prst="roundRect">
            <a:avLst>
              <a:gd name="adj" fmla="val 3051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47472" y="1719072"/>
            <a:ext cx="2514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</a:rPr>
              <a:t>✅  AFFIRMATIVE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47472" y="2176272"/>
            <a:ext cx="2514600" cy="512064"/>
          </a:xfrm>
          <a:prstGeom prst="roundRect">
            <a:avLst>
              <a:gd name="adj" fmla="val 16071"/>
            </a:avLst>
          </a:prstGeom>
          <a:solidFill>
            <a:srgbClr val="0D1E36"/>
          </a:solidFill>
          <a:ln w="12700">
            <a:solidFill>
              <a:srgbClr val="0D1E36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47472" y="2176272"/>
            <a:ext cx="2514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Subject + will be + verb-ing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7472" y="2761488"/>
            <a:ext cx="2514600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8D8E8"/>
                </a:solidFill>
              </a:rPr>
              <a:t>I will be training at 6pm.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C8D8E8"/>
                </a:solidFill>
              </a:rPr>
              <a:t>She will be running in the race.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C8D8E8"/>
                </a:solidFill>
              </a:rPr>
              <a:t>They will be watching the match.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090672" y="1664208"/>
            <a:ext cx="2697480" cy="3246120"/>
          </a:xfrm>
          <a:prstGeom prst="roundRect">
            <a:avLst>
              <a:gd name="adj" fmla="val 3051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182112" y="1719072"/>
            <a:ext cx="2514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</a:rPr>
              <a:t>❌  NEGATIVE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182112" y="2176272"/>
            <a:ext cx="2514600" cy="512064"/>
          </a:xfrm>
          <a:prstGeom prst="roundRect">
            <a:avLst>
              <a:gd name="adj" fmla="val 16071"/>
            </a:avLst>
          </a:prstGeom>
          <a:solidFill>
            <a:srgbClr val="0D1E36"/>
          </a:solidFill>
          <a:ln w="12700">
            <a:solidFill>
              <a:srgbClr val="0D1E36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182112" y="2176272"/>
            <a:ext cx="2514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Subject + will not (won't) be + verb-ing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182112" y="2761488"/>
            <a:ext cx="2514600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8D8E8"/>
                </a:solidFill>
              </a:rPr>
              <a:t>I won't be training tomorrow.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C8D8E8"/>
                </a:solidFill>
              </a:rPr>
              <a:t>He won't be playing — he's injured.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C8D8E8"/>
                </a:solidFill>
              </a:rPr>
              <a:t>We won't be going to the gym.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925312" y="1664208"/>
            <a:ext cx="2697480" cy="3246120"/>
          </a:xfrm>
          <a:prstGeom prst="roundRect">
            <a:avLst>
              <a:gd name="adj" fmla="val 3051"/>
            </a:avLst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016752" y="1719072"/>
            <a:ext cx="2514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</a:rPr>
              <a:t>❓  QUESTION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016752" y="2176272"/>
            <a:ext cx="2514600" cy="512064"/>
          </a:xfrm>
          <a:prstGeom prst="roundRect">
            <a:avLst>
              <a:gd name="adj" fmla="val 16071"/>
            </a:avLst>
          </a:prstGeom>
          <a:solidFill>
            <a:srgbClr val="0D1E36"/>
          </a:solidFill>
          <a:ln w="12700">
            <a:solidFill>
              <a:srgbClr val="0D1E36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016752" y="2176272"/>
            <a:ext cx="2514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Will + subject + be + verb-ing?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016752" y="2761488"/>
            <a:ext cx="2514600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8D8E8"/>
                </a:solidFill>
              </a:rPr>
              <a:t>Will you be training tonight?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C8D8E8"/>
                </a:solidFill>
              </a:rPr>
              <a:t>Will she be competing next week?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C8D8E8"/>
                </a:solidFill>
              </a:rPr>
              <a:t>Will they be watching the game?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56032" y="4846320"/>
            <a:ext cx="8631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A8FA6"/>
                </a:solidFill>
              </a:rPr>
              <a:t>SHORT ANSWER:  Will you be training?  →  Yes, I will.  /  No, I won't.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26680" y="128016"/>
            <a:ext cx="1234440" cy="402336"/>
          </a:xfrm>
          <a:prstGeom prst="roundRect">
            <a:avLst>
              <a:gd name="adj" fmla="val 20455"/>
            </a:avLst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726680" y="128016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L3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9144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Future Continuous — 4 Key Uses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20040" y="69494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A8FA6"/>
                </a:solidFill>
              </a:rPr>
              <a:t>Understanding the meaning and contexts of the future continuous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950976"/>
            <a:ext cx="8503920" cy="2286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" y="1024128"/>
            <a:ext cx="4206240" cy="1874520"/>
          </a:xfrm>
          <a:prstGeom prst="roundRect">
            <a:avLst>
              <a:gd name="adj" fmla="val 4390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84048" y="1115568"/>
            <a:ext cx="39136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</a:rPr>
              <a:t>1.  Action in progress at a specific future time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84048" y="1645920"/>
            <a:ext cx="3913632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</a:rPr>
              <a:t>At 8am tomorrow, I will be running in the park.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</a:rPr>
              <a:t>(= I'll be in the middle of running at that moment)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26864" y="1024128"/>
            <a:ext cx="4206240" cy="1874520"/>
          </a:xfrm>
          <a:prstGeom prst="roundRect">
            <a:avLst>
              <a:gd name="adj" fmla="val 4390"/>
            </a:avLst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54880" y="1115568"/>
            <a:ext cx="39136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</a:rPr>
              <a:t>2.  Polite questions about plans (less direct)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54880" y="1645920"/>
            <a:ext cx="3913632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</a:rPr>
              <a:t>Will you be using the gym equipment later?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</a:rPr>
              <a:t>(softer than: Are you going to use it?)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56032" y="3035808"/>
            <a:ext cx="4206240" cy="1874520"/>
          </a:xfrm>
          <a:prstGeom prst="roundRect">
            <a:avLst>
              <a:gd name="adj" fmla="val 4390"/>
            </a:avLst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84048" y="3127248"/>
            <a:ext cx="39136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</a:rPr>
              <a:t>3.  Actions happening in parallel in the future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84048" y="3657600"/>
            <a:ext cx="3913632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</a:rPr>
              <a:t>While you're watching the game, I'll be training.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</a:rPr>
              <a:t>(two things happening at the same time)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26864" y="3035808"/>
            <a:ext cx="4206240" cy="1874520"/>
          </a:xfrm>
          <a:prstGeom prst="roundRect">
            <a:avLst>
              <a:gd name="adj" fmla="val 4390"/>
            </a:avLst>
          </a:prstGeom>
          <a:solidFill>
            <a:srgbClr val="4A2060"/>
          </a:solidFill>
          <a:ln w="12700">
            <a:solidFill>
              <a:srgbClr val="4A206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54880" y="3127248"/>
            <a:ext cx="39136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</a:rPr>
              <a:t>4.  Planned / expected future events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54880" y="3657600"/>
            <a:ext cx="3913632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</a:rPr>
              <a:t>The team will be competing in the finals next month.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</a:rPr>
              <a:t>(it's arranged / expected to happen)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56032" y="5138928"/>
            <a:ext cx="8631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A8FA6"/>
                </a:solidFill>
              </a:rPr>
              <a:t>🔑  Compare: I will go = a single action.   I will be going = ongoing / in progress at that moment.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26680" y="128016"/>
            <a:ext cx="1234440" cy="402336"/>
          </a:xfrm>
          <a:prstGeom prst="roundRect">
            <a:avLst>
              <a:gd name="adj" fmla="val 20455"/>
            </a:avLst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726680" y="128016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L3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9144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Speaking: What Will You Be Doing?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20040" y="69494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A8FA6"/>
                </a:solidFill>
              </a:rPr>
              <a:t>Practise asking and answering about future plans and schedules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950976"/>
            <a:ext cx="8503920" cy="2286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" y="1024128"/>
            <a:ext cx="8631936" cy="1600200"/>
          </a:xfrm>
          <a:prstGeom prst="roundRect">
            <a:avLst>
              <a:gd name="adj" fmla="val 5143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02336" y="107899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</a:rPr>
              <a:t>💬  DIALOGUE MODEL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02336" y="1408176"/>
            <a:ext cx="402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</a:rPr>
              <a:t>A: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1408176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What will you be doing this weekend?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02336" y="1737360"/>
            <a:ext cx="402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</a:rPr>
              <a:t>B: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173736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On Saturday morning, I'll be running in the park. In the afternoon, I'll be going to the gym.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02336" y="2066544"/>
            <a:ext cx="402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</a:rPr>
              <a:t>A: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960" y="2066544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Will you be watching the football match on Sunday?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02336" y="2395728"/>
            <a:ext cx="402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</a:rPr>
              <a:t>B: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22960" y="2395728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No, I won't. I'll be resting — I'll have trained every day this week!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56032" y="276148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7A4A"/>
                </a:solidFill>
              </a:rPr>
              <a:t>USEFUL QUESTION STARTERS: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56032" y="3163824"/>
            <a:ext cx="4206240" cy="548640"/>
          </a:xfrm>
          <a:prstGeom prst="roundRect">
            <a:avLst>
              <a:gd name="adj" fmla="val 15000"/>
            </a:avLst>
          </a:prstGeom>
          <a:solidFill>
            <a:srgbClr val="243557"/>
          </a:solidFill>
          <a:ln w="12700">
            <a:solidFill>
              <a:srgbClr val="243557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84048" y="3200400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</a:rPr>
              <a:t>"What will you be doing on…?"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626864" y="3163824"/>
            <a:ext cx="4206240" cy="548640"/>
          </a:xfrm>
          <a:prstGeom prst="roundRect">
            <a:avLst>
              <a:gd name="adj" fmla="val 15000"/>
            </a:avLst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754880" y="3200400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</a:rPr>
              <a:t>"Will you be training / working out…?"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56032" y="3785616"/>
            <a:ext cx="4206240" cy="548640"/>
          </a:xfrm>
          <a:prstGeom prst="roundRect">
            <a:avLst>
              <a:gd name="adj" fmla="val 15000"/>
            </a:avLst>
          </a:prstGeom>
          <a:solidFill>
            <a:srgbClr val="243557"/>
          </a:solidFill>
          <a:ln w="12700">
            <a:solidFill>
              <a:srgbClr val="243557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84048" y="3822192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</a:rPr>
              <a:t>"Where will you be going…?"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626864" y="3785616"/>
            <a:ext cx="4206240" cy="548640"/>
          </a:xfrm>
          <a:prstGeom prst="roundRect">
            <a:avLst>
              <a:gd name="adj" fmla="val 15000"/>
            </a:avLst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754880" y="3822192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</a:rPr>
              <a:t>"Who will you be playing with…?"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56032" y="4407408"/>
            <a:ext cx="4206240" cy="548640"/>
          </a:xfrm>
          <a:prstGeom prst="roundRect">
            <a:avLst>
              <a:gd name="adj" fmla="val 15000"/>
            </a:avLst>
          </a:prstGeom>
          <a:solidFill>
            <a:srgbClr val="243557"/>
          </a:solidFill>
          <a:ln w="12700">
            <a:solidFill>
              <a:srgbClr val="243557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84048" y="4443984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</a:rPr>
              <a:t>"How long will you be running for?"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626864" y="4407408"/>
            <a:ext cx="4206240" cy="548640"/>
          </a:xfrm>
          <a:prstGeom prst="roundRect">
            <a:avLst>
              <a:gd name="adj" fmla="val 15000"/>
            </a:avLst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754880" y="4443984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</a:rPr>
              <a:t>"Will you be watching the game?"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4A2060"/>
          </a:solidFill>
          <a:ln w="12700">
            <a:solidFill>
              <a:srgbClr val="4A20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0"/>
            <a:ext cx="8641080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" y="1645920"/>
            <a:ext cx="4754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LESSON 4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128016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Fitness Tips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77240" y="26060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4A2060"/>
                </a:solidFill>
              </a:rPr>
              <a:t>Reading: The Workout Guide  •  Grammar: Empty It &amp; That Clauses  •  Speaking: Health Questionnaire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4A2060"/>
          </a:solidFill>
          <a:ln w="12700">
            <a:solidFill>
              <a:srgbClr val="4A20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26680" y="128016"/>
            <a:ext cx="1234440" cy="402336"/>
          </a:xfrm>
          <a:prstGeom prst="roundRect">
            <a:avLst>
              <a:gd name="adj" fmla="val 20455"/>
            </a:avLst>
          </a:prstGeom>
          <a:solidFill>
            <a:srgbClr val="4A2060"/>
          </a:solidFill>
          <a:ln w="12700">
            <a:solidFill>
              <a:srgbClr val="4A206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726680" y="128016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L4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9144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Reading: The Workout Guide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20040" y="69494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A8FA6"/>
                </a:solidFill>
              </a:rPr>
              <a:t>Strategies for reading non-fiction texts — scanning, skimming, and comprehension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950976"/>
            <a:ext cx="8503920" cy="2286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" y="1024128"/>
            <a:ext cx="8631936" cy="475488"/>
          </a:xfrm>
          <a:prstGeom prst="roundRect">
            <a:avLst>
              <a:gd name="adj" fmla="val 17308"/>
            </a:avLst>
          </a:prstGeom>
          <a:solidFill>
            <a:srgbClr val="4A2060"/>
          </a:solidFill>
          <a:ln w="12700">
            <a:solidFill>
              <a:srgbClr val="4A206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6032" y="1024128"/>
            <a:ext cx="86319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READING SKILLS: Skim for general meaning → Scan for specific information → Read for detail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56032" y="1627632"/>
            <a:ext cx="8631936" cy="2395728"/>
          </a:xfrm>
          <a:prstGeom prst="roundRect">
            <a:avLst>
              <a:gd name="adj" fmla="val 3435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02336" y="1682496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</a:rPr>
              <a:t>📄  SAMPLE TEXT — 'The Workout Guide'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02336" y="2066544"/>
            <a:ext cx="822960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Getting fit doesn't have to be complicated. It is important to start slowly and build up gradually. Experts recommend that beginners exercise for just 20 minutes three times a week. It is essential that you warm up before any workout to prevent injuries.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The best approach is to combine cardio and strength training. It is advisable to drink at least two litres of water daily. Remember — it takes time to see results. Don't give up!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56032" y="4151376"/>
            <a:ext cx="2697480" cy="896112"/>
          </a:xfrm>
          <a:prstGeom prst="roundRect">
            <a:avLst>
              <a:gd name="adj" fmla="val 9184"/>
            </a:avLst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47472" y="4206240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How long should beginners exercise?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47472" y="4608576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5A623"/>
                </a:solidFill>
              </a:rPr>
              <a:t>→ 20 minutes, 3x a week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090672" y="4151376"/>
            <a:ext cx="2697480" cy="896112"/>
          </a:xfrm>
          <a:prstGeom prst="roundRect">
            <a:avLst>
              <a:gd name="adj" fmla="val 9184"/>
            </a:avLst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182112" y="4206240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What should you do before any workout?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182112" y="4608576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5A623"/>
                </a:solidFill>
              </a:rPr>
              <a:t>→ Warm up first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25312" y="4151376"/>
            <a:ext cx="2697480" cy="896112"/>
          </a:xfrm>
          <a:prstGeom prst="roundRect">
            <a:avLst>
              <a:gd name="adj" fmla="val 9184"/>
            </a:avLst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016752" y="4206240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What two types of training should you combine?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016752" y="4608576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5A623"/>
                </a:solidFill>
              </a:rPr>
              <a:t>→ Cardio + strength training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4A2060"/>
          </a:solidFill>
          <a:ln w="12700">
            <a:solidFill>
              <a:srgbClr val="4A20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26680" y="128016"/>
            <a:ext cx="1234440" cy="402336"/>
          </a:xfrm>
          <a:prstGeom prst="roundRect">
            <a:avLst>
              <a:gd name="adj" fmla="val 20455"/>
            </a:avLst>
          </a:prstGeom>
          <a:solidFill>
            <a:srgbClr val="4A2060"/>
          </a:solidFill>
          <a:ln w="12700">
            <a:solidFill>
              <a:srgbClr val="4A206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726680" y="128016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L4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9144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Grammar: Empty 'It' Clauses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20040" y="69494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A8FA6"/>
                </a:solidFill>
              </a:rPr>
              <a:t>Use 'it' as an empty subject when the real subject is a clause or infinitive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950976"/>
            <a:ext cx="8503920" cy="2286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" y="1024128"/>
            <a:ext cx="8631936" cy="475488"/>
          </a:xfrm>
          <a:prstGeom prst="roundRect">
            <a:avLst>
              <a:gd name="adj" fmla="val 17308"/>
            </a:avLst>
          </a:prstGeom>
          <a:solidFill>
            <a:srgbClr val="4A2060"/>
          </a:solidFill>
          <a:ln w="12700">
            <a:solidFill>
              <a:srgbClr val="4A206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6032" y="1024128"/>
            <a:ext cx="86319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STRUCTURE:  It + be + adjective + to + infinitive   OR   It + be + adjective + that + clause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56032" y="1627632"/>
            <a:ext cx="8631936" cy="1234440"/>
          </a:xfrm>
          <a:prstGeom prst="roundRect">
            <a:avLst>
              <a:gd name="adj" fmla="val 6667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02336" y="1682496"/>
            <a:ext cx="82296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WHY do we use empty 'it'?  In English, we prefer NOT to start a sentence with a long clause.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Instead of:  "To exercise every day is important."  We say:  "It is important to exercise every day."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56032" y="2999232"/>
            <a:ext cx="2697480" cy="2084832"/>
          </a:xfrm>
          <a:prstGeom prst="roundRect">
            <a:avLst>
              <a:gd name="adj" fmla="val 3947"/>
            </a:avLst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47472" y="3054096"/>
            <a:ext cx="25054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It is + ADJECTIVE + to…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7472" y="3529584"/>
            <a:ext cx="25054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</a:rPr>
              <a:t>It is important to warm up.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</a:rPr>
              <a:t>It is hard to run every day.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</a:rPr>
              <a:t>It is easy to lose motivation.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</a:rPr>
              <a:t>It is great to stay active.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47472" y="4517136"/>
            <a:ext cx="2505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A623"/>
                </a:solidFill>
              </a:rPr>
              <a:t>important, essential, necessary, good, great, hard, easy, possible, impossible, fun, dangerous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090672" y="2999232"/>
            <a:ext cx="2697480" cy="2084832"/>
          </a:xfrm>
          <a:prstGeom prst="roundRect">
            <a:avLst>
              <a:gd name="adj" fmla="val 3947"/>
            </a:avLst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182112" y="3054096"/>
            <a:ext cx="25054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It is + ADJECTIVE + that…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182112" y="3529584"/>
            <a:ext cx="25054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</a:rPr>
              <a:t>It is true that exercise helps.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</a:rPr>
              <a:t>It is clear that diet matters.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</a:rPr>
              <a:t>It is surprising that he runs 10km.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</a:rPr>
              <a:t>It is important that she rests.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182112" y="4517136"/>
            <a:ext cx="2505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A623"/>
                </a:solidFill>
              </a:rPr>
              <a:t>true, clear, obvious, surprising, unfortunate, likely, unlikely, wonderful, a shame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925312" y="2999232"/>
            <a:ext cx="2697480" cy="2084832"/>
          </a:xfrm>
          <a:prstGeom prst="roundRect">
            <a:avLst>
              <a:gd name="adj" fmla="val 3947"/>
            </a:avLst>
          </a:prstGeom>
          <a:solidFill>
            <a:srgbClr val="E8621A"/>
          </a:solidFill>
          <a:ln w="12700">
            <a:solidFill>
              <a:srgbClr val="E8621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016752" y="3054096"/>
            <a:ext cx="25054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It takes + time expression + to…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016752" y="3529584"/>
            <a:ext cx="25054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</a:rPr>
              <a:t>It takes 30 minutes to run 5km.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</a:rPr>
              <a:t>It takes weeks to build muscle.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</a:rPr>
              <a:t>It takes patience to get fit.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</a:rPr>
              <a:t>It takes practice to improve.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016752" y="4517136"/>
            <a:ext cx="2505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A623"/>
                </a:solidFill>
              </a:rPr>
              <a:t>Focuses on TIME needed for an activity. Very common with fitness and learning topics.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4A2060"/>
          </a:solidFill>
          <a:ln w="12700">
            <a:solidFill>
              <a:srgbClr val="4A20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26680" y="128016"/>
            <a:ext cx="1234440" cy="402336"/>
          </a:xfrm>
          <a:prstGeom prst="roundRect">
            <a:avLst>
              <a:gd name="adj" fmla="val 20455"/>
            </a:avLst>
          </a:prstGeom>
          <a:solidFill>
            <a:srgbClr val="4A2060"/>
          </a:solidFill>
          <a:ln w="12700">
            <a:solidFill>
              <a:srgbClr val="4A206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726680" y="128016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L4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9144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Grammar: Empty 'That' Clauses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20040" y="69494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A8FA6"/>
                </a:solidFill>
              </a:rPr>
              <a:t>It + be + adjective/noun + that + clause — opinions, feelings, and facts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950976"/>
            <a:ext cx="8503920" cy="2286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" y="1024128"/>
            <a:ext cx="8631936" cy="3337560"/>
          </a:xfrm>
          <a:prstGeom prst="roundRect">
            <a:avLst>
              <a:gd name="adj" fmla="val 2466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7472" y="1078992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</a:rPr>
              <a:t>Structure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383280" y="107899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</a:rPr>
              <a:t>Example completion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784848" y="107899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</a:rPr>
              <a:t>Meaning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56032" y="1463040"/>
            <a:ext cx="8631936" cy="365760"/>
          </a:xfrm>
          <a:prstGeom prst="rect">
            <a:avLst/>
          </a:prstGeom>
          <a:solidFill>
            <a:srgbClr val="243557"/>
          </a:solidFill>
          <a:ln w="12700">
            <a:solidFill>
              <a:srgbClr val="24355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" y="1481328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A7E8C"/>
                </a:solidFill>
              </a:rPr>
              <a:t>It is important that…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83280" y="1481328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</a:rPr>
              <a:t>you exercise regularly.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784848" y="1481328"/>
            <a:ext cx="1810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A623"/>
                </a:solidFill>
              </a:rPr>
              <a:t>necessity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56032" y="1847088"/>
            <a:ext cx="8631936" cy="365760"/>
          </a:xfrm>
          <a:prstGeom prst="rect">
            <a:avLst/>
          </a:prstGeom>
          <a:solidFill>
            <a:srgbClr val="0D1E36"/>
          </a:solidFill>
          <a:ln w="12700">
            <a:solidFill>
              <a:srgbClr val="0D1E3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" y="1865376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A7E8C"/>
                </a:solidFill>
              </a:rPr>
              <a:t>It is essential that…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83280" y="1865376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</a:rPr>
              <a:t>athletes stay hydrated.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784848" y="1865376"/>
            <a:ext cx="1810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A623"/>
                </a:solidFill>
              </a:rPr>
              <a:t>strong necessity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56032" y="2231136"/>
            <a:ext cx="8631936" cy="365760"/>
          </a:xfrm>
          <a:prstGeom prst="rect">
            <a:avLst/>
          </a:prstGeom>
          <a:solidFill>
            <a:srgbClr val="243557"/>
          </a:solidFill>
          <a:ln w="12700">
            <a:solidFill>
              <a:srgbClr val="24355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" y="2249424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A7E8C"/>
                </a:solidFill>
              </a:rPr>
              <a:t>It is surprising that…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383280" y="2249424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</a:rPr>
              <a:t>she runs 20km a day.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784848" y="2249424"/>
            <a:ext cx="1810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A623"/>
                </a:solidFill>
              </a:rPr>
              <a:t>surprise / unexpectedness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56032" y="2615184"/>
            <a:ext cx="8631936" cy="365760"/>
          </a:xfrm>
          <a:prstGeom prst="rect">
            <a:avLst/>
          </a:prstGeom>
          <a:solidFill>
            <a:srgbClr val="0D1E36"/>
          </a:solidFill>
          <a:ln w="12700">
            <a:solidFill>
              <a:srgbClr val="0D1E3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7472" y="2633472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A7E8C"/>
                </a:solidFill>
              </a:rPr>
              <a:t>It is clear that…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383280" y="2633472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</a:rPr>
              <a:t>regular exercise helps.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784848" y="2633472"/>
            <a:ext cx="1810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A623"/>
                </a:solidFill>
              </a:rPr>
              <a:t>obvious fact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56032" y="2999232"/>
            <a:ext cx="8631936" cy="365760"/>
          </a:xfrm>
          <a:prstGeom prst="rect">
            <a:avLst/>
          </a:prstGeom>
          <a:solidFill>
            <a:srgbClr val="243557"/>
          </a:solidFill>
          <a:ln w="12700">
            <a:solidFill>
              <a:srgbClr val="24355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7472" y="3017520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A7E8C"/>
                </a:solidFill>
              </a:rPr>
              <a:t>It is a shame that…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383280" y="3017520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</a:rPr>
              <a:t>he can't play anymore.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784848" y="3017520"/>
            <a:ext cx="1810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A623"/>
                </a:solidFill>
              </a:rPr>
              <a:t>regret / sympathy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56032" y="3383280"/>
            <a:ext cx="8631936" cy="365760"/>
          </a:xfrm>
          <a:prstGeom prst="rect">
            <a:avLst/>
          </a:prstGeom>
          <a:solidFill>
            <a:srgbClr val="0D1E36"/>
          </a:solidFill>
          <a:ln w="12700">
            <a:solidFill>
              <a:srgbClr val="0D1E3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7472" y="3401568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A7E8C"/>
                </a:solidFill>
              </a:rPr>
              <a:t>It is likely that…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383280" y="3401568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</a:rPr>
              <a:t>you'll feel better soon.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784848" y="3401568"/>
            <a:ext cx="1810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A623"/>
                </a:solidFill>
              </a:rPr>
              <a:t>probability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56032" y="3767328"/>
            <a:ext cx="8631936" cy="365760"/>
          </a:xfrm>
          <a:prstGeom prst="rect">
            <a:avLst/>
          </a:prstGeom>
          <a:solidFill>
            <a:srgbClr val="243557"/>
          </a:solidFill>
          <a:ln w="12700">
            <a:solidFill>
              <a:srgbClr val="24355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7472" y="3785616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A7E8C"/>
                </a:solidFill>
              </a:rPr>
              <a:t>It is wonderful that…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383280" y="3785616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</a:rPr>
              <a:t>you've started training.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784848" y="3785616"/>
            <a:ext cx="1810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A623"/>
                </a:solidFill>
              </a:rPr>
              <a:t>positive feeling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56032" y="4151376"/>
            <a:ext cx="8631936" cy="365760"/>
          </a:xfrm>
          <a:prstGeom prst="rect">
            <a:avLst/>
          </a:prstGeom>
          <a:solidFill>
            <a:srgbClr val="0D1E36"/>
          </a:solidFill>
          <a:ln w="12700">
            <a:solidFill>
              <a:srgbClr val="0D1E3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47472" y="4169664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A7E8C"/>
                </a:solidFill>
              </a:rPr>
              <a:t>It is unlikely that…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3383280" y="4169664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</a:rPr>
              <a:t>he'll win the race.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784848" y="4169664"/>
            <a:ext cx="1810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A623"/>
                </a:solidFill>
              </a:rPr>
              <a:t>low probability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56032" y="4480560"/>
            <a:ext cx="8631936" cy="585216"/>
          </a:xfrm>
          <a:prstGeom prst="roundRect">
            <a:avLst>
              <a:gd name="adj" fmla="val 14063"/>
            </a:avLst>
          </a:prstGeom>
          <a:solidFill>
            <a:srgbClr val="4A2060"/>
          </a:solidFill>
          <a:ln w="12700">
            <a:solidFill>
              <a:srgbClr val="4A206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402336" y="453542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🔑  The verb after 'that' usually uses BASE VERB (subjunctive) with important/essential/necessary.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With opinion adjectives (clear, likely, surprising), use normal tense.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4A2060"/>
          </a:solidFill>
          <a:ln w="12700">
            <a:solidFill>
              <a:srgbClr val="4A20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26680" y="128016"/>
            <a:ext cx="1234440" cy="402336"/>
          </a:xfrm>
          <a:prstGeom prst="roundRect">
            <a:avLst>
              <a:gd name="adj" fmla="val 20455"/>
            </a:avLst>
          </a:prstGeom>
          <a:solidFill>
            <a:srgbClr val="4A2060"/>
          </a:solidFill>
          <a:ln w="12700">
            <a:solidFill>
              <a:srgbClr val="4A206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726680" y="128016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L4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9144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Speaking: Health &amp; Fitness Questionnaire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20040" y="69494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A8FA6"/>
                </a:solidFill>
              </a:rPr>
              <a:t>Asking and answering questions about health habits using full sentences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950976"/>
            <a:ext cx="8503920" cy="2286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" y="1024128"/>
            <a:ext cx="8631936" cy="475488"/>
          </a:xfrm>
          <a:prstGeom prst="roundRect">
            <a:avLst>
              <a:gd name="adj" fmla="val 17308"/>
            </a:avLst>
          </a:prstGeom>
          <a:solidFill>
            <a:srgbClr val="4A2060"/>
          </a:solidFill>
          <a:ln w="12700">
            <a:solidFill>
              <a:srgbClr val="4A206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6032" y="1024128"/>
            <a:ext cx="86319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ASK a partner these questions. Write their answers. Then report back to the class using 'It' structures!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56032" y="1627632"/>
            <a:ext cx="4206240" cy="987552"/>
          </a:xfrm>
          <a:prstGeom prst="roundRect">
            <a:avLst>
              <a:gd name="adj" fmla="val 8333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84048" y="1700784"/>
            <a:ext cx="3913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Q1: How often do you exercise?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84048" y="2139696"/>
            <a:ext cx="3913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5A623"/>
                </a:solidFill>
              </a:rPr>
              <a:t>(Hint: Daily / 3x a week / Never…)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26864" y="1627632"/>
            <a:ext cx="4206240" cy="987552"/>
          </a:xfrm>
          <a:prstGeom prst="roundRect">
            <a:avLst>
              <a:gd name="adj" fmla="val 8333"/>
            </a:avLst>
          </a:prstGeom>
          <a:solidFill>
            <a:srgbClr val="243557"/>
          </a:solidFill>
          <a:ln w="12700">
            <a:solidFill>
              <a:srgbClr val="243557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54880" y="1700784"/>
            <a:ext cx="3913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Q2: What type of exercise do you prefer?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54880" y="2139696"/>
            <a:ext cx="3913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5A623"/>
                </a:solidFill>
              </a:rPr>
              <a:t>(Hint: Running / gym / sport…)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56032" y="2706624"/>
            <a:ext cx="4206240" cy="987552"/>
          </a:xfrm>
          <a:prstGeom prst="roundRect">
            <a:avLst>
              <a:gd name="adj" fmla="val 8333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84048" y="2779776"/>
            <a:ext cx="3913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Q3: What do you find difficult about staying fit?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84048" y="3218688"/>
            <a:ext cx="3913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5A623"/>
                </a:solidFill>
              </a:rPr>
              <a:t>(Hint: Time / motivation / cost…)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26864" y="2706624"/>
            <a:ext cx="4206240" cy="987552"/>
          </a:xfrm>
          <a:prstGeom prst="roundRect">
            <a:avLst>
              <a:gd name="adj" fmla="val 8333"/>
            </a:avLst>
          </a:prstGeom>
          <a:solidFill>
            <a:srgbClr val="243557"/>
          </a:solidFill>
          <a:ln w="12700">
            <a:solidFill>
              <a:srgbClr val="243557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754880" y="2779776"/>
            <a:ext cx="3913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Q4: What time of day do you prefer to exercise?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54880" y="3218688"/>
            <a:ext cx="3913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5A623"/>
                </a:solidFill>
              </a:rPr>
              <a:t>(Hint: Morning / evening…)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56032" y="3785616"/>
            <a:ext cx="4206240" cy="987552"/>
          </a:xfrm>
          <a:prstGeom prst="roundRect">
            <a:avLst>
              <a:gd name="adj" fmla="val 8333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84048" y="3858768"/>
            <a:ext cx="3913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Q5: What is one healthy habit you want to start?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84048" y="4297680"/>
            <a:ext cx="3913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5A623"/>
                </a:solidFill>
              </a:rPr>
              <a:t>(Hint: Sleep / diet / exercise…)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26864" y="3785616"/>
            <a:ext cx="4206240" cy="987552"/>
          </a:xfrm>
          <a:prstGeom prst="roundRect">
            <a:avLst>
              <a:gd name="adj" fmla="val 8333"/>
            </a:avLst>
          </a:prstGeom>
          <a:solidFill>
            <a:srgbClr val="243557"/>
          </a:solidFill>
          <a:ln w="12700">
            <a:solidFill>
              <a:srgbClr val="243557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754880" y="3858768"/>
            <a:ext cx="3913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Q6: How long does it take you to get to a gym or park?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754880" y="4297680"/>
            <a:ext cx="3913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5A623"/>
                </a:solidFill>
              </a:rPr>
              <a:t>(Hint: 5 min / 30 min…)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56032" y="4864608"/>
            <a:ext cx="8631936" cy="256032"/>
          </a:xfrm>
          <a:prstGeom prst="roundRect">
            <a:avLst>
              <a:gd name="adj" fmla="val 32143"/>
            </a:avLst>
          </a:prstGeom>
          <a:solidFill>
            <a:srgbClr val="243557"/>
          </a:solidFill>
          <a:ln w="12700">
            <a:solidFill>
              <a:srgbClr val="243557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02336" y="488289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5A623"/>
                </a:solidFill>
              </a:rPr>
              <a:t>📢  Reporting back: "It is interesting that my partner never exercises." / "It is surprising that she runs every day."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0"/>
            <a:ext cx="8641080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" y="1645920"/>
            <a:ext cx="4754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LESSON 5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128016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It's Very Painful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77240" y="26060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C0392B"/>
                </a:solidFill>
              </a:rPr>
              <a:t>Vocabulary: Body Parts  •  Grammar: Intensifiers  •  Speaking: What's the Matter?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26680" y="128016"/>
            <a:ext cx="1234440" cy="402336"/>
          </a:xfrm>
          <a:prstGeom prst="roundRect">
            <a:avLst>
              <a:gd name="adj" fmla="val 20455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726680" y="128016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L5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9144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Vocabulary: Body Parts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20040" y="69494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A8FA6"/>
                </a:solidFill>
              </a:rPr>
              <a:t>Learn the names of body parts — especially those used in sports and health contexts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950976"/>
            <a:ext cx="8503920" cy="2286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" y="1024128"/>
            <a:ext cx="4160520" cy="2212848"/>
          </a:xfrm>
          <a:prstGeom prst="roundRect">
            <a:avLst>
              <a:gd name="adj" fmla="val 3719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02336" y="107899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</a:rPr>
              <a:t>HEAD &amp; UPPER BODY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02336" y="1499616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Head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362456" y="1499616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Forehead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322576" y="1499616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Neck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82696" y="1499616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Shoulder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02336" y="2048256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Chest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362456" y="2048256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Back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322576" y="2048256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Arm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282696" y="2048256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Elbow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02336" y="2596896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Wrist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362456" y="2596896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Hand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322576" y="2596896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Finger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282696" y="2596896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Thumb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727448" y="1024128"/>
            <a:ext cx="4160520" cy="2212848"/>
          </a:xfrm>
          <a:prstGeom prst="roundRect">
            <a:avLst>
              <a:gd name="adj" fmla="val 3719"/>
            </a:avLst>
          </a:prstGeom>
          <a:solidFill>
            <a:srgbClr val="243557"/>
          </a:solidFill>
          <a:ln w="12700">
            <a:solidFill>
              <a:srgbClr val="243557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873752" y="107899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</a:rPr>
              <a:t>LOWER BODY &amp; LEGS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73752" y="1499616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Hip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833872" y="1499616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Thigh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793992" y="1499616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Knee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754112" y="1499616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Shin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73752" y="2048256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Calf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833872" y="2048256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Ankle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793992" y="2048256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Foot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754112" y="2048256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Heel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873752" y="2596896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Toe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833872" y="2596896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Sole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793992" y="2596896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Hamstring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754112" y="2596896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Groin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256032" y="3337560"/>
            <a:ext cx="4160520" cy="1719072"/>
          </a:xfrm>
          <a:prstGeom prst="roundRect">
            <a:avLst>
              <a:gd name="adj" fmla="val 4787"/>
            </a:avLst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402336" y="339242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FACE &amp; INTERNAL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02336" y="376732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Eye  •  Ear  •  Nose  •  Mouth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02336" y="418795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Lip  •  Chin  •  Cheek  •  Jaw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02336" y="4608576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Lung  •  Heart  •  Stomach  •  Muscle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727448" y="3337560"/>
            <a:ext cx="4160520" cy="1719072"/>
          </a:xfrm>
          <a:prstGeom prst="roundRect">
            <a:avLst>
              <a:gd name="adj" fmla="val 4787"/>
            </a:avLst>
          </a:prstGeom>
          <a:solidFill>
            <a:srgbClr val="E8621A"/>
          </a:solidFill>
          <a:ln w="12700">
            <a:solidFill>
              <a:srgbClr val="E8621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4873752" y="339242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SPORT INJURY PHRASES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4873752" y="376732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sore muscles  •  twisted ankle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873752" y="418795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sprained wrist  •  pulled muscle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873752" y="4608576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bruised knee  •  torn ligament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26680" y="128016"/>
            <a:ext cx="1234440" cy="402336"/>
          </a:xfrm>
          <a:prstGeom prst="roundRect">
            <a:avLst>
              <a:gd name="adj" fmla="val 20455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726680" y="128016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L5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9144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Grammar: Intensifiers — Stronger &amp; Weaker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20040" y="69494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A8FA6"/>
                </a:solidFill>
              </a:rPr>
              <a:t>Intensifiers are words placed before adjectives or adverbs to change their strength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950976"/>
            <a:ext cx="8503920" cy="2286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" y="1024128"/>
            <a:ext cx="8631936" cy="475488"/>
          </a:xfrm>
          <a:prstGeom prst="roundRect">
            <a:avLst>
              <a:gd name="adj" fmla="val 17308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6032" y="1024128"/>
            <a:ext cx="86319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INTENSIFIER + ADJECTIVE  →  'My ankle is very painful.'  /  'It's extremely sore.'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56032" y="1627632"/>
            <a:ext cx="8631936" cy="475488"/>
          </a:xfrm>
          <a:prstGeom prst="roundRect">
            <a:avLst>
              <a:gd name="adj" fmla="val 17308"/>
            </a:avLst>
          </a:prstGeom>
          <a:solidFill>
            <a:srgbClr val="243557"/>
          </a:solidFill>
          <a:ln w="12700">
            <a:solidFill>
              <a:srgbClr val="243557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02336" y="1664208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A623"/>
                </a:solidFill>
              </a:rPr>
              <a:t>STRENGTH SCALE  →   slightly   &lt;   a bit   &lt;   fairly   &lt;   quite   &lt;   rather   &lt;   very   &lt;   extremely   &lt;   absolutely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56032" y="2231136"/>
            <a:ext cx="4206240" cy="1353312"/>
          </a:xfrm>
          <a:prstGeom prst="roundRect">
            <a:avLst>
              <a:gd name="adj" fmla="val 6081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84048" y="2304288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A623"/>
                </a:solidFill>
              </a:rPr>
              <a:t>STRONG INTENSIFIERS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84048" y="2816352"/>
            <a:ext cx="138988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very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extremely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highly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incredibly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terribly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awfully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975104" y="2304288"/>
            <a:ext cx="23591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D0E8E4"/>
                </a:solidFill>
              </a:rPr>
              <a:t>"It is very painful."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D0E8E4"/>
                </a:solidFill>
              </a:rPr>
              <a:t>"She is extremely fit."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D0E8E4"/>
                </a:solidFill>
              </a:rPr>
              <a:t>"He is incredibly fast."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26864" y="2231136"/>
            <a:ext cx="4206240" cy="1353312"/>
          </a:xfrm>
          <a:prstGeom prst="roundRect">
            <a:avLst>
              <a:gd name="adj" fmla="val 6081"/>
            </a:avLst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754880" y="2304288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A623"/>
                </a:solidFill>
              </a:rPr>
              <a:t>MILD INTENSIFIERS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754880" y="2816352"/>
            <a:ext cx="138988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quite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fairly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rather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pretty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somewhat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45936" y="2304288"/>
            <a:ext cx="23591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D0E8E4"/>
                </a:solidFill>
              </a:rPr>
              <a:t>"It is quite sore."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D0E8E4"/>
                </a:solidFill>
              </a:rPr>
              <a:t>"He is fairly tired."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D0E8E4"/>
                </a:solidFill>
              </a:rPr>
              <a:t>"She is rather unfit."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56032" y="3712464"/>
            <a:ext cx="4206240" cy="1353312"/>
          </a:xfrm>
          <a:prstGeom prst="roundRect">
            <a:avLst>
              <a:gd name="adj" fmla="val 6081"/>
            </a:avLst>
          </a:prstGeom>
          <a:solidFill>
            <a:srgbClr val="E8621A"/>
          </a:solidFill>
          <a:ln w="12700">
            <a:solidFill>
              <a:srgbClr val="E8621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84048" y="3785616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A623"/>
                </a:solidFill>
              </a:rPr>
              <a:t>SOFTENERS (with negative adj.)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84048" y="4297680"/>
            <a:ext cx="138988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a bit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a little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slightly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975104" y="3785616"/>
            <a:ext cx="23591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D0E8E4"/>
                </a:solidFill>
              </a:rPr>
              <a:t>"My knee is a bit sore."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D0E8E4"/>
                </a:solidFill>
              </a:rPr>
              <a:t>"I am a little tired."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D0E8E4"/>
                </a:solidFill>
              </a:rPr>
              <a:t>"It is slightly painful."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26864" y="3712464"/>
            <a:ext cx="4206240" cy="1353312"/>
          </a:xfrm>
          <a:prstGeom prst="roundRect">
            <a:avLst>
              <a:gd name="adj" fmla="val 6081"/>
            </a:avLst>
          </a:prstGeom>
          <a:solidFill>
            <a:srgbClr val="4A2060"/>
          </a:solidFill>
          <a:ln w="12700">
            <a:solidFill>
              <a:srgbClr val="4A206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754880" y="3785616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A623"/>
                </a:solidFill>
              </a:rPr>
              <a:t>ABSOLUTE INTENSIFIERS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F5A623"/>
                </a:solidFill>
              </a:rPr>
              <a:t>(with extreme adjectives)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754880" y="4297680"/>
            <a:ext cx="138988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absolutely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completely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totally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perfectly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345936" y="3785616"/>
            <a:ext cx="23591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D0E8E4"/>
                </a:solidFill>
              </a:rPr>
              <a:t>"I am absolutely exhausted."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D0E8E4"/>
                </a:solidFill>
              </a:rPr>
              <a:t>"He is completely healthy."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D0E8E4"/>
                </a:solidFill>
              </a:rPr>
              <a:t>"She is totally fine."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26680" y="128016"/>
            <a:ext cx="1234440" cy="402336"/>
          </a:xfrm>
          <a:prstGeom prst="roundRect">
            <a:avLst>
              <a:gd name="adj" fmla="val 20455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726680" y="128016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L5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9144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Grammar: Intensifier Rules &amp; Collocations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20040" y="69494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A8FA6"/>
                </a:solidFill>
              </a:rPr>
              <a:t>Not all intensifiers work with all adjectives — learn which combinations sound natural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950976"/>
            <a:ext cx="8503920" cy="2286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" y="1024128"/>
            <a:ext cx="8631936" cy="1481328"/>
          </a:xfrm>
          <a:prstGeom prst="roundRect">
            <a:avLst>
              <a:gd name="adj" fmla="val 5556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02336" y="107899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</a:rPr>
              <a:t>⚠️  KEY RULES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02336" y="1463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1.  'Very' + gradable adjective:  very tired ✅   very exhausted ❌  (exhausted is already extreme)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02336" y="17190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2.  'Absolutely' + ungradable (extreme) adj:  absolutely exhausted ✅   absolutely tired ❌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02336" y="19751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3.  'A bit / slightly' + negative-feeling adj:  a bit tired ✅   a bit fantastic ❌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02336" y="223113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4.  'Quite' + gradable adj  OR  'quite' + ungradable = 'completely':  quite good / quite extraordinary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56032" y="265176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7A4A"/>
                </a:solidFill>
              </a:rPr>
              <a:t>CORRECT COLLOCATIONS: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27448" y="265176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</a:rPr>
              <a:t>AVOID: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56032" y="3063240"/>
            <a:ext cx="4160520" cy="292608"/>
          </a:xfrm>
          <a:prstGeom prst="roundRect">
            <a:avLst>
              <a:gd name="adj" fmla="val 28125"/>
            </a:avLst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84048" y="3081528"/>
            <a:ext cx="3904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very  +  sore / tired / fit / painful / difficult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56032" y="3401568"/>
            <a:ext cx="4160520" cy="292608"/>
          </a:xfrm>
          <a:prstGeom prst="roundRect">
            <a:avLst>
              <a:gd name="adj" fmla="val 28125"/>
            </a:avLst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84048" y="3419856"/>
            <a:ext cx="3904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extremely  +  painful / dangerous / challenging / important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56032" y="3739896"/>
            <a:ext cx="4160520" cy="292608"/>
          </a:xfrm>
          <a:prstGeom prst="roundRect">
            <a:avLst>
              <a:gd name="adj" fmla="val 28125"/>
            </a:avLst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84048" y="3758184"/>
            <a:ext cx="3904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absolutely  +  exhausted / terrible / amazing / essential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56032" y="4078224"/>
            <a:ext cx="4160520" cy="292608"/>
          </a:xfrm>
          <a:prstGeom prst="roundRect">
            <a:avLst>
              <a:gd name="adj" fmla="val 28125"/>
            </a:avLst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84048" y="4096512"/>
            <a:ext cx="3904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a bit  +  sore / tired / overweight / out of shape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56032" y="4416552"/>
            <a:ext cx="4160520" cy="292608"/>
          </a:xfrm>
          <a:prstGeom prst="roundRect">
            <a:avLst>
              <a:gd name="adj" fmla="val 28125"/>
            </a:avLst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84048" y="4434840"/>
            <a:ext cx="3904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fairly/quite  +  fit / healthy / active / difficult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56032" y="4754880"/>
            <a:ext cx="4160520" cy="292608"/>
          </a:xfrm>
          <a:prstGeom prst="roundRect">
            <a:avLst>
              <a:gd name="adj" fmla="val 28125"/>
            </a:avLst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84048" y="4773168"/>
            <a:ext cx="3904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terribly  +  sore / painful / unfit / disappointed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727448" y="3063240"/>
            <a:ext cx="4160520" cy="292608"/>
          </a:xfrm>
          <a:prstGeom prst="roundRect">
            <a:avLst>
              <a:gd name="adj" fmla="val 28125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855464" y="3081528"/>
            <a:ext cx="3904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very exhausted  ❌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727448" y="3401568"/>
            <a:ext cx="4160520" cy="292608"/>
          </a:xfrm>
          <a:prstGeom prst="roundRect">
            <a:avLst>
              <a:gd name="adj" fmla="val 28125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855464" y="3419856"/>
            <a:ext cx="3904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absolutely tired  ❌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727448" y="3739896"/>
            <a:ext cx="4160520" cy="292608"/>
          </a:xfrm>
          <a:prstGeom prst="roundRect">
            <a:avLst>
              <a:gd name="adj" fmla="val 28125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855464" y="3758184"/>
            <a:ext cx="3904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a bit wonderful  ❌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727448" y="4078224"/>
            <a:ext cx="4160520" cy="292608"/>
          </a:xfrm>
          <a:prstGeom prst="roundRect">
            <a:avLst>
              <a:gd name="adj" fmla="val 28125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855464" y="4096512"/>
            <a:ext cx="3904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very starving  ❌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727448" y="4416552"/>
            <a:ext cx="4160520" cy="292608"/>
          </a:xfrm>
          <a:prstGeom prst="roundRect">
            <a:avLst>
              <a:gd name="adj" fmla="val 28125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4855464" y="4434840"/>
            <a:ext cx="3904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completely good  ❌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727448" y="4754880"/>
            <a:ext cx="4160520" cy="292608"/>
          </a:xfrm>
          <a:prstGeom prst="roundRect">
            <a:avLst>
              <a:gd name="adj" fmla="val 28125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4855464" y="4773168"/>
            <a:ext cx="3904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absolutely quite  ❌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26680" y="128016"/>
            <a:ext cx="1234440" cy="402336"/>
          </a:xfrm>
          <a:prstGeom prst="roundRect">
            <a:avLst>
              <a:gd name="adj" fmla="val 20455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726680" y="128016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L5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9144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Speaking: What's the Matter?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20040" y="69494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A8FA6"/>
                </a:solidFill>
              </a:rPr>
              <a:t>How to describe pain, injuries, and health problems — at the doctor, physio, or with a friend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950976"/>
            <a:ext cx="8503920" cy="2286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" y="1024128"/>
            <a:ext cx="8631936" cy="2029968"/>
          </a:xfrm>
          <a:prstGeom prst="roundRect">
            <a:avLst>
              <a:gd name="adj" fmla="val 4054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02336" y="1078992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</a:rPr>
              <a:t>💬  DIALOGUE MODEL — At the Sports Physio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02336" y="1417320"/>
            <a:ext cx="768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</a:rPr>
              <a:t>Doctor: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188720" y="14173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What's the matter? What seems to be the problem?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02336" y="1737360"/>
            <a:ext cx="768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</a:rPr>
              <a:t>Patient: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188720" y="17373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My knee is extremely painful. I twisted it during training yesterday.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02336" y="2057400"/>
            <a:ext cx="768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</a:rPr>
              <a:t>Doctor: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188720" y="20574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Is it a bit swollen? Can you bend it?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02336" y="2377440"/>
            <a:ext cx="768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</a:rPr>
              <a:t>Patient: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88720" y="23774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Yes, it's quite swollen and it's incredibly stiff. I can't bend it at all.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02336" y="2697480"/>
            <a:ext cx="768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</a:rPr>
              <a:t>Doctor: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188720" y="26974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You've probably sprained it. You'd better rest it completely for a week.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56032" y="3182112"/>
            <a:ext cx="2011680" cy="1920240"/>
          </a:xfrm>
          <a:prstGeom prst="roundRect">
            <a:avLst>
              <a:gd name="adj" fmla="val 4286"/>
            </a:avLst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47472" y="323697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ASKING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47472" y="3630168"/>
            <a:ext cx="182880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</a:rPr>
              <a:t>What's the matter?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</a:rPr>
              <a:t>What seems to be the problem?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</a:rPr>
              <a:t>Does it hurt when you…?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404872" y="3182112"/>
            <a:ext cx="2011680" cy="1920240"/>
          </a:xfrm>
          <a:prstGeom prst="roundRect">
            <a:avLst>
              <a:gd name="adj" fmla="val 4286"/>
            </a:avLst>
          </a:prstGeom>
          <a:solidFill>
            <a:srgbClr val="E8621A"/>
          </a:solidFill>
          <a:ln w="12700">
            <a:solidFill>
              <a:srgbClr val="E8621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2496312" y="323697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DESCRIBING PAIN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496312" y="3630168"/>
            <a:ext cx="182880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</a:rPr>
              <a:t>My ___ is very / extremely painful.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</a:rPr>
              <a:t>I have a terrible pain in my ___.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</a:rPr>
              <a:t>It's a bit sore / quite stiff.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53712" y="3182112"/>
            <a:ext cx="2011680" cy="1920240"/>
          </a:xfrm>
          <a:prstGeom prst="roundRect">
            <a:avLst>
              <a:gd name="adj" fmla="val 4286"/>
            </a:avLst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645152" y="323697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EXPLAINING HOW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645152" y="3630168"/>
            <a:ext cx="182880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</a:rPr>
              <a:t>I twisted / sprained / pulled my ___.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</a:rPr>
              <a:t>I hurt it while running / training.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</a:rPr>
              <a:t>I fell and landed on my ___.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702552" y="3182112"/>
            <a:ext cx="2011680" cy="1920240"/>
          </a:xfrm>
          <a:prstGeom prst="roundRect">
            <a:avLst>
              <a:gd name="adj" fmla="val 4286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793992" y="323697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GIVING ADVICE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793992" y="3630168"/>
            <a:ext cx="182880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</a:rPr>
              <a:t>You'd better rest it.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</a:rPr>
              <a:t>You should apply ice.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</a:rPr>
              <a:t>You must see a doctor.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MODULE 2 REVIEW — Grammar &amp; Vocabulary Summary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56032" y="950976"/>
            <a:ext cx="2743200" cy="1207008"/>
          </a:xfrm>
          <a:prstGeom prst="roundRect">
            <a:avLst>
              <a:gd name="adj" fmla="val 6818"/>
            </a:avLst>
          </a:prstGeom>
          <a:solidFill>
            <a:srgbClr val="E8621A"/>
          </a:solidFill>
          <a:ln w="12700">
            <a:solidFill>
              <a:srgbClr val="E8621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24128"/>
            <a:ext cx="25237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L1 · Gerunds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1463040"/>
            <a:ext cx="25237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verb + -ing as noun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enjoy/avoid/good at + -ing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163824" y="950976"/>
            <a:ext cx="2743200" cy="1207008"/>
          </a:xfrm>
          <a:prstGeom prst="roundRect">
            <a:avLst>
              <a:gd name="adj" fmla="val 6818"/>
            </a:avLst>
          </a:prstGeom>
          <a:solidFill>
            <a:srgbClr val="E8621A"/>
          </a:solidFill>
          <a:ln w="12700">
            <a:solidFill>
              <a:srgbClr val="E8621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73552" y="1024128"/>
            <a:ext cx="25237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L1 · Infinitives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73552" y="1463040"/>
            <a:ext cx="25237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to + base verb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want/need/plan + to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071616" y="950976"/>
            <a:ext cx="2743200" cy="1207008"/>
          </a:xfrm>
          <a:prstGeom prst="roundRect">
            <a:avLst>
              <a:gd name="adj" fmla="val 6818"/>
            </a:avLst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81344" y="1024128"/>
            <a:ext cx="25237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L2 · Suggestions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181344" y="1463040"/>
            <a:ext cx="25237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Let's / Why don't we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How about + -ing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56032" y="2267712"/>
            <a:ext cx="2743200" cy="1207008"/>
          </a:xfrm>
          <a:prstGeom prst="roundRect">
            <a:avLst>
              <a:gd name="adj" fmla="val 6818"/>
            </a:avLst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5760" y="2340864"/>
            <a:ext cx="25237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L2 · Advice Modals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5760" y="2779776"/>
            <a:ext cx="25237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should/must/ought to/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had better + base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163824" y="2267712"/>
            <a:ext cx="2743200" cy="1207008"/>
          </a:xfrm>
          <a:prstGeom prst="roundRect">
            <a:avLst>
              <a:gd name="adj" fmla="val 6818"/>
            </a:avLst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273552" y="2340864"/>
            <a:ext cx="25237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L3 · Future Cont.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273552" y="2779776"/>
            <a:ext cx="25237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will be + -ing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action in progress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071616" y="2267712"/>
            <a:ext cx="2743200" cy="1207008"/>
          </a:xfrm>
          <a:prstGeom prst="roundRect">
            <a:avLst>
              <a:gd name="adj" fmla="val 6818"/>
            </a:avLst>
          </a:prstGeom>
          <a:solidFill>
            <a:srgbClr val="4A2060"/>
          </a:solidFill>
          <a:ln w="12700">
            <a:solidFill>
              <a:srgbClr val="4A206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181344" y="2340864"/>
            <a:ext cx="25237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L4 · Empty It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181344" y="2779776"/>
            <a:ext cx="25237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It is adj + to/that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It takes time to…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56032" y="3584448"/>
            <a:ext cx="2743200" cy="1207008"/>
          </a:xfrm>
          <a:prstGeom prst="roundRect">
            <a:avLst>
              <a:gd name="adj" fmla="val 6818"/>
            </a:avLst>
          </a:prstGeom>
          <a:solidFill>
            <a:srgbClr val="4A2060"/>
          </a:solidFill>
          <a:ln w="12700">
            <a:solidFill>
              <a:srgbClr val="4A206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65760" y="3657600"/>
            <a:ext cx="25237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L4 · That Clauses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65760" y="4096512"/>
            <a:ext cx="25237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It is adj + that +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subjunctive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163824" y="3584448"/>
            <a:ext cx="2743200" cy="1207008"/>
          </a:xfrm>
          <a:prstGeom prst="roundRect">
            <a:avLst>
              <a:gd name="adj" fmla="val 6818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273552" y="3657600"/>
            <a:ext cx="25237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L5 · Intensifiers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273552" y="4096512"/>
            <a:ext cx="25237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very / extremely /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a bit / absolutely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071616" y="3584448"/>
            <a:ext cx="2743200" cy="1207008"/>
          </a:xfrm>
          <a:prstGeom prst="roundRect">
            <a:avLst>
              <a:gd name="adj" fmla="val 6818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181344" y="3657600"/>
            <a:ext cx="25237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L5 · Body Parts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181344" y="4096512"/>
            <a:ext cx="25237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Sports injuries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Describing pain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256032" y="4892040"/>
            <a:ext cx="8631936" cy="228600"/>
          </a:xfrm>
          <a:prstGeom prst="roundRect">
            <a:avLst>
              <a:gd name="adj" fmla="val 36000"/>
            </a:avLst>
          </a:prstGeom>
          <a:solidFill>
            <a:srgbClr val="243557"/>
          </a:solidFill>
          <a:ln w="12700">
            <a:solidFill>
              <a:srgbClr val="243557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256032" y="4892040"/>
            <a:ext cx="8631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A623"/>
                </a:solidFill>
              </a:rPr>
              <a:t>🎯  Module Test: You should be able to use ALL of these forms in speech AND writing!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Blueprint 4 – Module 2: Fitness &amp; Health</dc:title>
  <dc:subject>PptxGenJS Presentation</dc:subject>
  <dc:creator>PptxGenJS</dc:creator>
  <cp:lastModifiedBy>Tokozile Roberts</cp:lastModifiedBy>
  <cp:revision>9</cp:revision>
  <dcterms:created xsi:type="dcterms:W3CDTF">2026-05-05T11:48:20Z</dcterms:created>
  <dcterms:modified xsi:type="dcterms:W3CDTF">2026-06-02T01:49:27Z</dcterms:modified>
</cp:coreProperties>
</file>