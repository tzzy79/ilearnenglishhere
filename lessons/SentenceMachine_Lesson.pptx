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tableStyles" Target="tableStyles.xml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theme" Target="theme/theme1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viewProps" Target="viewProps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presProps" Target="presProps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notesMaster" Target="notesMasters/notesMaster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1A2D59-7ED6-5B4F-A5B3-1DF3F7578927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8FBFCB-4DD3-1146-A5E7-68F3EE97C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148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1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1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1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1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 /><Relationship Id="rId1" Type="http://schemas.openxmlformats.org/officeDocument/2006/relationships/slideLayout" Target="../slideLayouts/slideLayout1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 /><Relationship Id="rId1" Type="http://schemas.openxmlformats.org/officeDocument/2006/relationships/slideLayout" Target="../slideLayouts/slideLayout1.xml" 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 /><Relationship Id="rId1" Type="http://schemas.openxmlformats.org/officeDocument/2006/relationships/slideLayout" Target="../slideLayouts/slideLayout1.xml" 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 /><Relationship Id="rId1" Type="http://schemas.openxmlformats.org/officeDocument/2006/relationships/slideLayout" Target="../slideLayouts/slideLayout1.xml" 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 /><Relationship Id="rId1" Type="http://schemas.openxmlformats.org/officeDocument/2006/relationships/slideLayout" Target="../slideLayouts/slideLayout1.xml" 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Sentence Machine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my words come out wrong? Let's fix that today.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Learn Today (90 min)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73152" cy="640080"/>
          </a:xfrm>
          <a:prstGeom prst="rect">
            <a:avLst/>
          </a:prstGeom>
          <a:solidFill>
            <a:srgbClr val="F4763B"/>
          </a:solidFill>
          <a:ln w="12700">
            <a:solidFill>
              <a:srgbClr val="F476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9601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7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12801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Sentences Break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498080" y="111556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0:00–0:20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920240" y="105156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C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Sentences Break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73152" cy="64008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9202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22402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Helper Word System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98080" y="207568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0:20–0:45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920240" y="201168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C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Helper Word System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365760" y="2880360"/>
            <a:ext cx="73152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8803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32004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Sentence Machine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498080" y="303580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0:45–1:05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20240" y="297180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C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Sentence Machine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365760" y="3840480"/>
            <a:ext cx="73152" cy="6400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8404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" y="41605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→ Decide → Build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498080" y="399592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1:05–1:30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920240" y="393192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C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→ Decide → Build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7A7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·  0:00 – 0:20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Why Sentences Break</a:t>
            </a:r>
            <a:endParaRPr lang="en-US" sz="3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= Vocabulary + Grammar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36576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601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7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🧱  VOCABULARY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Bricks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1965960"/>
            <a:ext cx="960120" cy="502920"/>
          </a:xfrm>
          <a:prstGeom prst="roundRect">
            <a:avLst>
              <a:gd name="adj" fmla="val 14545"/>
            </a:avLst>
          </a:prstGeom>
          <a:solidFill>
            <a:srgbClr val="F4763B"/>
          </a:solidFill>
          <a:ln w="12700">
            <a:solidFill>
              <a:srgbClr val="F476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96596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783080" y="1965960"/>
            <a:ext cx="960120" cy="502920"/>
          </a:xfrm>
          <a:prstGeom prst="roundRect">
            <a:avLst>
              <a:gd name="adj" fmla="val 14545"/>
            </a:avLst>
          </a:prstGeom>
          <a:solidFill>
            <a:srgbClr val="F4763B"/>
          </a:solidFill>
          <a:ln w="12700">
            <a:solidFill>
              <a:srgbClr val="F476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83080" y="196596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880360" y="1965960"/>
            <a:ext cx="960120" cy="502920"/>
          </a:xfrm>
          <a:prstGeom prst="roundRect">
            <a:avLst>
              <a:gd name="adj" fmla="val 14545"/>
            </a:avLst>
          </a:prstGeom>
          <a:solidFill>
            <a:srgbClr val="F4763B"/>
          </a:solidFill>
          <a:ln w="12700">
            <a:solidFill>
              <a:srgbClr val="F476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80360" y="196596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5800" y="2651760"/>
            <a:ext cx="960120" cy="502920"/>
          </a:xfrm>
          <a:prstGeom prst="roundRect">
            <a:avLst>
              <a:gd name="adj" fmla="val 14545"/>
            </a:avLst>
          </a:prstGeom>
          <a:solidFill>
            <a:srgbClr val="F4763B"/>
          </a:solidFill>
          <a:ln w="12700">
            <a:solidFill>
              <a:srgbClr val="F476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65176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783080" y="2651760"/>
            <a:ext cx="960120" cy="502920"/>
          </a:xfrm>
          <a:prstGeom prst="roundRect">
            <a:avLst>
              <a:gd name="adj" fmla="val 14545"/>
            </a:avLst>
          </a:prstGeom>
          <a:solidFill>
            <a:srgbClr val="F4763B"/>
          </a:solidFill>
          <a:ln w="12700">
            <a:solidFill>
              <a:srgbClr val="F476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83080" y="265176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880360" y="2651760"/>
            <a:ext cx="960120" cy="502920"/>
          </a:xfrm>
          <a:prstGeom prst="roundRect">
            <a:avLst>
              <a:gd name="adj" fmla="val 14545"/>
            </a:avLst>
          </a:prstGeom>
          <a:solidFill>
            <a:srgbClr val="F4763B"/>
          </a:solidFill>
          <a:ln w="12700">
            <a:solidFill>
              <a:srgbClr val="F476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80360" y="265176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33375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C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have 10,000 bricks...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1C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without a plan, it's just a pile.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0" y="960120"/>
            <a:ext cx="36576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9601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GRAMMAR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029200" y="1508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Blueprint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120640" y="20116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 +  Verb  +  Object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212080" y="265176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blueprint tells you: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C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Which word comes first?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C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What connects them?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C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Which helper do you need?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29200" y="33375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bricks. The blueprint builds the house.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the Problem – What is Missing?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C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these sentences. Something is broken. Can you feel it?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6858000" cy="594360"/>
          </a:xfrm>
          <a:prstGeom prst="rect">
            <a:avLst/>
          </a:prstGeom>
          <a:solidFill>
            <a:srgbClr val="FFF0EE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1732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Where you live?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452360" y="1417320"/>
            <a:ext cx="1280160" cy="59436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52360" y="141732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6858000" cy="594360"/>
          </a:xfrm>
          <a:prstGeom prst="rect">
            <a:avLst/>
          </a:prstGeom>
          <a:solidFill>
            <a:srgbClr val="FFF0EE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24028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Why he angry?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452360" y="2240280"/>
            <a:ext cx="1280160" cy="59436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52360" y="224028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57200" y="3063240"/>
            <a:ext cx="6858000" cy="594360"/>
          </a:xfrm>
          <a:prstGeom prst="rect">
            <a:avLst/>
          </a:prstGeom>
          <a:solidFill>
            <a:srgbClr val="FFF0EE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06324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She going school?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452360" y="3063240"/>
            <a:ext cx="1280160" cy="59436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52360" y="306324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457200" y="3886200"/>
            <a:ext cx="6858000" cy="594360"/>
          </a:xfrm>
          <a:prstGeom prst="rect">
            <a:avLst/>
          </a:prstGeom>
          <a:solidFill>
            <a:srgbClr val="FFF0EE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88620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When the class start?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452360" y="3886200"/>
            <a:ext cx="1280160" cy="59436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52360" y="388620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👉  Discuss with a partner: what word is missing in each one?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Missing Word Has a Name: HELPER WORD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C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English, questions and negatives need a special word to connect them.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280160" cy="438912"/>
          </a:xfrm>
          <a:prstGeom prst="roundRect">
            <a:avLst>
              <a:gd name="adj" fmla="val 20833"/>
            </a:avLst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874520" y="1417320"/>
            <a:ext cx="1280160" cy="438912"/>
          </a:xfrm>
          <a:prstGeom prst="roundRect">
            <a:avLst>
              <a:gd name="adj" fmla="val 20833"/>
            </a:avLst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74520" y="1417320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91840" y="1417320"/>
            <a:ext cx="1280160" cy="438912"/>
          </a:xfrm>
          <a:prstGeom prst="roundRect">
            <a:avLst>
              <a:gd name="adj" fmla="val 20833"/>
            </a:avLst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417320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709160" y="1417320"/>
            <a:ext cx="1280160" cy="438912"/>
          </a:xfrm>
          <a:prstGeom prst="roundRect">
            <a:avLst>
              <a:gd name="adj" fmla="val 20833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417320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26480" y="1417320"/>
            <a:ext cx="1280160" cy="438912"/>
          </a:xfrm>
          <a:prstGeom prst="roundRect">
            <a:avLst>
              <a:gd name="adj" fmla="val 20833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1417320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543800" y="1417320"/>
            <a:ext cx="1280160" cy="438912"/>
          </a:xfrm>
          <a:prstGeom prst="roundRect">
            <a:avLst>
              <a:gd name="adj" fmla="val 20833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43800" y="1417320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7200" y="2075688"/>
            <a:ext cx="1280160" cy="438912"/>
          </a:xfrm>
          <a:prstGeom prst="roundRect">
            <a:avLst>
              <a:gd name="adj" fmla="val 20833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075688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874520" y="2075688"/>
            <a:ext cx="1280160" cy="438912"/>
          </a:xfrm>
          <a:prstGeom prst="roundRect">
            <a:avLst>
              <a:gd name="adj" fmla="val 20833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74520" y="2075688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were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291840" y="2075688"/>
            <a:ext cx="1280160" cy="438912"/>
          </a:xfrm>
          <a:prstGeom prst="roundRect">
            <a:avLst>
              <a:gd name="adj" fmla="val 20833"/>
            </a:avLst>
          </a:prstGeom>
          <a:solidFill>
            <a:srgbClr val="F4763B"/>
          </a:solidFill>
          <a:ln w="12700">
            <a:solidFill>
              <a:srgbClr val="F476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0" y="2075688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709160" y="2075688"/>
            <a:ext cx="1280160" cy="438912"/>
          </a:xfrm>
          <a:prstGeom prst="roundRect">
            <a:avLst>
              <a:gd name="adj" fmla="val 20833"/>
            </a:avLst>
          </a:prstGeom>
          <a:solidFill>
            <a:srgbClr val="F4763B"/>
          </a:solidFill>
          <a:ln w="12700">
            <a:solidFill>
              <a:srgbClr val="F4763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2075688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126480" y="2075688"/>
            <a:ext cx="1280160" cy="438912"/>
          </a:xfrm>
          <a:prstGeom prst="roundRect">
            <a:avLst>
              <a:gd name="adj" fmla="val 20833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0" y="2075688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7543800" y="2075688"/>
            <a:ext cx="1280160" cy="438912"/>
          </a:xfrm>
          <a:prstGeom prst="roundRect">
            <a:avLst>
              <a:gd name="adj" fmla="val 20833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43800" y="2075688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57200" y="2788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1C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not random. Each one has a JOB.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457200" y="3337560"/>
            <a:ext cx="2651760" cy="658368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33756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(present)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3666744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/ does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291840" y="3337560"/>
            <a:ext cx="2651760" cy="658368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91840" y="333756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(past)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291840" y="3666744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126480" y="3337560"/>
            <a:ext cx="265176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26480" y="333756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/ Being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126480" y="3666744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/ are / am / was / were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1463040" y="4114800"/>
            <a:ext cx="2651760" cy="658368"/>
          </a:xfrm>
          <a:prstGeom prst="rect">
            <a:avLst/>
          </a:prstGeom>
          <a:solidFill>
            <a:srgbClr val="F4763B"/>
          </a:solidFill>
          <a:ln w="12700">
            <a:solidFill>
              <a:srgbClr val="F4763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463040" y="411480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463040" y="4443984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/ has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4754880" y="4114800"/>
            <a:ext cx="2651760" cy="65836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54880" y="411480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Ability / Future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754880" y="4443984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/ will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7A7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·  0:20 – 0:45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🗂️  The Helper Word System</a:t>
            </a:r>
            <a:endParaRPr lang="en-US" sz="3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1: DO · DOES · DID  (Action Verbs)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2651760" cy="59436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229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2651760" cy="457200"/>
          </a:xfrm>
          <a:prstGeom prst="rect">
            <a:avLst/>
          </a:prstGeom>
          <a:solidFill>
            <a:srgbClr val="E8F7F6"/>
          </a:solidFill>
          <a:ln w="12700">
            <a:solidFill>
              <a:srgbClr val="D0E8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173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C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 /  You  /  We  /  They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822960"/>
            <a:ext cx="2651760" cy="594360"/>
          </a:xfrm>
          <a:prstGeom prst="rect">
            <a:avLst/>
          </a:prstGeom>
          <a:solidFill>
            <a:srgbClr val="F4763B"/>
          </a:solidFill>
          <a:ln w="12700">
            <a:solidFill>
              <a:srgbClr val="F476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46120" y="8229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3246120" y="1417320"/>
            <a:ext cx="2651760" cy="457200"/>
          </a:xfrm>
          <a:prstGeom prst="rect">
            <a:avLst/>
          </a:prstGeom>
          <a:solidFill>
            <a:srgbClr val="E8F7F6"/>
          </a:solidFill>
          <a:ln w="12700">
            <a:solidFill>
              <a:srgbClr val="D0E8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14173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C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 /  She  /  It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822960"/>
            <a:ext cx="265176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8229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6126480" y="1417320"/>
            <a:ext cx="2651760" cy="457200"/>
          </a:xfrm>
          <a:prstGeom prst="rect">
            <a:avLst/>
          </a:prstGeom>
          <a:solidFill>
            <a:srgbClr val="E8F7F6"/>
          </a:solidFill>
          <a:ln w="12700">
            <a:solidFill>
              <a:srgbClr val="D0E8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14173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C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subjects  (past)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011680"/>
            <a:ext cx="2651760" cy="685800"/>
          </a:xfrm>
          <a:prstGeom prst="rect">
            <a:avLst/>
          </a:prstGeom>
          <a:solidFill>
            <a:srgbClr val="F5F5F5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01168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 you live?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246120" y="2011680"/>
            <a:ext cx="2651760" cy="685800"/>
          </a:xfrm>
          <a:prstGeom prst="rect">
            <a:avLst/>
          </a:prstGeom>
          <a:solidFill>
            <a:srgbClr val="F5F5F5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37560" y="201168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he work?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126480" y="2011680"/>
            <a:ext cx="2651760" cy="685800"/>
          </a:xfrm>
          <a:prstGeom prst="rect">
            <a:avLst/>
          </a:prstGeom>
          <a:solidFill>
            <a:srgbClr val="F5F5F5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201168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did they go?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65760" y="2880360"/>
            <a:ext cx="26517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88036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like coffee?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246120" y="2880360"/>
            <a:ext cx="26517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37560" y="288036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she play guitar?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126480" y="2880360"/>
            <a:ext cx="26517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288036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it rain?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65760" y="3749040"/>
            <a:ext cx="2651760" cy="685800"/>
          </a:xfrm>
          <a:prstGeom prst="rect">
            <a:avLst/>
          </a:prstGeom>
          <a:solidFill>
            <a:srgbClr val="F5F5F5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7490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we need this?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246120" y="3749040"/>
            <a:ext cx="2651760" cy="685800"/>
          </a:xfrm>
          <a:prstGeom prst="rect">
            <a:avLst/>
          </a:prstGeom>
          <a:solidFill>
            <a:srgbClr val="F5F5F5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37490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it matter?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126480" y="3749040"/>
            <a:ext cx="2651760" cy="685800"/>
          </a:xfrm>
          <a:prstGeom prst="rect">
            <a:avLst/>
          </a:prstGeom>
          <a:solidFill>
            <a:srgbClr val="F5F5F5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0" y="37490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did you leave?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7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DID uses BASE VERB – not past tense!   'Where did you went?' ✗   'Where did you go?' ✓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2: AM · IS · ARE · WAS · WERE  (Being/State)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C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there is NO action verb — use a BE verb instead.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237744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3444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43200" y="1234440"/>
            <a:ext cx="27432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34640" y="123444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0" y="1234440"/>
            <a:ext cx="27432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77840" y="123444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1892808"/>
            <a:ext cx="2377440" cy="658368"/>
          </a:xfrm>
          <a:prstGeom prst="rect">
            <a:avLst/>
          </a:prstGeom>
          <a:solidFill>
            <a:srgbClr val="EEF2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892808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2743200" y="1892808"/>
            <a:ext cx="2743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34640" y="1892808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486400" y="1892808"/>
            <a:ext cx="2743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77840" y="1892808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47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365760" y="2551176"/>
            <a:ext cx="2377440" cy="658368"/>
          </a:xfrm>
          <a:prstGeom prst="rect">
            <a:avLst/>
          </a:prstGeom>
          <a:solidFill>
            <a:srgbClr val="EEF2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551176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/ She / It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2743200" y="2551176"/>
            <a:ext cx="2743200" cy="658368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34640" y="2551176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5486400" y="2551176"/>
            <a:ext cx="2743200" cy="658368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77840" y="2551176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47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365760" y="3209544"/>
            <a:ext cx="2377440" cy="658368"/>
          </a:xfrm>
          <a:prstGeom prst="rect">
            <a:avLst/>
          </a:prstGeom>
          <a:solidFill>
            <a:srgbClr val="EEF2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209544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/ We / They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2743200" y="3209544"/>
            <a:ext cx="2743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34640" y="3209544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5486400" y="3209544"/>
            <a:ext cx="2743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77840" y="3209544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47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WERE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365760" y="4023360"/>
            <a:ext cx="3840480" cy="457200"/>
          </a:xfrm>
          <a:prstGeom prst="roundRect">
            <a:avLst>
              <a:gd name="adj" fmla="val 16000"/>
            </a:avLst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23360"/>
            <a:ext cx="3840480" cy="45720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Where is he?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365760" y="4572000"/>
            <a:ext cx="3840480" cy="457200"/>
          </a:xfrm>
          <a:prstGeom prst="roundRect">
            <a:avLst>
              <a:gd name="adj" fmla="val 16000"/>
            </a:avLst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572000"/>
            <a:ext cx="3840480" cy="45720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Why are they late?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4663440" y="4023360"/>
            <a:ext cx="3840480" cy="457200"/>
          </a:xfrm>
          <a:prstGeom prst="roundRect">
            <a:avLst>
              <a:gd name="adj" fmla="val 16000"/>
            </a:avLst>
          </a:prstGeom>
          <a:solidFill>
            <a:srgbClr val="F4763B"/>
          </a:solidFill>
          <a:ln w="12700">
            <a:solidFill>
              <a:srgbClr val="F4763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63440" y="4023360"/>
            <a:ext cx="3840480" cy="45720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Was she tired?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4663440" y="4572000"/>
            <a:ext cx="3840480" cy="457200"/>
          </a:xfrm>
          <a:prstGeom prst="roundRect">
            <a:avLst>
              <a:gd name="adj" fmla="val 16000"/>
            </a:avLst>
          </a:prstGeom>
          <a:solidFill>
            <a:srgbClr val="F4763B"/>
          </a:solidFill>
          <a:ln w="12700">
            <a:solidFill>
              <a:srgbClr val="F4763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63440" y="4572000"/>
            <a:ext cx="3840480" cy="45720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Were they at school?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3: HAVE · HAS · CAN · WILL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3886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3886200" cy="548640"/>
          </a:xfrm>
          <a:prstGeom prst="rect">
            <a:avLst/>
          </a:prstGeom>
          <a:solidFill>
            <a:srgbClr val="F4763B"/>
          </a:solidFill>
          <a:ln w="12700">
            <a:solidFill>
              <a:srgbClr val="F476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194560" y="91440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/ You / We / They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554480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you eaten?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C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have not finished.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09160" y="914400"/>
            <a:ext cx="3886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914400"/>
            <a:ext cx="3886200" cy="548640"/>
          </a:xfrm>
          <a:prstGeom prst="rect">
            <a:avLst/>
          </a:prstGeom>
          <a:solidFill>
            <a:srgbClr val="F4763B"/>
          </a:solidFill>
          <a:ln w="12700">
            <a:solidFill>
              <a:srgbClr val="F476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9144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537960" y="91440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/ She / It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1554480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she called?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C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has a new job.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" y="2926080"/>
            <a:ext cx="3886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926080"/>
            <a:ext cx="3886200" cy="5486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9260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194560" y="292608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subjects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3566160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help me?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C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speak English.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09160" y="2926080"/>
            <a:ext cx="3886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2926080"/>
            <a:ext cx="3886200" cy="54864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29260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537960" y="292608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subjects (future)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46320" y="3566160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it rain?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C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will come tomorrow.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65760" y="48006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rule: CAN and WILL NEVER change. CAN/WILL + base verb always.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7A7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 ·  0:45 – 1:05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The Sentence Machine</a:t>
            </a:r>
            <a:endParaRPr lang="en-US" sz="3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Statements: Subject + Verb + Object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60604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Who?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0" y="914400"/>
            <a:ext cx="2606040" cy="68580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0" y="9144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VERB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200400" y="137160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35040" y="914400"/>
            <a:ext cx="2606040" cy="685800"/>
          </a:xfrm>
          <a:prstGeom prst="rect">
            <a:avLst/>
          </a:prstGeom>
          <a:solidFill>
            <a:srgbClr val="F4763B"/>
          </a:solidFill>
          <a:ln w="12700">
            <a:solidFill>
              <a:srgbClr val="F476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9144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OBJECT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35040" y="137160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What/Who?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1920240"/>
            <a:ext cx="2606040" cy="621792"/>
          </a:xfrm>
          <a:prstGeom prst="rect">
            <a:avLst/>
          </a:prstGeom>
          <a:solidFill>
            <a:srgbClr val="E8EE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920240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2971800" y="1920240"/>
            <a:ext cx="2606040" cy="621792"/>
          </a:xfrm>
          <a:prstGeom prst="rect">
            <a:avLst/>
          </a:prstGeom>
          <a:solidFill>
            <a:srgbClr val="E8F7F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63240" y="1920240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577840" y="1920240"/>
            <a:ext cx="4526280" cy="621792"/>
          </a:xfrm>
          <a:prstGeom prst="rect">
            <a:avLst/>
          </a:prstGeom>
          <a:solidFill>
            <a:srgbClr val="FEF3E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0" y="1920240"/>
            <a:ext cx="4343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47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coffee.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365760" y="2578608"/>
            <a:ext cx="2606040" cy="621792"/>
          </a:xfrm>
          <a:prstGeom prst="rect">
            <a:avLst/>
          </a:prstGeom>
          <a:solidFill>
            <a:srgbClr val="E8EE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578608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2971800" y="2578608"/>
            <a:ext cx="2606040" cy="621792"/>
          </a:xfrm>
          <a:prstGeom prst="rect">
            <a:avLst/>
          </a:prstGeom>
          <a:solidFill>
            <a:srgbClr val="E8F7F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63240" y="2578608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plays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5577840" y="2578608"/>
            <a:ext cx="4526280" cy="621792"/>
          </a:xfrm>
          <a:prstGeom prst="rect">
            <a:avLst/>
          </a:prstGeom>
          <a:solidFill>
            <a:srgbClr val="FEF3E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0" y="2578608"/>
            <a:ext cx="4343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47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football.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365760" y="3236976"/>
            <a:ext cx="2606040" cy="621792"/>
          </a:xfrm>
          <a:prstGeom prst="rect">
            <a:avLst/>
          </a:prstGeom>
          <a:solidFill>
            <a:srgbClr val="E8EE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236976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2971800" y="3236976"/>
            <a:ext cx="2606040" cy="621792"/>
          </a:xfrm>
          <a:prstGeom prst="rect">
            <a:avLst/>
          </a:prstGeom>
          <a:solidFill>
            <a:srgbClr val="E8F7F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063240" y="3236976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5577840" y="3236976"/>
            <a:ext cx="4526280" cy="621792"/>
          </a:xfrm>
          <a:prstGeom prst="rect">
            <a:avLst/>
          </a:prstGeom>
          <a:solidFill>
            <a:srgbClr val="FEF3E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0" y="3236976"/>
            <a:ext cx="4343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47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every day.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365760" y="3895344"/>
            <a:ext cx="2606040" cy="621792"/>
          </a:xfrm>
          <a:prstGeom prst="rect">
            <a:avLst/>
          </a:prstGeom>
          <a:solidFill>
            <a:srgbClr val="E8EE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895344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teacher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2971800" y="3895344"/>
            <a:ext cx="2606040" cy="621792"/>
          </a:xfrm>
          <a:prstGeom prst="rect">
            <a:avLst/>
          </a:prstGeom>
          <a:solidFill>
            <a:srgbClr val="E8F7F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063240" y="3895344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</a:t>
            </a:r>
            <a:endParaRPr lang="en-US" sz="1700" dirty="0"/>
          </a:p>
        </p:txBody>
      </p:sp>
      <p:sp>
        <p:nvSpPr>
          <p:cNvPr id="35" name="Shape 33"/>
          <p:cNvSpPr/>
          <p:nvPr/>
        </p:nvSpPr>
        <p:spPr>
          <a:xfrm>
            <a:off x="5577840" y="3895344"/>
            <a:ext cx="4526280" cy="621792"/>
          </a:xfrm>
          <a:prstGeom prst="rect">
            <a:avLst/>
          </a:prstGeom>
          <a:solidFill>
            <a:srgbClr val="FEF3E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0" y="3895344"/>
            <a:ext cx="4343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47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grammar.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C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Notice: The verb changes with the subject (like → likes, play → plays). That is grammar working!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Questions: 4 Formulas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64008" cy="82296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97840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Action (I/You/We/They)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3258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Q-Word  +  DO  +  Subject  +  Base Verb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69280" y="1051560"/>
            <a:ext cx="3200400" cy="621792"/>
          </a:xfrm>
          <a:prstGeom prst="roundRect">
            <a:avLst>
              <a:gd name="adj" fmla="val 13235"/>
            </a:avLst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0" y="1051560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 you live?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1947672"/>
            <a:ext cx="64008" cy="82296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96596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Action (He/She/It)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231343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Q-Word  +  DOES  +  Subject  +  Base Verb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69280" y="2039112"/>
            <a:ext cx="3200400" cy="621792"/>
          </a:xfrm>
          <a:prstGeom prst="roundRect">
            <a:avLst>
              <a:gd name="adj" fmla="val 13235"/>
            </a:avLst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0" y="2039112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does she start?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" y="2935224"/>
            <a:ext cx="64008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95351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Action (All subjects)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" y="330098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Q-Word  +  DID  +  Subject  +  Base Verb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669280" y="3026664"/>
            <a:ext cx="3200400" cy="621792"/>
          </a:xfrm>
          <a:prstGeom prst="roundRect">
            <a:avLst>
              <a:gd name="adj" fmla="val 13235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0" y="3026664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did they leave?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22776"/>
            <a:ext cx="64008" cy="822960"/>
          </a:xfrm>
          <a:prstGeom prst="rect">
            <a:avLst/>
          </a:prstGeom>
          <a:solidFill>
            <a:srgbClr val="F4763B"/>
          </a:solidFill>
          <a:ln w="12700">
            <a:solidFill>
              <a:srgbClr val="F476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94106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7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/ State (no action verb)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4360" y="428853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Q-Word  +  BE VERB  +  Subject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669280" y="4014216"/>
            <a:ext cx="3200400" cy="621792"/>
          </a:xfrm>
          <a:prstGeom prst="roundRect">
            <a:avLst>
              <a:gd name="adj" fmla="val 13235"/>
            </a:avLst>
          </a:prstGeom>
          <a:solidFill>
            <a:srgbClr val="F4763B"/>
          </a:solidFill>
          <a:ln w="12700">
            <a:solidFill>
              <a:srgbClr val="F476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0" y="4014216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he? / Why are they late?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65760" y="475488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word comes FIRST. The helper word comes SECOND. The subject comes THIRD.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Machine – Build Your Own!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table. Pick one from each column. Build a correct question.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13716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344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Q-Word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737360" y="1234440"/>
            <a:ext cx="1188720" cy="50292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37360" y="12344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926080" y="1234440"/>
            <a:ext cx="1280160" cy="502920"/>
          </a:xfrm>
          <a:prstGeom prst="rect">
            <a:avLst/>
          </a:prstGeom>
          <a:solidFill>
            <a:srgbClr val="F4763B"/>
          </a:solidFill>
          <a:ln w="12700">
            <a:solidFill>
              <a:srgbClr val="F476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0" y="12344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206240" y="1234440"/>
            <a:ext cx="1280160" cy="50292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0" y="12344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0" y="1234440"/>
            <a:ext cx="361188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0" y="123444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1737360"/>
            <a:ext cx="1371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17373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C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737360" y="1737360"/>
            <a:ext cx="11887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83080" y="17373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926080" y="1737360"/>
            <a:ext cx="12801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17373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C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206240" y="1737360"/>
            <a:ext cx="12801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51960" y="17373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C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0" y="1737360"/>
            <a:ext cx="36118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32120" y="173736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C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65760" y="2240280"/>
            <a:ext cx="1371600" cy="50292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22402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C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1737360" y="2240280"/>
            <a:ext cx="1188720" cy="50292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783080" y="22402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2926080" y="2240280"/>
            <a:ext cx="1280160" cy="50292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971800" y="22402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C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206240" y="2240280"/>
            <a:ext cx="1280160" cy="50292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51960" y="22402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C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486400" y="2240280"/>
            <a:ext cx="3611880" cy="50292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32120" y="224028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C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late?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65760" y="2743200"/>
            <a:ext cx="1371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27432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C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1737360" y="2743200"/>
            <a:ext cx="11887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783080" y="27432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2926080" y="2743200"/>
            <a:ext cx="12801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971800" y="27432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C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4206240" y="2743200"/>
            <a:ext cx="12801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251960" y="27432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C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5486400" y="2743200"/>
            <a:ext cx="36118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532120" y="274320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C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school?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365760" y="3246120"/>
            <a:ext cx="1371600" cy="50292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1480" y="32461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C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1737360" y="3246120"/>
            <a:ext cx="1188720" cy="50292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783080" y="32461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2926080" y="3246120"/>
            <a:ext cx="1280160" cy="50292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971800" y="32461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C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4206240" y="3246120"/>
            <a:ext cx="1280160" cy="50292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251960" y="32461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C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5486400" y="3246120"/>
            <a:ext cx="3611880" cy="50292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532120" y="324612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C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doing?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365760" y="3749040"/>
            <a:ext cx="1371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11480" y="37490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C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1737360" y="3749040"/>
            <a:ext cx="11887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783080" y="37490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2926080" y="3749040"/>
            <a:ext cx="12801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971800" y="37490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C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4206240" y="3749040"/>
            <a:ext cx="12801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251960" y="37490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C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</a:t>
            </a:r>
            <a:endParaRPr lang="en-US" sz="1400" dirty="0"/>
          </a:p>
        </p:txBody>
      </p:sp>
      <p:sp>
        <p:nvSpPr>
          <p:cNvPr id="63" name="Shape 61"/>
          <p:cNvSpPr/>
          <p:nvPr/>
        </p:nvSpPr>
        <p:spPr>
          <a:xfrm>
            <a:off x="5486400" y="3749040"/>
            <a:ext cx="36118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532120" y="374904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C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English?</a:t>
            </a:r>
            <a:endParaRPr lang="en-US" sz="1400" dirty="0"/>
          </a:p>
        </p:txBody>
      </p:sp>
      <p:sp>
        <p:nvSpPr>
          <p:cNvPr id="65" name="Shape 63"/>
          <p:cNvSpPr/>
          <p:nvPr/>
        </p:nvSpPr>
        <p:spPr>
          <a:xfrm>
            <a:off x="365760" y="4251960"/>
            <a:ext cx="1371600" cy="50292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11480" y="42519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C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400" dirty="0"/>
          </a:p>
        </p:txBody>
      </p:sp>
      <p:sp>
        <p:nvSpPr>
          <p:cNvPr id="67" name="Shape 65"/>
          <p:cNvSpPr/>
          <p:nvPr/>
        </p:nvSpPr>
        <p:spPr>
          <a:xfrm>
            <a:off x="1737360" y="4251960"/>
            <a:ext cx="1188720" cy="50292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783080" y="42519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</a:t>
            </a:r>
            <a:endParaRPr lang="en-US" sz="1400" dirty="0"/>
          </a:p>
        </p:txBody>
      </p:sp>
      <p:sp>
        <p:nvSpPr>
          <p:cNvPr id="69" name="Shape 67"/>
          <p:cNvSpPr/>
          <p:nvPr/>
        </p:nvSpPr>
        <p:spPr>
          <a:xfrm>
            <a:off x="2926080" y="4251960"/>
            <a:ext cx="1280160" cy="50292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971800" y="42519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C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</a:t>
            </a:r>
            <a:endParaRPr lang="en-US" sz="1400" dirty="0"/>
          </a:p>
        </p:txBody>
      </p:sp>
      <p:sp>
        <p:nvSpPr>
          <p:cNvPr id="71" name="Shape 69"/>
          <p:cNvSpPr/>
          <p:nvPr/>
        </p:nvSpPr>
        <p:spPr>
          <a:xfrm>
            <a:off x="4206240" y="4251960"/>
            <a:ext cx="1280160" cy="50292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251960" y="42519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C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73" name="Shape 71"/>
          <p:cNvSpPr/>
          <p:nvPr/>
        </p:nvSpPr>
        <p:spPr>
          <a:xfrm>
            <a:off x="5486400" y="4251960"/>
            <a:ext cx="3611880" cy="50292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532120" y="425196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C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change?</a:t>
            </a:r>
            <a:endParaRPr lang="en-US" sz="1400" dirty="0"/>
          </a:p>
        </p:txBody>
      </p:sp>
      <p:sp>
        <p:nvSpPr>
          <p:cNvPr id="75" name="Text 73"/>
          <p:cNvSpPr/>
          <p:nvPr/>
        </p:nvSpPr>
        <p:spPr>
          <a:xfrm>
            <a:off x="365760" y="48006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7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Now write 3 of your own sentences using the table. Check with your partner!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Correction Game – Fix It!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sentence has ONE mistake. Find it. Fix it. Explain WHY.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4114800" cy="502920"/>
          </a:xfrm>
          <a:prstGeom prst="rect">
            <a:avLst/>
          </a:prstGeom>
          <a:solidFill>
            <a:srgbClr val="FFF0EE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258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Where does you live?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4114800" cy="384048"/>
          </a:xfrm>
          <a:prstGeom prst="rect">
            <a:avLst/>
          </a:prstGeom>
          <a:solidFill>
            <a:srgbClr val="EDFAF3"/>
          </a:solidFill>
          <a:ln w="12700">
            <a:solidFill>
              <a:srgbClr val="2A9D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2880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9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___________________________________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1325880"/>
            <a:ext cx="4114800" cy="502920"/>
          </a:xfrm>
          <a:prstGeom prst="rect">
            <a:avLst/>
          </a:prstGeom>
          <a:solidFill>
            <a:srgbClr val="FFF0EE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3258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Why he is late?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754880" y="1828800"/>
            <a:ext cx="4114800" cy="384048"/>
          </a:xfrm>
          <a:prstGeom prst="rect">
            <a:avLst/>
          </a:prstGeom>
          <a:solidFill>
            <a:srgbClr val="EDFAF3"/>
          </a:solidFill>
          <a:ln w="12700">
            <a:solidFill>
              <a:srgbClr val="2A9D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82880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9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___________________________________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331720"/>
            <a:ext cx="4114800" cy="502920"/>
          </a:xfrm>
          <a:prstGeom prst="rect">
            <a:avLst/>
          </a:prstGeom>
          <a:solidFill>
            <a:srgbClr val="FFF0EE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3317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When did she went?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65760" y="2834640"/>
            <a:ext cx="4114800" cy="384048"/>
          </a:xfrm>
          <a:prstGeom prst="rect">
            <a:avLst/>
          </a:prstGeom>
          <a:solidFill>
            <a:srgbClr val="EDFAF3"/>
          </a:solidFill>
          <a:ln w="12700">
            <a:solidFill>
              <a:srgbClr val="2A9D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83464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9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___________________________________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754880" y="2331720"/>
            <a:ext cx="4114800" cy="502920"/>
          </a:xfrm>
          <a:prstGeom prst="rect">
            <a:avLst/>
          </a:prstGeom>
          <a:solidFill>
            <a:srgbClr val="FFF0EE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23317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Do he like coffee?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754880" y="2834640"/>
            <a:ext cx="4114800" cy="384048"/>
          </a:xfrm>
          <a:prstGeom prst="rect">
            <a:avLst/>
          </a:prstGeom>
          <a:solidFill>
            <a:srgbClr val="EDFAF3"/>
          </a:solidFill>
          <a:ln w="12700">
            <a:solidFill>
              <a:srgbClr val="2A9D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283464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9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___________________________________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65760" y="3337560"/>
            <a:ext cx="4114800" cy="502920"/>
          </a:xfrm>
          <a:prstGeom prst="rect">
            <a:avLst/>
          </a:prstGeom>
          <a:solidFill>
            <a:srgbClr val="FFF0EE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3375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Where is they?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365760" y="3840480"/>
            <a:ext cx="4114800" cy="384048"/>
          </a:xfrm>
          <a:prstGeom prst="rect">
            <a:avLst/>
          </a:prstGeom>
          <a:solidFill>
            <a:srgbClr val="EDFAF3"/>
          </a:solidFill>
          <a:ln w="12700">
            <a:solidFill>
              <a:srgbClr val="2A9D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8404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9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___________________________________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754880" y="3337560"/>
            <a:ext cx="4114800" cy="502920"/>
          </a:xfrm>
          <a:prstGeom prst="rect">
            <a:avLst/>
          </a:prstGeom>
          <a:solidFill>
            <a:srgbClr val="FFF0EE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33375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Will she comes tomorrow?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754880" y="3840480"/>
            <a:ext cx="4114800" cy="384048"/>
          </a:xfrm>
          <a:prstGeom prst="rect">
            <a:avLst/>
          </a:prstGeom>
          <a:solidFill>
            <a:srgbClr val="EDFAF3"/>
          </a:solidFill>
          <a:ln w="12700">
            <a:solidFill>
              <a:srgbClr val="2A9D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38404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9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___________________________________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65760" y="475488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 5 minutes. Then share with the class. Can you explain the rule?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7A7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 ·  1:05 – 1:30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Think → Decide → Build</a:t>
            </a:r>
            <a:endParaRPr lang="en-US" sz="3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 System – Ask These 4 Questions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write or speak, answer these questions in your head: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59436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80160"/>
            <a:ext cx="594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1051560" y="1280160"/>
            <a:ext cx="77724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1316736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SUBJECT?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1664208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/ you / he / she / it / we / they / name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212848"/>
            <a:ext cx="594360" cy="749808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212848"/>
            <a:ext cx="594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1051560" y="2212848"/>
            <a:ext cx="77724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3000" y="2249424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TIME is it?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43000" y="2596896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→ do / does / is / are   |   Past → did / was / were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145536"/>
            <a:ext cx="594360" cy="749808"/>
          </a:xfrm>
          <a:prstGeom prst="rect">
            <a:avLst/>
          </a:prstGeom>
          <a:solidFill>
            <a:srgbClr val="F4763B"/>
          </a:solidFill>
          <a:ln w="12700">
            <a:solidFill>
              <a:srgbClr val="F476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145536"/>
            <a:ext cx="594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1051560" y="3145536"/>
            <a:ext cx="77724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3000" y="3182112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7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verb or BE verb?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43000" y="3529584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= do/does/did    |    Being/state = am/is/are/was/were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4078224"/>
            <a:ext cx="594360" cy="74980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078224"/>
            <a:ext cx="594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1051560" y="4078224"/>
            <a:ext cx="77724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43000" y="4114800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TYPE of sentence?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43000" y="44622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Statement: Sub+Verb+Obj    |    Question: Q+Helper+Sub+Verb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65760" y="5074920"/>
            <a:ext cx="841248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these 4 questions → master any English sentence.</a:t>
            </a: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Speaking Practice – Ask &amp; Answer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 asks. Student B answers. Then swap roles.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3931920" cy="50292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887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STUDENT A – Ask: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783080"/>
            <a:ext cx="3931920" cy="502920"/>
          </a:xfrm>
          <a:prstGeom prst="rect">
            <a:avLst/>
          </a:prstGeom>
          <a:solidFill>
            <a:srgbClr val="E8F7F6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7830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 you live?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377440"/>
            <a:ext cx="3931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3774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your mum do?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2971800"/>
            <a:ext cx="3931920" cy="502920"/>
          </a:xfrm>
          <a:prstGeom prst="rect">
            <a:avLst/>
          </a:prstGeom>
          <a:solidFill>
            <a:srgbClr val="E8F7F6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9718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did you last study?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3566160"/>
            <a:ext cx="3931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5661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your bag now?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4160520"/>
            <a:ext cx="3931920" cy="502920"/>
          </a:xfrm>
          <a:prstGeom prst="rect">
            <a:avLst/>
          </a:prstGeom>
          <a:solidFill>
            <a:srgbClr val="E8F7F6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1605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speak another language?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846320" y="1188720"/>
            <a:ext cx="3931920" cy="502920"/>
          </a:xfrm>
          <a:prstGeom prst="rect">
            <a:avLst/>
          </a:prstGeom>
          <a:solidFill>
            <a:srgbClr val="F4763B"/>
          </a:solidFill>
          <a:ln w="12700">
            <a:solidFill>
              <a:srgbClr val="F476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1887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STUDENT B – Ask: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846320" y="1783080"/>
            <a:ext cx="3931920" cy="502920"/>
          </a:xfrm>
          <a:prstGeom prst="rect">
            <a:avLst/>
          </a:prstGeom>
          <a:solidFill>
            <a:srgbClr val="FEF3E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17830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did you choose this class?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846320" y="2377440"/>
            <a:ext cx="3931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23774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your teacher explain well?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846320" y="2971800"/>
            <a:ext cx="3931920" cy="502920"/>
          </a:xfrm>
          <a:prstGeom prst="rect">
            <a:avLst/>
          </a:prstGeom>
          <a:solidFill>
            <a:srgbClr val="FEF3E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0" y="29718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languages can you speak?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846320" y="3566160"/>
            <a:ext cx="3931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0" y="35661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were you born?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846320" y="4160520"/>
            <a:ext cx="3931920" cy="502920"/>
          </a:xfrm>
          <a:prstGeom prst="rect">
            <a:avLst/>
          </a:prstGeom>
          <a:solidFill>
            <a:srgbClr val="FEF3E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0" y="41605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you study tonight?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65760" y="480060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CHALLENGE: When you answer, use a FULL sentence. Don't just say one word!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Tricks – Never Forget Again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0233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4023360" cy="50292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01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HE/SHE/IT → add 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Does, Has — both end in 'S'... like He/She/It does!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40233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960120"/>
            <a:ext cx="402336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9601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DID kills the 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92040" y="155448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DID → always base verb. 'Did she goes?' ✗ — the DID already did the work.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3063240"/>
            <a:ext cx="40233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3063240"/>
            <a:ext cx="4023360" cy="502920"/>
          </a:xfrm>
          <a:prstGeom prst="rect">
            <a:avLst/>
          </a:prstGeom>
          <a:solidFill>
            <a:srgbClr val="F4763B"/>
          </a:solidFill>
          <a:ln w="12700">
            <a:solidFill>
              <a:srgbClr val="F476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0632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BE verb = no DO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2920" y="365760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use IS/ARE/WAS — throw DO away. Never 'Where does he is?'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54880" y="3063240"/>
            <a:ext cx="40233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3063240"/>
            <a:ext cx="4023360" cy="5029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30632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Helper before Subject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892040" y="365760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questions, the helper jumps in FRONT of the subject. Always.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Can Now Do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97280" y="128016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Choose the right helper word every time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1865376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Build statements using Subject + Verb + Object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2450592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Build questions using 4 clear formulas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3035808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Spot and fix common sentence errors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3621024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Think BEFORE you speak — use the decision system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4160520"/>
            <a:ext cx="7680960" cy="68580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416052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= the bricks.  Grammar = the blueprint.  YOU are the architect. 🏗️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Sentence Machine – English Grammar Lesson</dc:title>
  <dc:subject>PptxGenJS Presentation</dc:subject>
  <dc:creator>PptxGenJS</dc:creator>
  <cp:lastModifiedBy>Tokozile Roberts</cp:lastModifiedBy>
  <cp:revision>2</cp:revision>
  <dcterms:created xsi:type="dcterms:W3CDTF">2026-05-02T23:08:57Z</dcterms:created>
  <dcterms:modified xsi:type="dcterms:W3CDTF">2026-05-02T23:29:30Z</dcterms:modified>
</cp:coreProperties>
</file>